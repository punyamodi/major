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6256000" cy="9144000"/>
  <p:notesSz cx="9144000" cy="16256000"/>
  <p:embeddedFontLst>
    <p:embeddedFont>
      <p:font typeface="Quattrocento Sans" panose="020B0502050000020003" pitchFamily="34" charset="0"/>
      <p:regular r:id="rId17"/>
      <p:bold r:id="rId18"/>
      <p: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830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DB2F-EEB3-2C17-C94A-6289EE59D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E3735-E818-921C-D385-492112254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71EBA-C49C-808B-FD7F-D2AB6B8E1A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221CDD-CAB3-48DC-1333-DA3DF30BBC4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9359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flipV="1">
            <a:off x="0" y="-127000"/>
            <a:ext cx="16256000" cy="127000"/>
          </a:xfrm>
          <a:prstGeom prst="rect">
            <a:avLst/>
          </a:prstGeom>
          <a:solidFill>
            <a:srgbClr val="1C243B"/>
          </a:solidFill>
          <a:ln/>
        </p:spPr>
      </p:sp>
      <p:sp>
        <p:nvSpPr>
          <p:cNvPr id="3" name="Shape 1"/>
          <p:cNvSpPr/>
          <p:nvPr/>
        </p:nvSpPr>
        <p:spPr>
          <a:xfrm>
            <a:off x="0" y="8699500"/>
            <a:ext cx="16256000" cy="444500"/>
          </a:xfrm>
          <a:prstGeom prst="rect">
            <a:avLst/>
          </a:prstGeom>
          <a:solidFill>
            <a:srgbClr val="1C243B"/>
          </a:solidFill>
          <a:ln/>
        </p:spPr>
      </p:sp>
      <p:sp>
        <p:nvSpPr>
          <p:cNvPr id="4" name="Text 2"/>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5" name="Text 3"/>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1</a:t>
            </a:r>
            <a:endParaRPr lang="en-US" sz="1600" dirty="0"/>
          </a:p>
        </p:txBody>
      </p:sp>
      <p:sp>
        <p:nvSpPr>
          <p:cNvPr id="6" name="Shape 4"/>
          <p:cNvSpPr/>
          <p:nvPr/>
        </p:nvSpPr>
        <p:spPr>
          <a:xfrm>
            <a:off x="254000" y="698500"/>
            <a:ext cx="355600" cy="355600"/>
          </a:xfrm>
          <a:prstGeom prst="round2SameRect">
            <a:avLst>
              <a:gd name="adj1" fmla="val 50000"/>
              <a:gd name="adj2" fmla="val 0"/>
            </a:avLst>
          </a:prstGeom>
          <a:solidFill>
            <a:srgbClr val="1C243B"/>
          </a:solidFill>
          <a:ln/>
        </p:spPr>
      </p:sp>
      <p:sp>
        <p:nvSpPr>
          <p:cNvPr id="7" name="Shape 5"/>
          <p:cNvSpPr/>
          <p:nvPr/>
        </p:nvSpPr>
        <p:spPr>
          <a:xfrm>
            <a:off x="660400" y="698500"/>
            <a:ext cx="355600" cy="355600"/>
          </a:xfrm>
          <a:prstGeom prst="round2SameRect">
            <a:avLst>
              <a:gd name="adj1" fmla="val 50000"/>
              <a:gd name="adj2" fmla="val 0"/>
            </a:avLst>
          </a:prstGeom>
          <a:solidFill>
            <a:srgbClr val="AD7B53"/>
          </a:solidFill>
          <a:ln/>
        </p:spPr>
      </p:sp>
      <p:sp>
        <p:nvSpPr>
          <p:cNvPr id="8" name="Shape 6"/>
          <p:cNvSpPr/>
          <p:nvPr/>
        </p:nvSpPr>
        <p:spPr>
          <a:xfrm>
            <a:off x="254000" y="1104900"/>
            <a:ext cx="355600" cy="355600"/>
          </a:xfrm>
          <a:prstGeom prst="round2SameRect">
            <a:avLst>
              <a:gd name="adj1" fmla="val 50000"/>
              <a:gd name="adj2" fmla="val 0"/>
            </a:avLst>
          </a:prstGeom>
          <a:solidFill>
            <a:srgbClr val="AD7B53"/>
          </a:solidFill>
          <a:ln/>
        </p:spPr>
      </p:sp>
      <p:sp>
        <p:nvSpPr>
          <p:cNvPr id="9" name="Shape 7"/>
          <p:cNvSpPr/>
          <p:nvPr/>
        </p:nvSpPr>
        <p:spPr>
          <a:xfrm>
            <a:off x="660400" y="1104900"/>
            <a:ext cx="355600" cy="355600"/>
          </a:xfrm>
          <a:prstGeom prst="round2SameRect">
            <a:avLst>
              <a:gd name="adj1" fmla="val 50000"/>
              <a:gd name="adj2" fmla="val 0"/>
            </a:avLst>
          </a:prstGeom>
          <a:solidFill>
            <a:srgbClr val="1C243B"/>
          </a:solidFill>
          <a:ln/>
        </p:spPr>
      </p:sp>
      <p:sp>
        <p:nvSpPr>
          <p:cNvPr id="10" name="Shape 8"/>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11" name="Shape 9"/>
          <p:cNvSpPr/>
          <p:nvPr/>
        </p:nvSpPr>
        <p:spPr>
          <a:xfrm>
            <a:off x="635000" y="571500"/>
            <a:ext cx="0" cy="1016000"/>
          </a:xfrm>
          <a:prstGeom prst="straightConnector1">
            <a:avLst/>
          </a:prstGeom>
          <a:noFill/>
          <a:ln w="25400">
            <a:solidFill>
              <a:srgbClr val="AD7B53"/>
            </a:solidFill>
            <a:prstDash val="solid"/>
            <a:headEnd type="none"/>
            <a:tailEnd type="none"/>
          </a:ln>
        </p:spPr>
      </p:sp>
      <p:pic>
        <p:nvPicPr>
          <p:cNvPr id="12"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13" name="Shape 10"/>
          <p:cNvSpPr/>
          <p:nvPr/>
        </p:nvSpPr>
        <p:spPr>
          <a:xfrm>
            <a:off x="13970000" y="8255000"/>
            <a:ext cx="2032000" cy="0"/>
          </a:xfrm>
          <a:prstGeom prst="straightConnector1">
            <a:avLst/>
          </a:prstGeom>
          <a:noFill/>
          <a:ln w="25400">
            <a:solidFill>
              <a:srgbClr val="1C243B"/>
            </a:solidFill>
            <a:prstDash val="solid"/>
            <a:headEnd type="none"/>
            <a:tailEnd type="none"/>
          </a:ln>
        </p:spPr>
      </p:sp>
      <p:sp>
        <p:nvSpPr>
          <p:cNvPr id="14" name="Shape 11"/>
          <p:cNvSpPr/>
          <p:nvPr/>
        </p:nvSpPr>
        <p:spPr>
          <a:xfrm>
            <a:off x="14351000" y="8382000"/>
            <a:ext cx="1651000" cy="0"/>
          </a:xfrm>
          <a:prstGeom prst="straightConnector1">
            <a:avLst/>
          </a:prstGeom>
          <a:noFill/>
          <a:ln w="25400">
            <a:solidFill>
              <a:srgbClr val="AD7B53"/>
            </a:solidFill>
            <a:prstDash val="solid"/>
            <a:headEnd type="none"/>
            <a:tailEnd type="none"/>
          </a:ln>
        </p:spPr>
      </p:sp>
      <p:sp>
        <p:nvSpPr>
          <p:cNvPr id="15" name="Text 12"/>
          <p:cNvSpPr/>
          <p:nvPr/>
        </p:nvSpPr>
        <p:spPr>
          <a:xfrm>
            <a:off x="2540000" y="1016000"/>
            <a:ext cx="11176000" cy="381000"/>
          </a:xfrm>
          <a:prstGeom prst="rect">
            <a:avLst/>
          </a:prstGeom>
          <a:noFill/>
          <a:ln/>
        </p:spPr>
        <p:txBody>
          <a:bodyPr wrap="none" lIns="0" tIns="0" rIns="0" bIns="0" rtlCol="0" anchor="ctr"/>
          <a:lstStyle/>
          <a:p>
            <a:pPr algn="ctr">
              <a:lnSpc>
                <a:spcPct val="100000"/>
              </a:lnSpc>
            </a:pPr>
            <a:r>
              <a:rPr lang="en-US" sz="1800" dirty="0">
                <a:solidFill>
                  <a:srgbClr val="595959"/>
                </a:solidFill>
                <a:latin typeface="Quattrocento Sans" pitchFamily="34" charset="0"/>
                <a:ea typeface="Quattrocento Sans" pitchFamily="34" charset="-122"/>
                <a:cs typeface="Quattrocento Sans" pitchFamily="34" charset="-120"/>
              </a:rPr>
              <a:t>Major Project Presentation (Phase-II)</a:t>
            </a:r>
            <a:endParaRPr lang="en-US" sz="1600" dirty="0"/>
          </a:p>
        </p:txBody>
      </p:sp>
      <p:sp>
        <p:nvSpPr>
          <p:cNvPr id="16" name="Text 13"/>
          <p:cNvSpPr/>
          <p:nvPr/>
        </p:nvSpPr>
        <p:spPr>
          <a:xfrm>
            <a:off x="2540000" y="1651000"/>
            <a:ext cx="11176000" cy="889000"/>
          </a:xfrm>
          <a:prstGeom prst="rect">
            <a:avLst/>
          </a:prstGeom>
          <a:noFill/>
          <a:ln/>
        </p:spPr>
        <p:txBody>
          <a:bodyPr wrap="none" lIns="0" tIns="0" rIns="0" bIns="0" rtlCol="0" anchor="ctr"/>
          <a:lstStyle/>
          <a:p>
            <a:pPr algn="ctr">
              <a:lnSpc>
                <a:spcPct val="100000"/>
              </a:lnSpc>
            </a:pPr>
            <a:r>
              <a:rPr lang="en-US" sz="4800" b="1" dirty="0">
                <a:solidFill>
                  <a:srgbClr val="1C243B"/>
                </a:solidFill>
                <a:latin typeface="QuattrocentoSans" pitchFamily="34" charset="0"/>
                <a:ea typeface="QuattrocentoSans" pitchFamily="34" charset="-122"/>
                <a:cs typeface="QuattrocentoSans" pitchFamily="34" charset="-120"/>
              </a:rPr>
              <a:t>MedAidePlus</a:t>
            </a:r>
            <a:endParaRPr lang="en-US" sz="3600" dirty="0"/>
          </a:p>
        </p:txBody>
      </p:sp>
      <p:sp>
        <p:nvSpPr>
          <p:cNvPr id="17" name="Text 14"/>
          <p:cNvSpPr/>
          <p:nvPr/>
        </p:nvSpPr>
        <p:spPr>
          <a:xfrm>
            <a:off x="1905000" y="2667000"/>
            <a:ext cx="12446000" cy="762000"/>
          </a:xfrm>
          <a:prstGeom prst="rect">
            <a:avLst/>
          </a:prstGeom>
          <a:noFill/>
          <a:ln/>
        </p:spPr>
        <p:txBody>
          <a:bodyPr wrap="square" lIns="0" tIns="0" rIns="0" bIns="0" rtlCol="0" anchor="ctr"/>
          <a:lstStyle/>
          <a:p>
            <a:pPr algn="ctr">
              <a:lnSpc>
                <a:spcPct val="100000"/>
              </a:lnSpc>
            </a:pPr>
            <a:r>
              <a:rPr lang="en-US" sz="2000" dirty="0">
                <a:solidFill>
                  <a:srgbClr val="475569"/>
                </a:solidFill>
                <a:latin typeface="QuattrocentoSans" pitchFamily="34" charset="0"/>
                <a:ea typeface="QuattrocentoSans" pitchFamily="34" charset="-122"/>
                <a:cs typeface="QuattrocentoSans" pitchFamily="34" charset="-120"/>
              </a:rPr>
              <a:t>Multi-Agent Medical AI Framework with Category-Aware Routing, Hallucination Detection, and Persistent Patient Memory</a:t>
            </a:r>
            <a:endParaRPr lang="en-US" sz="2000" dirty="0"/>
          </a:p>
        </p:txBody>
      </p:sp>
      <p:sp>
        <p:nvSpPr>
          <p:cNvPr id="18" name="Shape 15"/>
          <p:cNvSpPr/>
          <p:nvPr/>
        </p:nvSpPr>
        <p:spPr>
          <a:xfrm>
            <a:off x="7112000" y="3556000"/>
            <a:ext cx="2032000" cy="38100"/>
          </a:xfrm>
          <a:prstGeom prst="rect">
            <a:avLst/>
          </a:prstGeom>
          <a:solidFill>
            <a:srgbClr val="2E7D32"/>
          </a:solidFill>
          <a:ln/>
        </p:spPr>
      </p:sp>
      <p:pic>
        <p:nvPicPr>
          <p:cNvPr id="19" name="Image 1" descr="https://kimi-img.moonshot.cn/pub/slides/okc/nqxj6awjc7f7i/mnt/agents/output/medaideplus/images/image_1.png"/>
          <p:cNvPicPr>
            <a:picLocks noChangeAspect="1"/>
          </p:cNvPicPr>
          <p:nvPr/>
        </p:nvPicPr>
        <p:blipFill>
          <a:blip r:embed="rId4"/>
          <a:srcRect l="980" r="980"/>
          <a:stretch/>
        </p:blipFill>
        <p:spPr>
          <a:xfrm>
            <a:off x="1270000" y="3937000"/>
            <a:ext cx="6350000" cy="4318000"/>
          </a:xfrm>
          <a:prstGeom prst="rect">
            <a:avLst/>
          </a:prstGeom>
        </p:spPr>
      </p:pic>
      <p:sp>
        <p:nvSpPr>
          <p:cNvPr id="20" name="Shape 16"/>
          <p:cNvSpPr/>
          <p:nvPr/>
        </p:nvSpPr>
        <p:spPr>
          <a:xfrm>
            <a:off x="8128000" y="3937000"/>
            <a:ext cx="7112000" cy="4318000"/>
          </a:xfrm>
          <a:prstGeom prst="rect">
            <a:avLst/>
          </a:prstGeom>
          <a:solidFill>
            <a:srgbClr val="FFFFFF"/>
          </a:solidFill>
          <a:ln w="12700">
            <a:solidFill>
              <a:srgbClr val="CBD5E1"/>
            </a:solidFill>
            <a:prstDash val="solid"/>
          </a:ln>
        </p:spPr>
      </p:sp>
      <p:sp>
        <p:nvSpPr>
          <p:cNvPr id="21" name="Text 17"/>
          <p:cNvSpPr/>
          <p:nvPr/>
        </p:nvSpPr>
        <p:spPr>
          <a:xfrm>
            <a:off x="8382000" y="4191000"/>
            <a:ext cx="2540000" cy="317500"/>
          </a:xfrm>
          <a:prstGeom prst="rect">
            <a:avLst/>
          </a:prstGeom>
          <a:noFill/>
          <a:ln/>
        </p:spPr>
        <p:txBody>
          <a:bodyPr wrap="none" lIns="0" tIns="0" rIns="0" bIns="0" rtlCol="0" anchor="ctr"/>
          <a:lstStyle/>
          <a:p>
            <a:pPr>
              <a:lnSpc>
                <a:spcPct val="100000"/>
              </a:lnSpc>
            </a:pPr>
            <a:r>
              <a:rPr lang="en-US" sz="1400" dirty="0">
                <a:solidFill>
                  <a:srgbClr val="595959"/>
                </a:solidFill>
                <a:latin typeface="Quattrocento Sans" pitchFamily="34" charset="0"/>
                <a:ea typeface="Quattrocento Sans" pitchFamily="34" charset="-122"/>
                <a:cs typeface="Quattrocento Sans" pitchFamily="34" charset="-120"/>
              </a:rPr>
              <a:t>Submitted by:</a:t>
            </a:r>
            <a:endParaRPr lang="en-US" sz="1600" dirty="0"/>
          </a:p>
        </p:txBody>
      </p:sp>
      <p:sp>
        <p:nvSpPr>
          <p:cNvPr id="22" name="Text 18"/>
          <p:cNvSpPr/>
          <p:nvPr/>
        </p:nvSpPr>
        <p:spPr>
          <a:xfrm>
            <a:off x="8382000" y="4546600"/>
            <a:ext cx="6604000" cy="381000"/>
          </a:xfrm>
          <a:prstGeom prst="rect">
            <a:avLst/>
          </a:prstGeom>
          <a:noFill/>
          <a:ln/>
        </p:spPr>
        <p:txBody>
          <a:bodyPr wrap="none" lIns="0" tIns="0" rIns="0" bIns="0" rtlCol="0" anchor="ctr"/>
          <a:lstStyle/>
          <a:p>
            <a:pPr>
              <a:lnSpc>
                <a:spcPct val="100000"/>
              </a:lnSpc>
            </a:pPr>
            <a:r>
              <a:rPr lang="en-US" sz="2000" b="1" dirty="0">
                <a:solidFill>
                  <a:srgbClr val="1C243B"/>
                </a:solidFill>
                <a:latin typeface="Quattrocento Sans" pitchFamily="34" charset="0"/>
                <a:ea typeface="Quattrocento Sans" pitchFamily="34" charset="-122"/>
                <a:cs typeface="Quattrocento Sans" pitchFamily="34" charset="-120"/>
              </a:rPr>
              <a:t>Punya Modi</a:t>
            </a:r>
            <a:r>
              <a:rPr lang="en-US" sz="2000" dirty="0">
                <a:solidFill>
                  <a:srgbClr val="1C243B"/>
                </a:solidFill>
                <a:latin typeface="Quattrocento Sans" pitchFamily="34" charset="0"/>
                <a:ea typeface="Quattrocento Sans" pitchFamily="34" charset="-122"/>
                <a:cs typeface="Quattrocento Sans" pitchFamily="34" charset="-120"/>
              </a:rPr>
              <a:t> (22U02075)</a:t>
            </a:r>
            <a:endParaRPr lang="en-US" sz="1600" dirty="0"/>
          </a:p>
        </p:txBody>
      </p:sp>
      <p:sp>
        <p:nvSpPr>
          <p:cNvPr id="23" name="Text 19"/>
          <p:cNvSpPr/>
          <p:nvPr/>
        </p:nvSpPr>
        <p:spPr>
          <a:xfrm>
            <a:off x="8382000" y="4978400"/>
            <a:ext cx="6604000" cy="317500"/>
          </a:xfrm>
          <a:prstGeom prst="rect">
            <a:avLst/>
          </a:prstGeom>
          <a:noFill/>
          <a:ln/>
        </p:spPr>
        <p:txBody>
          <a:bodyPr wrap="none" lIns="0" tIns="0" rIns="0" bIns="0" rtlCol="0" anchor="ctr"/>
          <a:lstStyle/>
          <a:p>
            <a:pPr>
              <a:lnSpc>
                <a:spcPct val="100000"/>
              </a:lnSpc>
            </a:pPr>
            <a:r>
              <a:rPr lang="en-US" sz="1400" dirty="0">
                <a:solidFill>
                  <a:srgbClr val="595959"/>
                </a:solidFill>
                <a:latin typeface="Quattrocento Sans" pitchFamily="34" charset="0"/>
                <a:ea typeface="Quattrocento Sans" pitchFamily="34" charset="-122"/>
                <a:cs typeface="Quattrocento Sans" pitchFamily="34" charset="-120"/>
              </a:rPr>
              <a:t>Department of Computer Science &amp; Engineering</a:t>
            </a:r>
            <a:endParaRPr lang="en-US" sz="1600" dirty="0"/>
          </a:p>
        </p:txBody>
      </p:sp>
      <p:sp>
        <p:nvSpPr>
          <p:cNvPr id="24" name="Text 20"/>
          <p:cNvSpPr/>
          <p:nvPr/>
        </p:nvSpPr>
        <p:spPr>
          <a:xfrm>
            <a:off x="8382000" y="5334000"/>
            <a:ext cx="6604000" cy="317500"/>
          </a:xfrm>
          <a:prstGeom prst="rect">
            <a:avLst/>
          </a:prstGeom>
          <a:noFill/>
          <a:ln/>
        </p:spPr>
        <p:txBody>
          <a:bodyPr wrap="none" lIns="0" tIns="0" rIns="0" bIns="0" rtlCol="0" anchor="ctr"/>
          <a:lstStyle/>
          <a:p>
            <a:pPr>
              <a:lnSpc>
                <a:spcPct val="100000"/>
              </a:lnSpc>
            </a:pPr>
            <a:r>
              <a:rPr lang="en-US" sz="1400" dirty="0">
                <a:solidFill>
                  <a:srgbClr val="595959"/>
                </a:solidFill>
                <a:latin typeface="Quattrocento Sans" pitchFamily="34" charset="0"/>
                <a:ea typeface="Quattrocento Sans" pitchFamily="34" charset="-122"/>
                <a:cs typeface="Quattrocento Sans" pitchFamily="34" charset="-120"/>
              </a:rPr>
              <a:t>Indian Institute of Information Technology, Bhopal</a:t>
            </a:r>
            <a:endParaRPr lang="en-US" sz="1600" dirty="0"/>
          </a:p>
        </p:txBody>
      </p:sp>
      <p:sp>
        <p:nvSpPr>
          <p:cNvPr id="25" name="Shape 21"/>
          <p:cNvSpPr/>
          <p:nvPr/>
        </p:nvSpPr>
        <p:spPr>
          <a:xfrm>
            <a:off x="8382000" y="5842000"/>
            <a:ext cx="6604000" cy="0"/>
          </a:xfrm>
          <a:prstGeom prst="straightConnector1">
            <a:avLst/>
          </a:prstGeom>
          <a:noFill/>
          <a:ln w="12700">
            <a:solidFill>
              <a:srgbClr val="CBD5E1"/>
            </a:solidFill>
            <a:prstDash val="solid"/>
            <a:headEnd type="none"/>
            <a:tailEnd type="none"/>
          </a:ln>
        </p:spPr>
      </p:sp>
      <p:sp>
        <p:nvSpPr>
          <p:cNvPr id="26" name="Text 22"/>
          <p:cNvSpPr/>
          <p:nvPr/>
        </p:nvSpPr>
        <p:spPr>
          <a:xfrm>
            <a:off x="8382000" y="6096000"/>
            <a:ext cx="2540000" cy="317500"/>
          </a:xfrm>
          <a:prstGeom prst="rect">
            <a:avLst/>
          </a:prstGeom>
          <a:noFill/>
          <a:ln/>
        </p:spPr>
        <p:txBody>
          <a:bodyPr wrap="none" lIns="0" tIns="0" rIns="0" bIns="0" rtlCol="0" anchor="ctr"/>
          <a:lstStyle/>
          <a:p>
            <a:pPr>
              <a:lnSpc>
                <a:spcPct val="100000"/>
              </a:lnSpc>
            </a:pPr>
            <a:r>
              <a:rPr lang="en-US" sz="1400" dirty="0">
                <a:solidFill>
                  <a:srgbClr val="595959"/>
                </a:solidFill>
                <a:latin typeface="Quattrocento Sans" pitchFamily="34" charset="0"/>
                <a:ea typeface="Quattrocento Sans" pitchFamily="34" charset="-122"/>
                <a:cs typeface="Quattrocento Sans" pitchFamily="34" charset="-120"/>
              </a:rPr>
              <a:t>Supervised by:</a:t>
            </a:r>
            <a:endParaRPr lang="en-US" sz="1600" dirty="0"/>
          </a:p>
        </p:txBody>
      </p:sp>
      <p:sp>
        <p:nvSpPr>
          <p:cNvPr id="27" name="Text 23"/>
          <p:cNvSpPr/>
          <p:nvPr/>
        </p:nvSpPr>
        <p:spPr>
          <a:xfrm>
            <a:off x="8382000" y="6451600"/>
            <a:ext cx="6604000" cy="381000"/>
          </a:xfrm>
          <a:prstGeom prst="rect">
            <a:avLst/>
          </a:prstGeom>
          <a:noFill/>
          <a:ln/>
        </p:spPr>
        <p:txBody>
          <a:bodyPr wrap="none" lIns="0" tIns="0" rIns="0" bIns="0" rtlCol="0" anchor="ctr"/>
          <a:lstStyle/>
          <a:p>
            <a:pPr>
              <a:lnSpc>
                <a:spcPct val="100000"/>
              </a:lnSpc>
            </a:pPr>
            <a:r>
              <a:rPr lang="en-US" sz="2000" b="1" dirty="0">
                <a:solidFill>
                  <a:srgbClr val="1C243B"/>
                </a:solidFill>
                <a:latin typeface="Quattrocento Sans" pitchFamily="34" charset="0"/>
                <a:ea typeface="Quattrocento Sans" pitchFamily="34" charset="-122"/>
                <a:cs typeface="Quattrocento Sans" pitchFamily="34" charset="-120"/>
              </a:rPr>
              <a:t>Dr. Yatendra Sahu</a:t>
            </a:r>
            <a:endParaRPr lang="en-US" sz="1600" dirty="0"/>
          </a:p>
        </p:txBody>
      </p:sp>
      <p:sp>
        <p:nvSpPr>
          <p:cNvPr id="28" name="Text 24"/>
          <p:cNvSpPr/>
          <p:nvPr/>
        </p:nvSpPr>
        <p:spPr>
          <a:xfrm>
            <a:off x="8382000" y="6883400"/>
            <a:ext cx="5207000" cy="317500"/>
          </a:xfrm>
          <a:prstGeom prst="rect">
            <a:avLst/>
          </a:prstGeom>
          <a:noFill/>
          <a:ln/>
        </p:spPr>
        <p:txBody>
          <a:bodyPr wrap="none" lIns="0" tIns="0" rIns="0" bIns="0" rtlCol="0" anchor="ctr"/>
          <a:lstStyle/>
          <a:p>
            <a:pPr>
              <a:lnSpc>
                <a:spcPct val="100000"/>
              </a:lnSpc>
            </a:pPr>
            <a:r>
              <a:rPr lang="en-US" sz="1400" dirty="0">
                <a:solidFill>
                  <a:srgbClr val="595959"/>
                </a:solidFill>
                <a:latin typeface="Quattrocento Sans" pitchFamily="34" charset="0"/>
                <a:ea typeface="Quattrocento Sans" pitchFamily="34" charset="-122"/>
                <a:cs typeface="Quattrocento Sans" pitchFamily="34" charset="-120"/>
              </a:rPr>
              <a:t>Assistant Professor, Department of CSE</a:t>
            </a:r>
            <a:endParaRPr lang="en-US" sz="1600" dirty="0"/>
          </a:p>
        </p:txBody>
      </p:sp>
      <p:sp>
        <p:nvSpPr>
          <p:cNvPr id="29" name="Text 25"/>
          <p:cNvSpPr/>
          <p:nvPr/>
        </p:nvSpPr>
        <p:spPr>
          <a:xfrm>
            <a:off x="8382000" y="7239000"/>
            <a:ext cx="5080000" cy="317500"/>
          </a:xfrm>
          <a:prstGeom prst="rect">
            <a:avLst/>
          </a:prstGeom>
          <a:noFill/>
          <a:ln/>
        </p:spPr>
        <p:txBody>
          <a:bodyPr wrap="none" lIns="0" tIns="0" rIns="0" bIns="0" rtlCol="0" anchor="ctr"/>
          <a:lstStyle/>
          <a:p>
            <a:pPr>
              <a:lnSpc>
                <a:spcPct val="100000"/>
              </a:lnSpc>
            </a:pPr>
            <a:r>
              <a:rPr lang="en-US" sz="1400" dirty="0">
                <a:solidFill>
                  <a:srgbClr val="595959"/>
                </a:solidFill>
                <a:latin typeface="Quattrocento Sans" pitchFamily="34" charset="0"/>
                <a:ea typeface="Quattrocento Sans" pitchFamily="34" charset="-122"/>
                <a:cs typeface="Quattrocento Sans" pitchFamily="34" charset="-120"/>
              </a:rPr>
              <a:t>April 2026</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8699500"/>
            <a:ext cx="16256000" cy="444500"/>
          </a:xfrm>
          <a:prstGeom prst="rect">
            <a:avLst/>
          </a:prstGeom>
          <a:solidFill>
            <a:srgbClr val="1C243B"/>
          </a:solidFill>
          <a:ln/>
        </p:spPr>
      </p:sp>
      <p:sp>
        <p:nvSpPr>
          <p:cNvPr id="4" name="Text 2"/>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5" name="Text 3"/>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2</a:t>
            </a:r>
            <a:endParaRPr lang="en-US" sz="1600" dirty="0"/>
          </a:p>
        </p:txBody>
      </p:sp>
      <p:sp>
        <p:nvSpPr>
          <p:cNvPr id="6" name="Shape 4"/>
          <p:cNvSpPr/>
          <p:nvPr/>
        </p:nvSpPr>
        <p:spPr>
          <a:xfrm>
            <a:off x="254000" y="698500"/>
            <a:ext cx="355600" cy="355600"/>
          </a:xfrm>
          <a:prstGeom prst="round2SameRect">
            <a:avLst>
              <a:gd name="adj1" fmla="val 50000"/>
              <a:gd name="adj2" fmla="val 0"/>
            </a:avLst>
          </a:prstGeom>
          <a:solidFill>
            <a:srgbClr val="1C243B"/>
          </a:solidFill>
          <a:ln/>
        </p:spPr>
      </p:sp>
      <p:sp>
        <p:nvSpPr>
          <p:cNvPr id="7" name="Shape 5"/>
          <p:cNvSpPr/>
          <p:nvPr/>
        </p:nvSpPr>
        <p:spPr>
          <a:xfrm>
            <a:off x="660400" y="698500"/>
            <a:ext cx="355600" cy="355600"/>
          </a:xfrm>
          <a:prstGeom prst="round2SameRect">
            <a:avLst>
              <a:gd name="adj1" fmla="val 50000"/>
              <a:gd name="adj2" fmla="val 0"/>
            </a:avLst>
          </a:prstGeom>
          <a:solidFill>
            <a:srgbClr val="AD7B53"/>
          </a:solidFill>
          <a:ln/>
        </p:spPr>
      </p:sp>
      <p:sp>
        <p:nvSpPr>
          <p:cNvPr id="8" name="Shape 6"/>
          <p:cNvSpPr/>
          <p:nvPr/>
        </p:nvSpPr>
        <p:spPr>
          <a:xfrm>
            <a:off x="254000" y="1104900"/>
            <a:ext cx="355600" cy="355600"/>
          </a:xfrm>
          <a:prstGeom prst="round2SameRect">
            <a:avLst>
              <a:gd name="adj1" fmla="val 50000"/>
              <a:gd name="adj2" fmla="val 0"/>
            </a:avLst>
          </a:prstGeom>
          <a:solidFill>
            <a:srgbClr val="AD7B53"/>
          </a:solidFill>
          <a:ln/>
        </p:spPr>
      </p:sp>
      <p:sp>
        <p:nvSpPr>
          <p:cNvPr id="9" name="Shape 7"/>
          <p:cNvSpPr/>
          <p:nvPr/>
        </p:nvSpPr>
        <p:spPr>
          <a:xfrm>
            <a:off x="660400" y="1104900"/>
            <a:ext cx="355600" cy="355600"/>
          </a:xfrm>
          <a:prstGeom prst="round2SameRect">
            <a:avLst>
              <a:gd name="adj1" fmla="val 50000"/>
              <a:gd name="adj2" fmla="val 0"/>
            </a:avLst>
          </a:prstGeom>
          <a:solidFill>
            <a:srgbClr val="1C243B"/>
          </a:solidFill>
          <a:ln/>
        </p:spPr>
      </p:sp>
      <p:sp>
        <p:nvSpPr>
          <p:cNvPr id="10" name="Shape 8"/>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11" name="Shape 9"/>
          <p:cNvSpPr/>
          <p:nvPr/>
        </p:nvSpPr>
        <p:spPr>
          <a:xfrm>
            <a:off x="635000" y="571500"/>
            <a:ext cx="0" cy="1016000"/>
          </a:xfrm>
          <a:prstGeom prst="straightConnector1">
            <a:avLst/>
          </a:prstGeom>
          <a:noFill/>
          <a:ln w="25400">
            <a:solidFill>
              <a:srgbClr val="AD7B53"/>
            </a:solidFill>
            <a:prstDash val="solid"/>
            <a:headEnd type="none"/>
            <a:tailEnd type="none"/>
          </a:ln>
        </p:spPr>
      </p:sp>
      <p:pic>
        <p:nvPicPr>
          <p:cNvPr id="12"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13" name="Shape 10"/>
          <p:cNvSpPr/>
          <p:nvPr/>
        </p:nvSpPr>
        <p:spPr>
          <a:xfrm>
            <a:off x="13970000" y="8255000"/>
            <a:ext cx="2032000" cy="0"/>
          </a:xfrm>
          <a:prstGeom prst="straightConnector1">
            <a:avLst/>
          </a:prstGeom>
          <a:noFill/>
          <a:ln w="25400">
            <a:solidFill>
              <a:srgbClr val="1C243B"/>
            </a:solidFill>
            <a:prstDash val="solid"/>
            <a:headEnd type="none"/>
            <a:tailEnd type="none"/>
          </a:ln>
        </p:spPr>
      </p:sp>
      <p:sp>
        <p:nvSpPr>
          <p:cNvPr id="14" name="Shape 11"/>
          <p:cNvSpPr/>
          <p:nvPr/>
        </p:nvSpPr>
        <p:spPr>
          <a:xfrm>
            <a:off x="14351000" y="8382000"/>
            <a:ext cx="1651000" cy="0"/>
          </a:xfrm>
          <a:prstGeom prst="straightConnector1">
            <a:avLst/>
          </a:prstGeom>
          <a:noFill/>
          <a:ln w="25400">
            <a:solidFill>
              <a:srgbClr val="AD7B53"/>
            </a:solidFill>
            <a:prstDash val="solid"/>
            <a:headEnd type="none"/>
            <a:tailEnd type="none"/>
          </a:ln>
        </p:spPr>
      </p:sp>
      <p:sp>
        <p:nvSpPr>
          <p:cNvPr id="15" name="Text 12"/>
          <p:cNvSpPr/>
          <p:nvPr/>
        </p:nvSpPr>
        <p:spPr>
          <a:xfrm>
            <a:off x="1270000" y="698500"/>
            <a:ext cx="13716000" cy="508000"/>
          </a:xfrm>
          <a:prstGeom prst="rect">
            <a:avLst/>
          </a:prstGeom>
          <a:noFill/>
          <a:ln/>
        </p:spPr>
        <p:txBody>
          <a:bodyPr wrap="none" lIns="0" tIns="0" rIns="0" bIns="0" rtlCol="0" anchor="ctr"/>
          <a:lstStyle/>
          <a:p>
            <a:pPr algn="ct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Presentation Overview</a:t>
            </a:r>
            <a:endParaRPr lang="en-US" sz="2800" dirty="0"/>
          </a:p>
        </p:txBody>
      </p:sp>
      <p:sp>
        <p:nvSpPr>
          <p:cNvPr id="16" name="Shape 13"/>
          <p:cNvSpPr/>
          <p:nvPr/>
        </p:nvSpPr>
        <p:spPr>
          <a:xfrm>
            <a:off x="7747000" y="1244600"/>
            <a:ext cx="762000" cy="50800"/>
          </a:xfrm>
          <a:prstGeom prst="rect">
            <a:avLst/>
          </a:prstGeom>
          <a:solidFill>
            <a:srgbClr val="2E7D32"/>
          </a:solidFill>
          <a:ln/>
        </p:spPr>
      </p:sp>
      <p:sp>
        <p:nvSpPr>
          <p:cNvPr id="17" name="Shape 14"/>
          <p:cNvSpPr/>
          <p:nvPr/>
        </p:nvSpPr>
        <p:spPr>
          <a:xfrm>
            <a:off x="1016000" y="1651000"/>
            <a:ext cx="3429000" cy="2921000"/>
          </a:xfrm>
          <a:prstGeom prst="rect">
            <a:avLst/>
          </a:prstGeom>
          <a:solidFill>
            <a:srgbClr val="FFFFFF"/>
          </a:solidFill>
          <a:ln w="12700">
            <a:solidFill>
              <a:srgbClr val="CBD5E1"/>
            </a:solidFill>
            <a:prstDash val="solid"/>
          </a:ln>
        </p:spPr>
      </p:sp>
      <p:sp>
        <p:nvSpPr>
          <p:cNvPr id="18" name="Text 15"/>
          <p:cNvSpPr/>
          <p:nvPr/>
        </p:nvSpPr>
        <p:spPr>
          <a:xfrm>
            <a:off x="1270000" y="1841500"/>
            <a:ext cx="7620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01</a:t>
            </a:r>
            <a:endParaRPr lang="en-US" sz="1600" dirty="0"/>
          </a:p>
        </p:txBody>
      </p:sp>
      <p:sp>
        <p:nvSpPr>
          <p:cNvPr id="19" name="Text 16"/>
          <p:cNvSpPr/>
          <p:nvPr/>
        </p:nvSpPr>
        <p:spPr>
          <a:xfrm>
            <a:off x="1270000" y="2413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Introduction &amp; Background</a:t>
            </a:r>
            <a:endParaRPr lang="en-US" sz="1600" dirty="0"/>
          </a:p>
        </p:txBody>
      </p:sp>
      <p:sp>
        <p:nvSpPr>
          <p:cNvPr id="20" name="Text 17"/>
          <p:cNvSpPr/>
          <p:nvPr/>
        </p:nvSpPr>
        <p:spPr>
          <a:xfrm>
            <a:off x="1270000" y="2857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Medical AI landscape and motivation for MedAidePlus</a:t>
            </a:r>
            <a:endParaRPr lang="en-US" sz="1600" dirty="0"/>
          </a:p>
        </p:txBody>
      </p:sp>
      <p:sp>
        <p:nvSpPr>
          <p:cNvPr id="21" name="Shape 18"/>
          <p:cNvSpPr/>
          <p:nvPr/>
        </p:nvSpPr>
        <p:spPr>
          <a:xfrm>
            <a:off x="3917950" y="3937000"/>
            <a:ext cx="342900" cy="304800"/>
          </a:xfrm>
          <a:custGeom>
            <a:avLst/>
            <a:gdLst/>
            <a:ahLst/>
            <a:cxnLst/>
            <a:rect l="l" t="t" r="r" b="b"/>
            <a:pathLst>
              <a:path w="342900" h="304800">
                <a:moveTo>
                  <a:pt x="19050" y="28575"/>
                </a:moveTo>
                <a:cubicBezTo>
                  <a:pt x="19050" y="12799"/>
                  <a:pt x="31849" y="0"/>
                  <a:pt x="47625" y="0"/>
                </a:cubicBezTo>
                <a:lnTo>
                  <a:pt x="76200" y="0"/>
                </a:lnTo>
                <a:cubicBezTo>
                  <a:pt x="86737" y="0"/>
                  <a:pt x="95250" y="8513"/>
                  <a:pt x="95250" y="19050"/>
                </a:cubicBezTo>
                <a:cubicBezTo>
                  <a:pt x="95250" y="29587"/>
                  <a:pt x="86737" y="38100"/>
                  <a:pt x="76200" y="38100"/>
                </a:cubicBezTo>
                <a:lnTo>
                  <a:pt x="57150" y="38100"/>
                </a:lnTo>
                <a:lnTo>
                  <a:pt x="57150" y="114300"/>
                </a:lnTo>
                <a:cubicBezTo>
                  <a:pt x="57150" y="145852"/>
                  <a:pt x="82748" y="171450"/>
                  <a:pt x="114300" y="171450"/>
                </a:cubicBezTo>
                <a:cubicBezTo>
                  <a:pt x="145852" y="171450"/>
                  <a:pt x="171450" y="145852"/>
                  <a:pt x="171450" y="114300"/>
                </a:cubicBezTo>
                <a:lnTo>
                  <a:pt x="171450" y="38100"/>
                </a:lnTo>
                <a:lnTo>
                  <a:pt x="152400" y="38100"/>
                </a:lnTo>
                <a:cubicBezTo>
                  <a:pt x="141863" y="38100"/>
                  <a:pt x="133350" y="29587"/>
                  <a:pt x="133350" y="19050"/>
                </a:cubicBezTo>
                <a:cubicBezTo>
                  <a:pt x="133350" y="8513"/>
                  <a:pt x="141863" y="0"/>
                  <a:pt x="152400" y="0"/>
                </a:cubicBezTo>
                <a:lnTo>
                  <a:pt x="180975" y="0"/>
                </a:lnTo>
                <a:cubicBezTo>
                  <a:pt x="196751" y="0"/>
                  <a:pt x="209550" y="12799"/>
                  <a:pt x="209550" y="28575"/>
                </a:cubicBezTo>
                <a:lnTo>
                  <a:pt x="209550" y="114300"/>
                </a:lnTo>
                <a:cubicBezTo>
                  <a:pt x="209550" y="160377"/>
                  <a:pt x="176808" y="198834"/>
                  <a:pt x="133350" y="207645"/>
                </a:cubicBezTo>
                <a:lnTo>
                  <a:pt x="133350" y="219075"/>
                </a:lnTo>
                <a:cubicBezTo>
                  <a:pt x="133350" y="255925"/>
                  <a:pt x="163175" y="285750"/>
                  <a:pt x="200025" y="285750"/>
                </a:cubicBezTo>
                <a:cubicBezTo>
                  <a:pt x="236875" y="285750"/>
                  <a:pt x="266700" y="255925"/>
                  <a:pt x="266700" y="219075"/>
                </a:cubicBezTo>
                <a:lnTo>
                  <a:pt x="266700" y="168176"/>
                </a:lnTo>
                <a:cubicBezTo>
                  <a:pt x="244495" y="160318"/>
                  <a:pt x="228600" y="139184"/>
                  <a:pt x="228600" y="114300"/>
                </a:cubicBezTo>
                <a:cubicBezTo>
                  <a:pt x="228600" y="82748"/>
                  <a:pt x="254198" y="57150"/>
                  <a:pt x="285750" y="57150"/>
                </a:cubicBezTo>
                <a:cubicBezTo>
                  <a:pt x="317302" y="57150"/>
                  <a:pt x="342900" y="82748"/>
                  <a:pt x="342900" y="114300"/>
                </a:cubicBezTo>
                <a:cubicBezTo>
                  <a:pt x="342900" y="139184"/>
                  <a:pt x="327005" y="160377"/>
                  <a:pt x="304800" y="168176"/>
                </a:cubicBezTo>
                <a:lnTo>
                  <a:pt x="304800" y="219075"/>
                </a:lnTo>
                <a:cubicBezTo>
                  <a:pt x="304800" y="276939"/>
                  <a:pt x="257889" y="323850"/>
                  <a:pt x="200025" y="323850"/>
                </a:cubicBezTo>
                <a:cubicBezTo>
                  <a:pt x="142161" y="323850"/>
                  <a:pt x="95250" y="276939"/>
                  <a:pt x="95250" y="219075"/>
                </a:cubicBezTo>
                <a:lnTo>
                  <a:pt x="95250" y="207645"/>
                </a:lnTo>
                <a:cubicBezTo>
                  <a:pt x="51792" y="198834"/>
                  <a:pt x="19050" y="160377"/>
                  <a:pt x="19050" y="114300"/>
                </a:cubicBezTo>
                <a:lnTo>
                  <a:pt x="19050" y="28575"/>
                </a:lnTo>
                <a:close/>
                <a:moveTo>
                  <a:pt x="285750" y="133350"/>
                </a:moveTo>
                <a:cubicBezTo>
                  <a:pt x="296264" y="133350"/>
                  <a:pt x="304800" y="124814"/>
                  <a:pt x="304800" y="114300"/>
                </a:cubicBezTo>
                <a:cubicBezTo>
                  <a:pt x="304800" y="103786"/>
                  <a:pt x="296264" y="95250"/>
                  <a:pt x="285750" y="95250"/>
                </a:cubicBezTo>
                <a:cubicBezTo>
                  <a:pt x="275236" y="95250"/>
                  <a:pt x="266700" y="103786"/>
                  <a:pt x="266700" y="114300"/>
                </a:cubicBezTo>
                <a:cubicBezTo>
                  <a:pt x="266700" y="124814"/>
                  <a:pt x="275236" y="133350"/>
                  <a:pt x="285750" y="133350"/>
                </a:cubicBezTo>
                <a:close/>
              </a:path>
            </a:pathLst>
          </a:custGeom>
          <a:solidFill>
            <a:srgbClr val="AD7B53"/>
          </a:solidFill>
          <a:ln/>
        </p:spPr>
      </p:sp>
      <p:sp>
        <p:nvSpPr>
          <p:cNvPr id="22" name="Shape 19"/>
          <p:cNvSpPr/>
          <p:nvPr/>
        </p:nvSpPr>
        <p:spPr>
          <a:xfrm>
            <a:off x="4699000" y="1651000"/>
            <a:ext cx="3429000" cy="2921000"/>
          </a:xfrm>
          <a:prstGeom prst="rect">
            <a:avLst/>
          </a:prstGeom>
          <a:solidFill>
            <a:srgbClr val="FFFFFF"/>
          </a:solidFill>
          <a:ln w="12700">
            <a:solidFill>
              <a:srgbClr val="CBD5E1"/>
            </a:solidFill>
            <a:prstDash val="solid"/>
          </a:ln>
        </p:spPr>
      </p:sp>
      <p:sp>
        <p:nvSpPr>
          <p:cNvPr id="23" name="Text 20"/>
          <p:cNvSpPr/>
          <p:nvPr/>
        </p:nvSpPr>
        <p:spPr>
          <a:xfrm>
            <a:off x="4953000" y="1841500"/>
            <a:ext cx="8255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02</a:t>
            </a:r>
            <a:endParaRPr lang="en-US" sz="1600" dirty="0"/>
          </a:p>
        </p:txBody>
      </p:sp>
      <p:sp>
        <p:nvSpPr>
          <p:cNvPr id="24" name="Text 21"/>
          <p:cNvSpPr/>
          <p:nvPr/>
        </p:nvSpPr>
        <p:spPr>
          <a:xfrm>
            <a:off x="4953000" y="2413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Literature Review</a:t>
            </a:r>
            <a:endParaRPr lang="en-US" sz="1600" dirty="0"/>
          </a:p>
        </p:txBody>
      </p:sp>
      <p:sp>
        <p:nvSpPr>
          <p:cNvPr id="25" name="Text 22"/>
          <p:cNvSpPr/>
          <p:nvPr/>
        </p:nvSpPr>
        <p:spPr>
          <a:xfrm>
            <a:off x="4953000" y="2857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Survey of medical LLMs, multi-agent systems, and RAG</a:t>
            </a:r>
            <a:endParaRPr lang="en-US" sz="1600" dirty="0"/>
          </a:p>
        </p:txBody>
      </p:sp>
      <p:sp>
        <p:nvSpPr>
          <p:cNvPr id="26" name="Shape 23"/>
          <p:cNvSpPr/>
          <p:nvPr/>
        </p:nvSpPr>
        <p:spPr>
          <a:xfrm>
            <a:off x="7620000" y="3937000"/>
            <a:ext cx="304800" cy="304800"/>
          </a:xfrm>
          <a:custGeom>
            <a:avLst/>
            <a:gdLst/>
            <a:ahLst/>
            <a:cxnLst/>
            <a:rect l="l" t="t" r="r" b="b"/>
            <a:pathLst>
              <a:path w="304800" h="304800">
                <a:moveTo>
                  <a:pt x="152400" y="84118"/>
                </a:moveTo>
                <a:lnTo>
                  <a:pt x="152400" y="268248"/>
                </a:lnTo>
                <a:lnTo>
                  <a:pt x="152698" y="268129"/>
                </a:lnTo>
                <a:cubicBezTo>
                  <a:pt x="185202" y="254615"/>
                  <a:pt x="220087" y="247650"/>
                  <a:pt x="255270" y="247650"/>
                </a:cubicBezTo>
                <a:lnTo>
                  <a:pt x="266700" y="247650"/>
                </a:lnTo>
                <a:lnTo>
                  <a:pt x="266700" y="57150"/>
                </a:lnTo>
                <a:lnTo>
                  <a:pt x="255270" y="57150"/>
                </a:lnTo>
                <a:cubicBezTo>
                  <a:pt x="230148" y="57150"/>
                  <a:pt x="205204" y="62151"/>
                  <a:pt x="181987" y="71795"/>
                </a:cubicBezTo>
                <a:cubicBezTo>
                  <a:pt x="171986" y="75962"/>
                  <a:pt x="162104" y="80070"/>
                  <a:pt x="152400" y="84118"/>
                </a:cubicBezTo>
                <a:close/>
                <a:moveTo>
                  <a:pt x="137458" y="36612"/>
                </a:moveTo>
                <a:lnTo>
                  <a:pt x="152400" y="42863"/>
                </a:lnTo>
                <a:lnTo>
                  <a:pt x="167342" y="36612"/>
                </a:lnTo>
                <a:cubicBezTo>
                  <a:pt x="195203" y="25003"/>
                  <a:pt x="225088" y="19050"/>
                  <a:pt x="255270" y="19050"/>
                </a:cubicBezTo>
                <a:lnTo>
                  <a:pt x="276225" y="19050"/>
                </a:lnTo>
                <a:cubicBezTo>
                  <a:pt x="292001" y="19050"/>
                  <a:pt x="304800" y="31849"/>
                  <a:pt x="304800" y="47625"/>
                </a:cubicBezTo>
                <a:lnTo>
                  <a:pt x="304800" y="257175"/>
                </a:lnTo>
                <a:cubicBezTo>
                  <a:pt x="304800" y="272951"/>
                  <a:pt x="292001" y="285750"/>
                  <a:pt x="276225" y="285750"/>
                </a:cubicBezTo>
                <a:lnTo>
                  <a:pt x="255270" y="285750"/>
                </a:lnTo>
                <a:cubicBezTo>
                  <a:pt x="225088" y="285750"/>
                  <a:pt x="195203" y="291703"/>
                  <a:pt x="167342" y="303312"/>
                </a:cubicBezTo>
                <a:lnTo>
                  <a:pt x="159722" y="306467"/>
                </a:lnTo>
                <a:cubicBezTo>
                  <a:pt x="155019" y="308431"/>
                  <a:pt x="149781" y="308431"/>
                  <a:pt x="145078" y="306467"/>
                </a:cubicBezTo>
                <a:lnTo>
                  <a:pt x="137458" y="303312"/>
                </a:lnTo>
                <a:cubicBezTo>
                  <a:pt x="109597" y="291703"/>
                  <a:pt x="79712" y="285750"/>
                  <a:pt x="49530" y="285750"/>
                </a:cubicBezTo>
                <a:lnTo>
                  <a:pt x="28575" y="285750"/>
                </a:lnTo>
                <a:cubicBezTo>
                  <a:pt x="12799" y="285750"/>
                  <a:pt x="0" y="272951"/>
                  <a:pt x="0" y="257175"/>
                </a:cubicBezTo>
                <a:lnTo>
                  <a:pt x="0" y="47625"/>
                </a:lnTo>
                <a:cubicBezTo>
                  <a:pt x="0" y="31849"/>
                  <a:pt x="12799" y="19050"/>
                  <a:pt x="28575" y="19050"/>
                </a:cubicBezTo>
                <a:lnTo>
                  <a:pt x="49530" y="19050"/>
                </a:lnTo>
                <a:cubicBezTo>
                  <a:pt x="79712" y="19050"/>
                  <a:pt x="109597" y="25003"/>
                  <a:pt x="137458" y="36612"/>
                </a:cubicBezTo>
                <a:close/>
              </a:path>
            </a:pathLst>
          </a:custGeom>
          <a:solidFill>
            <a:srgbClr val="AD7B53"/>
          </a:solidFill>
          <a:ln/>
        </p:spPr>
      </p:sp>
      <p:sp>
        <p:nvSpPr>
          <p:cNvPr id="27" name="Shape 24"/>
          <p:cNvSpPr/>
          <p:nvPr/>
        </p:nvSpPr>
        <p:spPr>
          <a:xfrm>
            <a:off x="8382000" y="1651000"/>
            <a:ext cx="3429000" cy="2921000"/>
          </a:xfrm>
          <a:prstGeom prst="rect">
            <a:avLst/>
          </a:prstGeom>
          <a:solidFill>
            <a:srgbClr val="FFFFFF"/>
          </a:solidFill>
          <a:ln w="12700">
            <a:solidFill>
              <a:srgbClr val="CBD5E1"/>
            </a:solidFill>
            <a:prstDash val="solid"/>
          </a:ln>
        </p:spPr>
      </p:sp>
      <p:sp>
        <p:nvSpPr>
          <p:cNvPr id="28" name="Text 25"/>
          <p:cNvSpPr/>
          <p:nvPr/>
        </p:nvSpPr>
        <p:spPr>
          <a:xfrm>
            <a:off x="8636000" y="1841500"/>
            <a:ext cx="8255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03</a:t>
            </a:r>
            <a:endParaRPr lang="en-US" sz="1600" dirty="0"/>
          </a:p>
        </p:txBody>
      </p:sp>
      <p:sp>
        <p:nvSpPr>
          <p:cNvPr id="29" name="Text 26"/>
          <p:cNvSpPr/>
          <p:nvPr/>
        </p:nvSpPr>
        <p:spPr>
          <a:xfrm>
            <a:off x="8636000" y="2413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Problem Statement</a:t>
            </a:r>
            <a:endParaRPr lang="en-US" sz="1600" dirty="0"/>
          </a:p>
        </p:txBody>
      </p:sp>
      <p:sp>
        <p:nvSpPr>
          <p:cNvPr id="30" name="Text 27"/>
          <p:cNvSpPr/>
          <p:nvPr/>
        </p:nvSpPr>
        <p:spPr>
          <a:xfrm>
            <a:off x="8636000" y="2857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Core deficiencies and project objectives</a:t>
            </a:r>
            <a:endParaRPr lang="en-US" sz="1600" dirty="0"/>
          </a:p>
        </p:txBody>
      </p:sp>
      <p:sp>
        <p:nvSpPr>
          <p:cNvPr id="31" name="Shape 28"/>
          <p:cNvSpPr/>
          <p:nvPr/>
        </p:nvSpPr>
        <p:spPr>
          <a:xfrm>
            <a:off x="11303000" y="3937000"/>
            <a:ext cx="304800" cy="304800"/>
          </a:xfrm>
          <a:custGeom>
            <a:avLst/>
            <a:gdLst/>
            <a:ahLst/>
            <a:cxnLst/>
            <a:rect l="l" t="t" r="r" b="b"/>
            <a:pathLst>
              <a:path w="304800" h="304800">
                <a:moveTo>
                  <a:pt x="266700" y="152400"/>
                </a:moveTo>
                <a:cubicBezTo>
                  <a:pt x="266700" y="89316"/>
                  <a:pt x="215484" y="38100"/>
                  <a:pt x="152400" y="38100"/>
                </a:cubicBezTo>
                <a:cubicBezTo>
                  <a:pt x="89316" y="38100"/>
                  <a:pt x="38100" y="89316"/>
                  <a:pt x="38100" y="152400"/>
                </a:cubicBezTo>
                <a:cubicBezTo>
                  <a:pt x="38100" y="215484"/>
                  <a:pt x="89316" y="266700"/>
                  <a:pt x="152400" y="266700"/>
                </a:cubicBezTo>
                <a:cubicBezTo>
                  <a:pt x="215484" y="266700"/>
                  <a:pt x="266700" y="215484"/>
                  <a:pt x="266700" y="152400"/>
                </a:cubicBezTo>
                <a:close/>
                <a:moveTo>
                  <a:pt x="0" y="152400"/>
                </a:moveTo>
                <a:cubicBezTo>
                  <a:pt x="0" y="68288"/>
                  <a:pt x="68288" y="0"/>
                  <a:pt x="152400" y="0"/>
                </a:cubicBezTo>
                <a:cubicBezTo>
                  <a:pt x="236512" y="0"/>
                  <a:pt x="304800" y="68288"/>
                  <a:pt x="304800" y="152400"/>
                </a:cubicBezTo>
                <a:cubicBezTo>
                  <a:pt x="304800" y="236512"/>
                  <a:pt x="236512" y="304800"/>
                  <a:pt x="152400" y="304800"/>
                </a:cubicBezTo>
                <a:cubicBezTo>
                  <a:pt x="68288" y="304800"/>
                  <a:pt x="0" y="236512"/>
                  <a:pt x="0" y="152400"/>
                </a:cubicBezTo>
                <a:close/>
                <a:moveTo>
                  <a:pt x="152400" y="200025"/>
                </a:moveTo>
                <a:cubicBezTo>
                  <a:pt x="178685" y="200025"/>
                  <a:pt x="200025" y="178685"/>
                  <a:pt x="200025" y="152400"/>
                </a:cubicBezTo>
                <a:cubicBezTo>
                  <a:pt x="200025" y="126115"/>
                  <a:pt x="178685" y="104775"/>
                  <a:pt x="152400" y="104775"/>
                </a:cubicBezTo>
                <a:cubicBezTo>
                  <a:pt x="126115" y="104775"/>
                  <a:pt x="104775" y="126115"/>
                  <a:pt x="104775" y="152400"/>
                </a:cubicBezTo>
                <a:cubicBezTo>
                  <a:pt x="104775" y="178685"/>
                  <a:pt x="126115" y="200025"/>
                  <a:pt x="152400" y="200025"/>
                </a:cubicBezTo>
                <a:close/>
                <a:moveTo>
                  <a:pt x="152400" y="66675"/>
                </a:moveTo>
                <a:cubicBezTo>
                  <a:pt x="199713" y="66675"/>
                  <a:pt x="238125" y="105087"/>
                  <a:pt x="238125" y="152400"/>
                </a:cubicBezTo>
                <a:cubicBezTo>
                  <a:pt x="238125" y="199713"/>
                  <a:pt x="199713" y="238125"/>
                  <a:pt x="152400" y="238125"/>
                </a:cubicBezTo>
                <a:cubicBezTo>
                  <a:pt x="105087" y="238125"/>
                  <a:pt x="66675" y="199713"/>
                  <a:pt x="66675" y="152400"/>
                </a:cubicBezTo>
                <a:cubicBezTo>
                  <a:pt x="66675" y="105087"/>
                  <a:pt x="105087" y="66675"/>
                  <a:pt x="152400" y="66675"/>
                </a:cubicBezTo>
                <a:close/>
                <a:moveTo>
                  <a:pt x="133350" y="152400"/>
                </a:moveTo>
                <a:cubicBezTo>
                  <a:pt x="133350" y="141886"/>
                  <a:pt x="141886" y="133350"/>
                  <a:pt x="152400" y="133350"/>
                </a:cubicBezTo>
                <a:cubicBezTo>
                  <a:pt x="162914" y="133350"/>
                  <a:pt x="171450" y="141886"/>
                  <a:pt x="171450" y="152400"/>
                </a:cubicBezTo>
                <a:cubicBezTo>
                  <a:pt x="171450" y="162914"/>
                  <a:pt x="162914" y="171450"/>
                  <a:pt x="152400" y="171450"/>
                </a:cubicBezTo>
                <a:cubicBezTo>
                  <a:pt x="141886" y="171450"/>
                  <a:pt x="133350" y="162914"/>
                  <a:pt x="133350" y="152400"/>
                </a:cubicBezTo>
                <a:close/>
              </a:path>
            </a:pathLst>
          </a:custGeom>
          <a:solidFill>
            <a:srgbClr val="AD7B53"/>
          </a:solidFill>
          <a:ln/>
        </p:spPr>
      </p:sp>
      <p:sp>
        <p:nvSpPr>
          <p:cNvPr id="32" name="Shape 29"/>
          <p:cNvSpPr/>
          <p:nvPr/>
        </p:nvSpPr>
        <p:spPr>
          <a:xfrm>
            <a:off x="12065000" y="1651000"/>
            <a:ext cx="3429000" cy="2921000"/>
          </a:xfrm>
          <a:prstGeom prst="rect">
            <a:avLst/>
          </a:prstGeom>
          <a:solidFill>
            <a:srgbClr val="FFFFFF"/>
          </a:solidFill>
          <a:ln w="12700">
            <a:solidFill>
              <a:srgbClr val="CBD5E1"/>
            </a:solidFill>
            <a:prstDash val="solid"/>
          </a:ln>
        </p:spPr>
      </p:sp>
      <p:sp>
        <p:nvSpPr>
          <p:cNvPr id="33" name="Text 30"/>
          <p:cNvSpPr/>
          <p:nvPr/>
        </p:nvSpPr>
        <p:spPr>
          <a:xfrm>
            <a:off x="12319000" y="1841500"/>
            <a:ext cx="8255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04</a:t>
            </a:r>
            <a:endParaRPr lang="en-US" sz="1600" dirty="0"/>
          </a:p>
        </p:txBody>
      </p:sp>
      <p:sp>
        <p:nvSpPr>
          <p:cNvPr id="34" name="Text 31"/>
          <p:cNvSpPr/>
          <p:nvPr/>
        </p:nvSpPr>
        <p:spPr>
          <a:xfrm>
            <a:off x="12319000" y="2413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Proposed Methodology</a:t>
            </a:r>
            <a:endParaRPr lang="en-US" sz="1600" dirty="0"/>
          </a:p>
        </p:txBody>
      </p:sp>
      <p:sp>
        <p:nvSpPr>
          <p:cNvPr id="35" name="Text 32"/>
          <p:cNvSpPr/>
          <p:nvPr/>
        </p:nvSpPr>
        <p:spPr>
          <a:xfrm>
            <a:off x="12319000" y="2857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Seven-module pipeline architecture and system design</a:t>
            </a:r>
            <a:endParaRPr lang="en-US" sz="1600" dirty="0"/>
          </a:p>
        </p:txBody>
      </p:sp>
      <p:sp>
        <p:nvSpPr>
          <p:cNvPr id="36" name="Shape 33"/>
          <p:cNvSpPr/>
          <p:nvPr/>
        </p:nvSpPr>
        <p:spPr>
          <a:xfrm>
            <a:off x="14986000" y="3937000"/>
            <a:ext cx="304800" cy="304800"/>
          </a:xfrm>
          <a:custGeom>
            <a:avLst/>
            <a:gdLst/>
            <a:ahLst/>
            <a:cxnLst/>
            <a:rect l="l" t="t" r="r" b="b"/>
            <a:pathLst>
              <a:path w="304800" h="304800">
                <a:moveTo>
                  <a:pt x="114300" y="38100"/>
                </a:moveTo>
                <a:cubicBezTo>
                  <a:pt x="114300" y="27563"/>
                  <a:pt x="122813" y="19050"/>
                  <a:pt x="133350" y="19050"/>
                </a:cubicBezTo>
                <a:lnTo>
                  <a:pt x="171450" y="19050"/>
                </a:lnTo>
                <a:cubicBezTo>
                  <a:pt x="181987" y="19050"/>
                  <a:pt x="190500" y="27563"/>
                  <a:pt x="190500" y="38100"/>
                </a:cubicBezTo>
                <a:lnTo>
                  <a:pt x="190500" y="76200"/>
                </a:lnTo>
                <a:cubicBezTo>
                  <a:pt x="190500" y="86737"/>
                  <a:pt x="181987" y="95250"/>
                  <a:pt x="171450" y="95250"/>
                </a:cubicBezTo>
                <a:lnTo>
                  <a:pt x="166688" y="95250"/>
                </a:lnTo>
                <a:lnTo>
                  <a:pt x="166688" y="133350"/>
                </a:lnTo>
                <a:lnTo>
                  <a:pt x="238125" y="133350"/>
                </a:lnTo>
                <a:cubicBezTo>
                  <a:pt x="261818" y="133350"/>
                  <a:pt x="280987" y="152519"/>
                  <a:pt x="280987" y="176212"/>
                </a:cubicBezTo>
                <a:lnTo>
                  <a:pt x="280987" y="209550"/>
                </a:lnTo>
                <a:lnTo>
                  <a:pt x="285750" y="209550"/>
                </a:lnTo>
                <a:cubicBezTo>
                  <a:pt x="296287" y="209550"/>
                  <a:pt x="304800" y="218063"/>
                  <a:pt x="304800" y="228600"/>
                </a:cubicBezTo>
                <a:lnTo>
                  <a:pt x="304800" y="266700"/>
                </a:lnTo>
                <a:cubicBezTo>
                  <a:pt x="304800" y="277237"/>
                  <a:pt x="296287" y="285750"/>
                  <a:pt x="285750" y="285750"/>
                </a:cubicBezTo>
                <a:lnTo>
                  <a:pt x="247650" y="285750"/>
                </a:lnTo>
                <a:cubicBezTo>
                  <a:pt x="237113" y="285750"/>
                  <a:pt x="228600" y="277237"/>
                  <a:pt x="228600" y="266700"/>
                </a:cubicBezTo>
                <a:lnTo>
                  <a:pt x="228600" y="228600"/>
                </a:lnTo>
                <a:cubicBezTo>
                  <a:pt x="228600" y="218063"/>
                  <a:pt x="237113" y="209550"/>
                  <a:pt x="247650" y="209550"/>
                </a:cubicBezTo>
                <a:lnTo>
                  <a:pt x="252413" y="209550"/>
                </a:lnTo>
                <a:lnTo>
                  <a:pt x="252413" y="176212"/>
                </a:lnTo>
                <a:cubicBezTo>
                  <a:pt x="252413" y="168295"/>
                  <a:pt x="246043" y="161925"/>
                  <a:pt x="238125" y="161925"/>
                </a:cubicBezTo>
                <a:lnTo>
                  <a:pt x="166688" y="161925"/>
                </a:lnTo>
                <a:lnTo>
                  <a:pt x="166688" y="209550"/>
                </a:lnTo>
                <a:lnTo>
                  <a:pt x="171450" y="209550"/>
                </a:lnTo>
                <a:cubicBezTo>
                  <a:pt x="181987" y="209550"/>
                  <a:pt x="190500" y="218063"/>
                  <a:pt x="190500" y="228600"/>
                </a:cubicBezTo>
                <a:lnTo>
                  <a:pt x="190500" y="266700"/>
                </a:lnTo>
                <a:cubicBezTo>
                  <a:pt x="190500" y="277237"/>
                  <a:pt x="181987" y="285750"/>
                  <a:pt x="171450" y="285750"/>
                </a:cubicBezTo>
                <a:lnTo>
                  <a:pt x="133350" y="285750"/>
                </a:lnTo>
                <a:cubicBezTo>
                  <a:pt x="122813" y="285750"/>
                  <a:pt x="114300" y="277237"/>
                  <a:pt x="114300" y="266700"/>
                </a:cubicBezTo>
                <a:lnTo>
                  <a:pt x="114300" y="228600"/>
                </a:lnTo>
                <a:cubicBezTo>
                  <a:pt x="114300" y="218063"/>
                  <a:pt x="122813" y="209550"/>
                  <a:pt x="133350" y="209550"/>
                </a:cubicBezTo>
                <a:lnTo>
                  <a:pt x="138113" y="209550"/>
                </a:lnTo>
                <a:lnTo>
                  <a:pt x="138113" y="161925"/>
                </a:lnTo>
                <a:lnTo>
                  <a:pt x="66675" y="161925"/>
                </a:lnTo>
                <a:cubicBezTo>
                  <a:pt x="58757" y="161925"/>
                  <a:pt x="52388" y="168295"/>
                  <a:pt x="52388" y="176212"/>
                </a:cubicBezTo>
                <a:lnTo>
                  <a:pt x="52388" y="209550"/>
                </a:lnTo>
                <a:lnTo>
                  <a:pt x="57150" y="209550"/>
                </a:lnTo>
                <a:cubicBezTo>
                  <a:pt x="67687" y="209550"/>
                  <a:pt x="76200" y="218063"/>
                  <a:pt x="76200" y="228600"/>
                </a:cubicBezTo>
                <a:lnTo>
                  <a:pt x="76200" y="266700"/>
                </a:lnTo>
                <a:cubicBezTo>
                  <a:pt x="76200" y="277237"/>
                  <a:pt x="67687" y="285750"/>
                  <a:pt x="57150" y="285750"/>
                </a:cubicBezTo>
                <a:lnTo>
                  <a:pt x="19050" y="285750"/>
                </a:lnTo>
                <a:cubicBezTo>
                  <a:pt x="8513" y="285750"/>
                  <a:pt x="0" y="277237"/>
                  <a:pt x="0" y="266700"/>
                </a:cubicBezTo>
                <a:lnTo>
                  <a:pt x="0" y="228600"/>
                </a:lnTo>
                <a:cubicBezTo>
                  <a:pt x="0" y="218063"/>
                  <a:pt x="8513" y="209550"/>
                  <a:pt x="19050" y="209550"/>
                </a:cubicBezTo>
                <a:lnTo>
                  <a:pt x="23813" y="209550"/>
                </a:lnTo>
                <a:lnTo>
                  <a:pt x="23813" y="176212"/>
                </a:lnTo>
                <a:cubicBezTo>
                  <a:pt x="23813" y="152519"/>
                  <a:pt x="42982" y="133350"/>
                  <a:pt x="66675" y="133350"/>
                </a:cubicBezTo>
                <a:lnTo>
                  <a:pt x="138113" y="133350"/>
                </a:lnTo>
                <a:lnTo>
                  <a:pt x="138113" y="95250"/>
                </a:lnTo>
                <a:lnTo>
                  <a:pt x="133350" y="95250"/>
                </a:lnTo>
                <a:cubicBezTo>
                  <a:pt x="122813" y="95250"/>
                  <a:pt x="114300" y="86737"/>
                  <a:pt x="114300" y="76200"/>
                </a:cubicBezTo>
                <a:lnTo>
                  <a:pt x="114300" y="38100"/>
                </a:lnTo>
                <a:close/>
              </a:path>
            </a:pathLst>
          </a:custGeom>
          <a:solidFill>
            <a:srgbClr val="AD7B53"/>
          </a:solidFill>
          <a:ln/>
        </p:spPr>
      </p:sp>
      <p:sp>
        <p:nvSpPr>
          <p:cNvPr id="37" name="Shape 34"/>
          <p:cNvSpPr/>
          <p:nvPr/>
        </p:nvSpPr>
        <p:spPr>
          <a:xfrm>
            <a:off x="1651000" y="4953000"/>
            <a:ext cx="3429000" cy="2921000"/>
          </a:xfrm>
          <a:prstGeom prst="rect">
            <a:avLst/>
          </a:prstGeom>
          <a:solidFill>
            <a:srgbClr val="FFFFFF"/>
          </a:solidFill>
          <a:ln w="12700">
            <a:solidFill>
              <a:srgbClr val="CBD5E1"/>
            </a:solidFill>
            <a:prstDash val="solid"/>
          </a:ln>
        </p:spPr>
      </p:sp>
      <p:sp>
        <p:nvSpPr>
          <p:cNvPr id="38" name="Text 35"/>
          <p:cNvSpPr/>
          <p:nvPr/>
        </p:nvSpPr>
        <p:spPr>
          <a:xfrm>
            <a:off x="1905000" y="5143500"/>
            <a:ext cx="8255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05</a:t>
            </a:r>
            <a:endParaRPr lang="en-US" sz="1600" dirty="0"/>
          </a:p>
        </p:txBody>
      </p:sp>
      <p:sp>
        <p:nvSpPr>
          <p:cNvPr id="39" name="Text 36"/>
          <p:cNvSpPr/>
          <p:nvPr/>
        </p:nvSpPr>
        <p:spPr>
          <a:xfrm>
            <a:off x="1905000" y="5715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Implementation</a:t>
            </a:r>
            <a:endParaRPr lang="en-US" sz="1600" dirty="0"/>
          </a:p>
        </p:txBody>
      </p:sp>
      <p:sp>
        <p:nvSpPr>
          <p:cNvPr id="40" name="Text 37"/>
          <p:cNvSpPr/>
          <p:nvPr/>
        </p:nvSpPr>
        <p:spPr>
          <a:xfrm>
            <a:off x="1905000" y="6159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Technology stack, codebase, and reproducibility</a:t>
            </a:r>
            <a:endParaRPr lang="en-US" sz="1600" dirty="0"/>
          </a:p>
        </p:txBody>
      </p:sp>
      <p:sp>
        <p:nvSpPr>
          <p:cNvPr id="41" name="Shape 38"/>
          <p:cNvSpPr/>
          <p:nvPr/>
        </p:nvSpPr>
        <p:spPr>
          <a:xfrm>
            <a:off x="4552950" y="7239000"/>
            <a:ext cx="342900" cy="304800"/>
          </a:xfrm>
          <a:custGeom>
            <a:avLst/>
            <a:gdLst/>
            <a:ahLst/>
            <a:cxnLst/>
            <a:rect l="l" t="t" r="r" b="b"/>
            <a:pathLst>
              <a:path w="342900" h="304800">
                <a:moveTo>
                  <a:pt x="214789" y="714"/>
                </a:moveTo>
                <a:cubicBezTo>
                  <a:pt x="204668" y="-2203"/>
                  <a:pt x="194131" y="3691"/>
                  <a:pt x="191214" y="13811"/>
                </a:cubicBezTo>
                <a:lnTo>
                  <a:pt x="115014" y="280511"/>
                </a:lnTo>
                <a:cubicBezTo>
                  <a:pt x="112097" y="290632"/>
                  <a:pt x="117991" y="301169"/>
                  <a:pt x="128111" y="304086"/>
                </a:cubicBezTo>
                <a:cubicBezTo>
                  <a:pt x="138232" y="307003"/>
                  <a:pt x="148769" y="301109"/>
                  <a:pt x="151686" y="290989"/>
                </a:cubicBezTo>
                <a:lnTo>
                  <a:pt x="227886" y="24289"/>
                </a:lnTo>
                <a:cubicBezTo>
                  <a:pt x="230803" y="14168"/>
                  <a:pt x="224909" y="3631"/>
                  <a:pt x="214789" y="714"/>
                </a:cubicBezTo>
                <a:close/>
                <a:moveTo>
                  <a:pt x="253246" y="81736"/>
                </a:moveTo>
                <a:cubicBezTo>
                  <a:pt x="245805" y="89178"/>
                  <a:pt x="245805" y="101263"/>
                  <a:pt x="253246" y="108704"/>
                </a:cubicBezTo>
                <a:lnTo>
                  <a:pt x="296942" y="152400"/>
                </a:lnTo>
                <a:lnTo>
                  <a:pt x="253246" y="196096"/>
                </a:lnTo>
                <a:cubicBezTo>
                  <a:pt x="245805" y="203537"/>
                  <a:pt x="245805" y="215622"/>
                  <a:pt x="253246" y="223064"/>
                </a:cubicBezTo>
                <a:cubicBezTo>
                  <a:pt x="260687" y="230505"/>
                  <a:pt x="272772" y="230505"/>
                  <a:pt x="280214" y="223064"/>
                </a:cubicBezTo>
                <a:lnTo>
                  <a:pt x="337364" y="165914"/>
                </a:lnTo>
                <a:cubicBezTo>
                  <a:pt x="344805" y="158472"/>
                  <a:pt x="344805" y="146387"/>
                  <a:pt x="337364" y="138946"/>
                </a:cubicBezTo>
                <a:lnTo>
                  <a:pt x="280214" y="81796"/>
                </a:lnTo>
                <a:cubicBezTo>
                  <a:pt x="272772" y="74355"/>
                  <a:pt x="260687" y="74355"/>
                  <a:pt x="253246" y="81796"/>
                </a:cubicBezTo>
                <a:close/>
                <a:moveTo>
                  <a:pt x="89714" y="81736"/>
                </a:moveTo>
                <a:cubicBezTo>
                  <a:pt x="82272" y="74295"/>
                  <a:pt x="70187" y="74295"/>
                  <a:pt x="62746" y="81736"/>
                </a:cubicBezTo>
                <a:lnTo>
                  <a:pt x="5596" y="138886"/>
                </a:lnTo>
                <a:cubicBezTo>
                  <a:pt x="-1845" y="146328"/>
                  <a:pt x="-1845" y="158413"/>
                  <a:pt x="5596" y="165854"/>
                </a:cubicBezTo>
                <a:lnTo>
                  <a:pt x="62746" y="223004"/>
                </a:lnTo>
                <a:cubicBezTo>
                  <a:pt x="70187" y="230445"/>
                  <a:pt x="82272" y="230445"/>
                  <a:pt x="89714" y="223004"/>
                </a:cubicBezTo>
                <a:cubicBezTo>
                  <a:pt x="97155" y="215563"/>
                  <a:pt x="97155" y="203478"/>
                  <a:pt x="89714" y="196036"/>
                </a:cubicBezTo>
                <a:lnTo>
                  <a:pt x="46018" y="152400"/>
                </a:lnTo>
                <a:lnTo>
                  <a:pt x="89654" y="108704"/>
                </a:lnTo>
                <a:cubicBezTo>
                  <a:pt x="97095" y="101263"/>
                  <a:pt x="97095" y="89178"/>
                  <a:pt x="89654" y="81736"/>
                </a:cubicBezTo>
                <a:close/>
              </a:path>
            </a:pathLst>
          </a:custGeom>
          <a:solidFill>
            <a:srgbClr val="AD7B53"/>
          </a:solidFill>
          <a:ln/>
        </p:spPr>
      </p:sp>
      <p:sp>
        <p:nvSpPr>
          <p:cNvPr id="42" name="Shape 39"/>
          <p:cNvSpPr/>
          <p:nvPr/>
        </p:nvSpPr>
        <p:spPr>
          <a:xfrm>
            <a:off x="6413500" y="4953000"/>
            <a:ext cx="3429000" cy="2921000"/>
          </a:xfrm>
          <a:prstGeom prst="rect">
            <a:avLst/>
          </a:prstGeom>
          <a:solidFill>
            <a:srgbClr val="FFFFFF"/>
          </a:solidFill>
          <a:ln w="12700">
            <a:solidFill>
              <a:srgbClr val="CBD5E1"/>
            </a:solidFill>
            <a:prstDash val="solid"/>
          </a:ln>
        </p:spPr>
      </p:sp>
      <p:sp>
        <p:nvSpPr>
          <p:cNvPr id="43" name="Text 40"/>
          <p:cNvSpPr/>
          <p:nvPr/>
        </p:nvSpPr>
        <p:spPr>
          <a:xfrm>
            <a:off x="6667500" y="5143500"/>
            <a:ext cx="8636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06</a:t>
            </a:r>
            <a:endParaRPr lang="en-US" sz="1600" dirty="0"/>
          </a:p>
        </p:txBody>
      </p:sp>
      <p:sp>
        <p:nvSpPr>
          <p:cNvPr id="44" name="Text 41"/>
          <p:cNvSpPr/>
          <p:nvPr/>
        </p:nvSpPr>
        <p:spPr>
          <a:xfrm>
            <a:off x="6667500" y="5715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Results &amp; Analysis</a:t>
            </a:r>
            <a:endParaRPr lang="en-US" sz="1600" dirty="0"/>
          </a:p>
        </p:txBody>
      </p:sp>
      <p:sp>
        <p:nvSpPr>
          <p:cNvPr id="45" name="Text 42"/>
          <p:cNvSpPr/>
          <p:nvPr/>
        </p:nvSpPr>
        <p:spPr>
          <a:xfrm>
            <a:off x="6667500" y="6159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Benchmark evaluation, ablation study, and insights</a:t>
            </a:r>
            <a:endParaRPr lang="en-US" sz="1600" dirty="0"/>
          </a:p>
        </p:txBody>
      </p:sp>
      <p:sp>
        <p:nvSpPr>
          <p:cNvPr id="46" name="Shape 43"/>
          <p:cNvSpPr/>
          <p:nvPr/>
        </p:nvSpPr>
        <p:spPr>
          <a:xfrm>
            <a:off x="9334500" y="7239000"/>
            <a:ext cx="304800" cy="304800"/>
          </a:xfrm>
          <a:custGeom>
            <a:avLst/>
            <a:gdLst/>
            <a:ahLst/>
            <a:cxnLst/>
            <a:rect l="l" t="t" r="r" b="b"/>
            <a:pathLst>
              <a:path w="304800" h="304800">
                <a:moveTo>
                  <a:pt x="38100" y="38100"/>
                </a:moveTo>
                <a:cubicBezTo>
                  <a:pt x="38100" y="27563"/>
                  <a:pt x="29587" y="19050"/>
                  <a:pt x="19050" y="19050"/>
                </a:cubicBezTo>
                <a:cubicBezTo>
                  <a:pt x="8513" y="19050"/>
                  <a:pt x="0" y="27563"/>
                  <a:pt x="0" y="38100"/>
                </a:cubicBezTo>
                <a:lnTo>
                  <a:pt x="0" y="238125"/>
                </a:lnTo>
                <a:cubicBezTo>
                  <a:pt x="0" y="264438"/>
                  <a:pt x="21312" y="285750"/>
                  <a:pt x="47625" y="285750"/>
                </a:cubicBezTo>
                <a:lnTo>
                  <a:pt x="285750" y="285750"/>
                </a:lnTo>
                <a:cubicBezTo>
                  <a:pt x="296287" y="285750"/>
                  <a:pt x="304800" y="277237"/>
                  <a:pt x="304800" y="266700"/>
                </a:cubicBezTo>
                <a:cubicBezTo>
                  <a:pt x="304800" y="256163"/>
                  <a:pt x="296287" y="247650"/>
                  <a:pt x="285750" y="247650"/>
                </a:cubicBezTo>
                <a:lnTo>
                  <a:pt x="47625" y="247650"/>
                </a:lnTo>
                <a:cubicBezTo>
                  <a:pt x="42386" y="247650"/>
                  <a:pt x="38100" y="243364"/>
                  <a:pt x="38100" y="238125"/>
                </a:cubicBezTo>
                <a:lnTo>
                  <a:pt x="38100" y="38100"/>
                </a:lnTo>
                <a:close/>
                <a:moveTo>
                  <a:pt x="280154" y="89654"/>
                </a:moveTo>
                <a:cubicBezTo>
                  <a:pt x="287595" y="82213"/>
                  <a:pt x="287595" y="70128"/>
                  <a:pt x="280154" y="62686"/>
                </a:cubicBezTo>
                <a:cubicBezTo>
                  <a:pt x="272713" y="55245"/>
                  <a:pt x="260628" y="55245"/>
                  <a:pt x="253186" y="62686"/>
                </a:cubicBezTo>
                <a:lnTo>
                  <a:pt x="190500" y="125432"/>
                </a:lnTo>
                <a:lnTo>
                  <a:pt x="156329" y="91321"/>
                </a:lnTo>
                <a:cubicBezTo>
                  <a:pt x="148888" y="83880"/>
                  <a:pt x="136803" y="83880"/>
                  <a:pt x="129361" y="91321"/>
                </a:cubicBezTo>
                <a:lnTo>
                  <a:pt x="72211" y="148471"/>
                </a:lnTo>
                <a:cubicBezTo>
                  <a:pt x="64770" y="155912"/>
                  <a:pt x="64770" y="167997"/>
                  <a:pt x="72211" y="175439"/>
                </a:cubicBezTo>
                <a:cubicBezTo>
                  <a:pt x="79653" y="182880"/>
                  <a:pt x="91738" y="182880"/>
                  <a:pt x="99179" y="175439"/>
                </a:cubicBezTo>
                <a:lnTo>
                  <a:pt x="142875" y="131743"/>
                </a:lnTo>
                <a:lnTo>
                  <a:pt x="177046" y="165914"/>
                </a:lnTo>
                <a:cubicBezTo>
                  <a:pt x="184487" y="173355"/>
                  <a:pt x="196572" y="173355"/>
                  <a:pt x="204014" y="165914"/>
                </a:cubicBezTo>
                <a:lnTo>
                  <a:pt x="280214" y="89714"/>
                </a:lnTo>
                <a:close/>
              </a:path>
            </a:pathLst>
          </a:custGeom>
          <a:solidFill>
            <a:srgbClr val="AD7B53"/>
          </a:solidFill>
          <a:ln/>
        </p:spPr>
      </p:sp>
      <p:sp>
        <p:nvSpPr>
          <p:cNvPr id="47" name="Shape 44"/>
          <p:cNvSpPr/>
          <p:nvPr/>
        </p:nvSpPr>
        <p:spPr>
          <a:xfrm>
            <a:off x="11176000" y="4953000"/>
            <a:ext cx="3429000" cy="2921000"/>
          </a:xfrm>
          <a:prstGeom prst="rect">
            <a:avLst/>
          </a:prstGeom>
          <a:solidFill>
            <a:srgbClr val="FFFFFF"/>
          </a:solidFill>
          <a:ln w="12700">
            <a:solidFill>
              <a:srgbClr val="CBD5E1"/>
            </a:solidFill>
            <a:prstDash val="solid"/>
          </a:ln>
        </p:spPr>
      </p:sp>
      <p:sp>
        <p:nvSpPr>
          <p:cNvPr id="48" name="Text 45"/>
          <p:cNvSpPr/>
          <p:nvPr/>
        </p:nvSpPr>
        <p:spPr>
          <a:xfrm>
            <a:off x="11430000" y="5143500"/>
            <a:ext cx="762000" cy="508000"/>
          </a:xfrm>
          <a:prstGeom prst="rect">
            <a:avLst/>
          </a:prstGeom>
          <a:noFill/>
          <a:ln/>
        </p:spPr>
        <p:txBody>
          <a:bodyPr wrap="none" lIns="0" tIns="0" rIns="0" bIns="0" rtlCol="0" anchor="t"/>
          <a:lstStyle/>
          <a:p>
            <a:pPr>
              <a:lnSpc>
                <a:spcPct val="100000"/>
              </a:lnSpc>
            </a:pPr>
            <a:r>
              <a:rPr lang="en-US" sz="3600" b="1" dirty="0">
                <a:solidFill>
                  <a:srgbClr val="2E7D32"/>
                </a:solidFill>
                <a:latin typeface="Quattrocento Sans" pitchFamily="34" charset="0"/>
                <a:ea typeface="Quattrocento Sans" pitchFamily="34" charset="-122"/>
                <a:cs typeface="Quattrocento Sans" pitchFamily="34" charset="-120"/>
              </a:rPr>
              <a:t>07</a:t>
            </a:r>
            <a:endParaRPr lang="en-US" sz="1600" dirty="0"/>
          </a:p>
        </p:txBody>
      </p:sp>
      <p:sp>
        <p:nvSpPr>
          <p:cNvPr id="49" name="Text 46"/>
          <p:cNvSpPr/>
          <p:nvPr/>
        </p:nvSpPr>
        <p:spPr>
          <a:xfrm>
            <a:off x="11430000" y="5715000"/>
            <a:ext cx="2921000" cy="381000"/>
          </a:xfrm>
          <a:prstGeom prst="rect">
            <a:avLst/>
          </a:prstGeom>
          <a:noFill/>
          <a:ln/>
        </p:spPr>
        <p:txBody>
          <a:bodyPr wrap="none" lIns="0" tIns="0" rIns="0" bIns="0" rtlCol="0" anchor="t"/>
          <a:lstStyle/>
          <a:p>
            <a:pPr>
              <a:lnSpc>
                <a:spcPct val="100000"/>
              </a:lnSpc>
            </a:pPr>
            <a:r>
              <a:rPr lang="en-US" sz="1800" b="1" dirty="0">
                <a:solidFill>
                  <a:srgbClr val="1C243B"/>
                </a:solidFill>
                <a:latin typeface="Quattrocento Sans" pitchFamily="34" charset="0"/>
                <a:ea typeface="Quattrocento Sans" pitchFamily="34" charset="-122"/>
                <a:cs typeface="Quattrocento Sans" pitchFamily="34" charset="-120"/>
              </a:rPr>
              <a:t>Conclusion &amp; Future Work</a:t>
            </a:r>
            <a:endParaRPr lang="en-US" sz="1600" dirty="0"/>
          </a:p>
        </p:txBody>
      </p:sp>
      <p:sp>
        <p:nvSpPr>
          <p:cNvPr id="50" name="Text 47"/>
          <p:cNvSpPr/>
          <p:nvPr/>
        </p:nvSpPr>
        <p:spPr>
          <a:xfrm>
            <a:off x="11430000" y="6159500"/>
            <a:ext cx="2921000" cy="762000"/>
          </a:xfrm>
          <a:prstGeom prst="rect">
            <a:avLst/>
          </a:prstGeom>
          <a:noFill/>
          <a:ln/>
        </p:spPr>
        <p:txBody>
          <a:bodyPr wrap="square" lIns="0" tIns="0" rIns="0" bIns="0" rtlCol="0" anchor="t"/>
          <a:lstStyle/>
          <a:p>
            <a:pPr>
              <a:lnSpc>
                <a:spcPct val="140000"/>
              </a:lnSpc>
            </a:pPr>
            <a:r>
              <a:rPr lang="en-US" sz="1300" dirty="0">
                <a:solidFill>
                  <a:srgbClr val="595959"/>
                </a:solidFill>
                <a:latin typeface="Quattrocento Sans" pitchFamily="34" charset="0"/>
                <a:ea typeface="Quattrocento Sans" pitchFamily="34" charset="-122"/>
                <a:cs typeface="Quattrocento Sans" pitchFamily="34" charset="-120"/>
              </a:rPr>
              <a:t>Contributions, lessons learned, and research directions</a:t>
            </a:r>
            <a:endParaRPr lang="en-US" sz="1600" dirty="0"/>
          </a:p>
        </p:txBody>
      </p:sp>
      <p:sp>
        <p:nvSpPr>
          <p:cNvPr id="51" name="Shape 48"/>
          <p:cNvSpPr/>
          <p:nvPr/>
        </p:nvSpPr>
        <p:spPr>
          <a:xfrm>
            <a:off x="14116050" y="7239000"/>
            <a:ext cx="266700" cy="304800"/>
          </a:xfrm>
          <a:custGeom>
            <a:avLst/>
            <a:gdLst/>
            <a:ahLst/>
            <a:cxnLst/>
            <a:rect l="l" t="t" r="r" b="b"/>
            <a:pathLst>
              <a:path w="266700" h="304800">
                <a:moveTo>
                  <a:pt x="19050" y="0"/>
                </a:moveTo>
                <a:cubicBezTo>
                  <a:pt x="29587" y="0"/>
                  <a:pt x="38100" y="8513"/>
                  <a:pt x="38100" y="19050"/>
                </a:cubicBezTo>
                <a:lnTo>
                  <a:pt x="38100" y="28575"/>
                </a:lnTo>
                <a:lnTo>
                  <a:pt x="79177" y="18336"/>
                </a:lnTo>
                <a:cubicBezTo>
                  <a:pt x="101858" y="12680"/>
                  <a:pt x="125790" y="15300"/>
                  <a:pt x="146745" y="25777"/>
                </a:cubicBezTo>
                <a:cubicBezTo>
                  <a:pt x="174308" y="39588"/>
                  <a:pt x="206752" y="39588"/>
                  <a:pt x="234315" y="25777"/>
                </a:cubicBezTo>
                <a:lnTo>
                  <a:pt x="240030" y="22920"/>
                </a:lnTo>
                <a:cubicBezTo>
                  <a:pt x="252293" y="16728"/>
                  <a:pt x="266700" y="25658"/>
                  <a:pt x="266700" y="39350"/>
                </a:cubicBezTo>
                <a:lnTo>
                  <a:pt x="266700" y="205859"/>
                </a:lnTo>
                <a:cubicBezTo>
                  <a:pt x="266700" y="213777"/>
                  <a:pt x="261759" y="220920"/>
                  <a:pt x="254318" y="223718"/>
                </a:cubicBezTo>
                <a:lnTo>
                  <a:pt x="233660" y="231458"/>
                </a:lnTo>
                <a:cubicBezTo>
                  <a:pt x="206157" y="241756"/>
                  <a:pt x="175558" y="240149"/>
                  <a:pt x="149304" y="227052"/>
                </a:cubicBezTo>
                <a:cubicBezTo>
                  <a:pt x="126742" y="215741"/>
                  <a:pt x="100846" y="212943"/>
                  <a:pt x="76379" y="219075"/>
                </a:cubicBezTo>
                <a:lnTo>
                  <a:pt x="38100" y="228600"/>
                </a:lnTo>
                <a:lnTo>
                  <a:pt x="38100" y="285750"/>
                </a:lnTo>
                <a:cubicBezTo>
                  <a:pt x="38100" y="296287"/>
                  <a:pt x="29587" y="304800"/>
                  <a:pt x="19050" y="304800"/>
                </a:cubicBezTo>
                <a:cubicBezTo>
                  <a:pt x="8513" y="304800"/>
                  <a:pt x="0" y="296287"/>
                  <a:pt x="0" y="285750"/>
                </a:cubicBezTo>
                <a:lnTo>
                  <a:pt x="0" y="19050"/>
                </a:lnTo>
                <a:cubicBezTo>
                  <a:pt x="0" y="8513"/>
                  <a:pt x="8513" y="0"/>
                  <a:pt x="19050" y="0"/>
                </a:cubicBezTo>
                <a:close/>
                <a:moveTo>
                  <a:pt x="38100" y="111383"/>
                </a:moveTo>
                <a:lnTo>
                  <a:pt x="76200" y="103108"/>
                </a:lnTo>
                <a:lnTo>
                  <a:pt x="76200" y="142101"/>
                </a:lnTo>
                <a:lnTo>
                  <a:pt x="38100" y="150376"/>
                </a:lnTo>
                <a:lnTo>
                  <a:pt x="38100" y="189369"/>
                </a:lnTo>
                <a:lnTo>
                  <a:pt x="67151" y="182106"/>
                </a:lnTo>
                <a:cubicBezTo>
                  <a:pt x="70187" y="181332"/>
                  <a:pt x="73164" y="180677"/>
                  <a:pt x="76200" y="180142"/>
                </a:cubicBezTo>
                <a:lnTo>
                  <a:pt x="76200" y="142101"/>
                </a:lnTo>
                <a:lnTo>
                  <a:pt x="99358" y="137100"/>
                </a:lnTo>
                <a:cubicBezTo>
                  <a:pt x="104299" y="136029"/>
                  <a:pt x="109299" y="135612"/>
                  <a:pt x="114300" y="135850"/>
                </a:cubicBezTo>
                <a:lnTo>
                  <a:pt x="114300" y="97750"/>
                </a:lnTo>
                <a:cubicBezTo>
                  <a:pt x="122396" y="97988"/>
                  <a:pt x="130493" y="99298"/>
                  <a:pt x="138351" y="101560"/>
                </a:cubicBezTo>
                <a:lnTo>
                  <a:pt x="152400" y="105668"/>
                </a:lnTo>
                <a:lnTo>
                  <a:pt x="152400" y="145375"/>
                </a:lnTo>
                <a:lnTo>
                  <a:pt x="127575" y="138053"/>
                </a:lnTo>
                <a:cubicBezTo>
                  <a:pt x="123230" y="136803"/>
                  <a:pt x="118765" y="136029"/>
                  <a:pt x="114300" y="135791"/>
                </a:cubicBezTo>
                <a:lnTo>
                  <a:pt x="114300" y="178296"/>
                </a:lnTo>
                <a:cubicBezTo>
                  <a:pt x="127278" y="179427"/>
                  <a:pt x="140077" y="182285"/>
                  <a:pt x="152400" y="186869"/>
                </a:cubicBezTo>
                <a:lnTo>
                  <a:pt x="152400" y="145316"/>
                </a:lnTo>
                <a:lnTo>
                  <a:pt x="165914" y="149304"/>
                </a:lnTo>
                <a:cubicBezTo>
                  <a:pt x="173950" y="151686"/>
                  <a:pt x="182166" y="153114"/>
                  <a:pt x="190500" y="153710"/>
                </a:cubicBezTo>
                <a:lnTo>
                  <a:pt x="190500" y="115491"/>
                </a:lnTo>
                <a:cubicBezTo>
                  <a:pt x="185857" y="115014"/>
                  <a:pt x="181213" y="114121"/>
                  <a:pt x="176689" y="112812"/>
                </a:cubicBezTo>
                <a:lnTo>
                  <a:pt x="152400" y="105668"/>
                </a:lnTo>
                <a:lnTo>
                  <a:pt x="152400" y="68759"/>
                </a:lnTo>
                <a:cubicBezTo>
                  <a:pt x="144661" y="66496"/>
                  <a:pt x="137041" y="63520"/>
                  <a:pt x="129659" y="59829"/>
                </a:cubicBezTo>
                <a:cubicBezTo>
                  <a:pt x="124778" y="57388"/>
                  <a:pt x="119598" y="55662"/>
                  <a:pt x="114300" y="54590"/>
                </a:cubicBezTo>
                <a:lnTo>
                  <a:pt x="114300" y="97691"/>
                </a:lnTo>
                <a:cubicBezTo>
                  <a:pt x="106561" y="97453"/>
                  <a:pt x="98822" y="98167"/>
                  <a:pt x="91261" y="99834"/>
                </a:cubicBezTo>
                <a:lnTo>
                  <a:pt x="76200" y="103108"/>
                </a:lnTo>
                <a:lnTo>
                  <a:pt x="76200" y="58341"/>
                </a:lnTo>
                <a:lnTo>
                  <a:pt x="38100" y="67866"/>
                </a:lnTo>
                <a:lnTo>
                  <a:pt x="38100" y="111383"/>
                </a:lnTo>
                <a:close/>
                <a:moveTo>
                  <a:pt x="190500" y="199846"/>
                </a:moveTo>
                <a:cubicBezTo>
                  <a:pt x="200501" y="200739"/>
                  <a:pt x="210681" y="199430"/>
                  <a:pt x="220266" y="195798"/>
                </a:cubicBezTo>
                <a:lnTo>
                  <a:pt x="228600" y="192703"/>
                </a:lnTo>
                <a:lnTo>
                  <a:pt x="228600" y="150019"/>
                </a:lnTo>
                <a:lnTo>
                  <a:pt x="223897" y="151090"/>
                </a:lnTo>
                <a:cubicBezTo>
                  <a:pt x="212943" y="153650"/>
                  <a:pt x="201692" y="154484"/>
                  <a:pt x="190500" y="153769"/>
                </a:cubicBezTo>
                <a:lnTo>
                  <a:pt x="190500" y="199846"/>
                </a:lnTo>
                <a:close/>
                <a:moveTo>
                  <a:pt x="228600" y="110907"/>
                </a:moveTo>
                <a:lnTo>
                  <a:pt x="228600" y="68759"/>
                </a:lnTo>
                <a:cubicBezTo>
                  <a:pt x="216158" y="72390"/>
                  <a:pt x="203359" y="74176"/>
                  <a:pt x="190500" y="74176"/>
                </a:cubicBezTo>
                <a:lnTo>
                  <a:pt x="190500" y="115491"/>
                </a:lnTo>
                <a:cubicBezTo>
                  <a:pt x="198775" y="116324"/>
                  <a:pt x="207169" y="115788"/>
                  <a:pt x="215325" y="113943"/>
                </a:cubicBezTo>
                <a:lnTo>
                  <a:pt x="228600" y="110847"/>
                </a:lnTo>
                <a:close/>
              </a:path>
            </a:pathLst>
          </a:custGeom>
          <a:solidFill>
            <a:srgbClr val="AD7B53"/>
          </a:solidFill>
          <a:ln/>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Shape 2"/>
          <p:cNvSpPr/>
          <p:nvPr/>
        </p:nvSpPr>
        <p:spPr>
          <a:xfrm>
            <a:off x="254000" y="76200"/>
            <a:ext cx="2032000" cy="508000"/>
          </a:xfrm>
          <a:prstGeom prst="rect">
            <a:avLst/>
          </a:prstGeom>
          <a:solidFill>
            <a:srgbClr val="FFFFFF">
              <a:alpha val="18824"/>
            </a:srgbClr>
          </a:solidFill>
          <a:ln/>
        </p:spPr>
      </p:sp>
      <p:sp>
        <p:nvSpPr>
          <p:cNvPr id="5" name="Text 3"/>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6" name="Text 4"/>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7" name="Text 5"/>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8" name="Text 6"/>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3</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2296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3566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The Need for Specialist Medical AI</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460500"/>
            <a:ext cx="6858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The Challenge: Multifaceted Patient Queries</a:t>
            </a:r>
            <a:endParaRPr lang="en-US" sz="2000" dirty="0"/>
          </a:p>
        </p:txBody>
      </p:sp>
      <p:sp>
        <p:nvSpPr>
          <p:cNvPr id="27" name="Text 24"/>
          <p:cNvSpPr/>
          <p:nvPr/>
        </p:nvSpPr>
        <p:spPr>
          <a:xfrm>
            <a:off x="1270000" y="1905000"/>
            <a:ext cx="6858000" cy="3302000"/>
          </a:xfrm>
          <a:prstGeom prst="rect">
            <a:avLst/>
          </a:prstGeom>
          <a:noFill/>
          <a:ln/>
        </p:spPr>
        <p:txBody>
          <a:bodyPr wrap="square" lIns="0" tIns="0" rIns="0" bIns="0" rtlCol="0" anchor="t"/>
          <a:lstStyle/>
          <a:p>
            <a:pPr>
              <a:lnSpc>
                <a:spcPct val="150000"/>
              </a:lnSpc>
            </a:pPr>
            <a:r>
              <a:rPr lang="en-US" sz="1600" dirty="0">
                <a:solidFill>
                  <a:srgbClr val="1E293B"/>
                </a:solidFill>
                <a:latin typeface="QuattrocentoSans" pitchFamily="34" charset="0"/>
                <a:ea typeface="QuattrocentoSans" pitchFamily="34" charset="-122"/>
                <a:cs typeface="QuattrocentoSans" pitchFamily="34" charset="-120"/>
              </a:rPr>
              <a:t>Real-world patient interactions require simultaneous handling of multiple clinical subtasks:</a:t>
            </a:r>
            <a:endParaRPr lang="en-US" sz="1600" dirty="0"/>
          </a:p>
          <a:p>
            <a:pPr marL="254000" indent="-254000">
              <a:lnSpc>
                <a:spcPct val="150000"/>
              </a:lnSpc>
              <a:spcBef>
                <a:spcPts val="10"/>
              </a:spcBef>
              <a:buSzPct val="100000"/>
              <a:buChar char="•"/>
            </a:pPr>
            <a:r>
              <a:rPr lang="en-US" sz="1600" dirty="0">
                <a:solidFill>
                  <a:srgbClr val="1E293B"/>
                </a:solidFill>
                <a:latin typeface="QuattrocentoSans" pitchFamily="34" charset="0"/>
                <a:ea typeface="QuattrocentoSans" pitchFamily="34" charset="-122"/>
                <a:cs typeface="QuattrocentoSans" pitchFamily="34" charset="-120"/>
              </a:rPr>
              <a:t>Symptom-level triage reasoning</a:t>
            </a:r>
            <a:endParaRPr lang="en-US" sz="1600" dirty="0"/>
          </a:p>
          <a:p>
            <a:pPr marL="254000" indent="-254000">
              <a:lnSpc>
                <a:spcPct val="150000"/>
              </a:lnSpc>
              <a:spcBef>
                <a:spcPts val="10"/>
              </a:spcBef>
              <a:buSzPct val="100000"/>
              <a:buChar char="•"/>
            </a:pPr>
            <a:r>
              <a:rPr lang="en-US" sz="1600" dirty="0">
                <a:solidFill>
                  <a:srgbClr val="1E293B"/>
                </a:solidFill>
                <a:latin typeface="QuattrocentoSans" pitchFamily="34" charset="0"/>
                <a:ea typeface="QuattrocentoSans" pitchFamily="34" charset="-122"/>
                <a:cs typeface="QuattrocentoSans" pitchFamily="34" charset="-120"/>
              </a:rPr>
              <a:t>Pharmacological safety analysis</a:t>
            </a:r>
            <a:endParaRPr lang="en-US" sz="1600" dirty="0"/>
          </a:p>
          <a:p>
            <a:pPr marL="254000" indent="-254000">
              <a:lnSpc>
                <a:spcPct val="150000"/>
              </a:lnSpc>
              <a:spcBef>
                <a:spcPts val="10"/>
              </a:spcBef>
              <a:buSzPct val="100000"/>
              <a:buChar char="•"/>
            </a:pPr>
            <a:r>
              <a:rPr lang="en-US" sz="1600" dirty="0">
                <a:solidFill>
                  <a:srgbClr val="1E293B"/>
                </a:solidFill>
                <a:latin typeface="QuattrocentoSans" pitchFamily="34" charset="0"/>
                <a:ea typeface="QuattrocentoSans" pitchFamily="34" charset="-122"/>
                <a:cs typeface="QuattrocentoSans" pitchFamily="34" charset="-120"/>
              </a:rPr>
              <a:t>Diagnostic test interpretation</a:t>
            </a:r>
            <a:endParaRPr lang="en-US" sz="1600" dirty="0"/>
          </a:p>
          <a:p>
            <a:pPr marL="254000" indent="-254000">
              <a:lnSpc>
                <a:spcPct val="150000"/>
              </a:lnSpc>
              <a:spcBef>
                <a:spcPts val="10"/>
              </a:spcBef>
              <a:buSzPct val="100000"/>
              <a:buChar char="•"/>
            </a:pPr>
            <a:r>
              <a:rPr lang="en-US" sz="1600" dirty="0">
                <a:solidFill>
                  <a:srgbClr val="1E293B"/>
                </a:solidFill>
                <a:latin typeface="QuattrocentoSans" pitchFamily="34" charset="0"/>
                <a:ea typeface="QuattrocentoSans" pitchFamily="34" charset="-122"/>
                <a:cs typeface="QuattrocentoSans" pitchFamily="34" charset="-120"/>
              </a:rPr>
              <a:t>Post-diagnosis scheduling advice</a:t>
            </a:r>
            <a:endParaRPr lang="en-US" sz="1600" dirty="0"/>
          </a:p>
          <a:p>
            <a:pPr>
              <a:lnSpc>
                <a:spcPct val="150000"/>
              </a:lnSpc>
              <a:spcBef>
                <a:spcPts val="800"/>
              </a:spcBef>
            </a:pPr>
            <a:r>
              <a:rPr lang="en-US" sz="1600" dirty="0">
                <a:solidFill>
                  <a:srgbClr val="1E293B"/>
                </a:solidFill>
                <a:latin typeface="QuattrocentoSans" pitchFamily="34" charset="0"/>
                <a:ea typeface="QuattrocentoSans" pitchFamily="34" charset="-122"/>
                <a:cs typeface="QuattrocentoSans" pitchFamily="34" charset="-120"/>
              </a:rPr>
              <a:t>A single general-purpose LLM compresses all subtasks into one generation step, increasing risk of clinically misaligned output.</a:t>
            </a:r>
            <a:endParaRPr lang="en-US" sz="1600" dirty="0"/>
          </a:p>
        </p:txBody>
      </p:sp>
      <p:sp>
        <p:nvSpPr>
          <p:cNvPr id="28" name="Text 25"/>
          <p:cNvSpPr/>
          <p:nvPr/>
        </p:nvSpPr>
        <p:spPr>
          <a:xfrm>
            <a:off x="8382000" y="1460500"/>
            <a:ext cx="6604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From MedAide to MedAidePlus</a:t>
            </a:r>
            <a:endParaRPr lang="en-US" sz="2000" dirty="0"/>
          </a:p>
        </p:txBody>
      </p:sp>
      <p:sp>
        <p:nvSpPr>
          <p:cNvPr id="29" name="Text 26"/>
          <p:cNvSpPr/>
          <p:nvPr/>
        </p:nvSpPr>
        <p:spPr>
          <a:xfrm>
            <a:off x="8382000" y="1905000"/>
            <a:ext cx="6858000" cy="3429000"/>
          </a:xfrm>
          <a:prstGeom prst="rect">
            <a:avLst/>
          </a:prstGeom>
          <a:noFill/>
          <a:ln/>
        </p:spPr>
        <p:txBody>
          <a:bodyPr wrap="square" lIns="0" tIns="0" rIns="0" bIns="0" rtlCol="0" anchor="t"/>
          <a:lstStyle/>
          <a:p>
            <a:pPr>
              <a:lnSpc>
                <a:spcPct val="150000"/>
              </a:lnSpc>
            </a:pPr>
            <a:r>
              <a:rPr lang="en-US" sz="1600" b="1" dirty="0">
                <a:solidFill>
                  <a:srgbClr val="1E293B"/>
                </a:solidFill>
                <a:latin typeface="QuattrocentoSans" pitchFamily="34" charset="0"/>
                <a:ea typeface="QuattrocentoSans" pitchFamily="34" charset="-122"/>
                <a:cs typeface="QuattrocentoSans" pitchFamily="34" charset="-120"/>
              </a:rPr>
              <a:t>MedAide</a:t>
            </a:r>
            <a:r>
              <a:rPr lang="en-US" sz="1600" dirty="0">
                <a:solidFill>
                  <a:srgbClr val="1E293B"/>
                </a:solidFill>
                <a:latin typeface="QuattrocentoSans" pitchFamily="34" charset="0"/>
                <a:ea typeface="QuattrocentoSans" pitchFamily="34" charset="-122"/>
                <a:cs typeface="QuattrocentoSans" pitchFamily="34" charset="-120"/>
              </a:rPr>
              <a:t> (Fudan University, 2024) demonstrated that task-specific agents yield better structured responses than monolithic prompting.</a:t>
            </a:r>
            <a:endParaRPr lang="en-US" sz="1600" dirty="0"/>
          </a:p>
          <a:p>
            <a:pPr>
              <a:lnSpc>
                <a:spcPct val="150000"/>
              </a:lnSpc>
              <a:spcBef>
                <a:spcPts val="800"/>
              </a:spcBef>
            </a:pPr>
            <a:r>
              <a:rPr lang="en-US" sz="1600" b="1" dirty="0">
                <a:solidFill>
                  <a:srgbClr val="1E293B"/>
                </a:solidFill>
                <a:latin typeface="QuattrocentoSans" pitchFamily="34" charset="0"/>
                <a:ea typeface="QuattrocentoSans" pitchFamily="34" charset="-122"/>
                <a:cs typeface="QuattrocentoSans" pitchFamily="34" charset="-120"/>
              </a:rPr>
              <a:t>Four key limitations:</a:t>
            </a:r>
            <a:endParaRPr lang="en-US" sz="1600" dirty="0"/>
          </a:p>
          <a:p>
            <a:pPr marL="254000" indent="-254000">
              <a:lnSpc>
                <a:spcPct val="150000"/>
              </a:lnSpc>
              <a:spcBef>
                <a:spcPts val="10"/>
              </a:spcBef>
              <a:buSzPct val="100000"/>
              <a:buFont typeface="+mj-lt"/>
              <a:buAutoNum type="arabicPeriod"/>
            </a:pPr>
            <a:r>
              <a:rPr lang="en-US" sz="1600" dirty="0">
                <a:solidFill>
                  <a:srgbClr val="1E293B"/>
                </a:solidFill>
                <a:latin typeface="QuattrocentoSans" pitchFamily="34" charset="0"/>
                <a:ea typeface="QuattrocentoSans" pitchFamily="34" charset="-122"/>
                <a:cs typeface="QuattrocentoSans" pitchFamily="34" charset="-120"/>
              </a:rPr>
              <a:t>Shallow intent classification and routing</a:t>
            </a:r>
            <a:endParaRPr lang="en-US" sz="1600" dirty="0"/>
          </a:p>
          <a:p>
            <a:pPr marL="254000" indent="-254000">
              <a:lnSpc>
                <a:spcPct val="150000"/>
              </a:lnSpc>
              <a:spcBef>
                <a:spcPts val="10"/>
              </a:spcBef>
              <a:buSzPct val="100000"/>
              <a:buFont typeface="+mj-lt"/>
              <a:buAutoNum type="arabicPeriod"/>
            </a:pPr>
            <a:r>
              <a:rPr lang="en-US" sz="1600" dirty="0">
                <a:solidFill>
                  <a:srgbClr val="1E293B"/>
                </a:solidFill>
                <a:latin typeface="QuattrocentoSans" pitchFamily="34" charset="0"/>
                <a:ea typeface="QuattrocentoSans" pitchFamily="34" charset="-122"/>
                <a:cs typeface="QuattrocentoSans" pitchFamily="34" charset="-120"/>
              </a:rPr>
              <a:t>No persistent patient memory</a:t>
            </a:r>
            <a:endParaRPr lang="en-US" sz="1600" dirty="0"/>
          </a:p>
          <a:p>
            <a:pPr marL="254000" indent="-254000">
              <a:lnSpc>
                <a:spcPct val="150000"/>
              </a:lnSpc>
              <a:spcBef>
                <a:spcPts val="10"/>
              </a:spcBef>
              <a:buSzPct val="100000"/>
              <a:buFont typeface="+mj-lt"/>
              <a:buAutoNum type="arabicPeriod"/>
            </a:pPr>
            <a:r>
              <a:rPr lang="en-US" sz="1600" dirty="0">
                <a:solidFill>
                  <a:srgbClr val="1E293B"/>
                </a:solidFill>
                <a:latin typeface="QuattrocentoSans" pitchFamily="34" charset="0"/>
                <a:ea typeface="QuattrocentoSans" pitchFamily="34" charset="-122"/>
                <a:cs typeface="QuattrocentoSans" pitchFamily="34" charset="-120"/>
              </a:rPr>
              <a:t>No hallucination detection mechanism</a:t>
            </a:r>
            <a:endParaRPr lang="en-US" sz="1600" dirty="0"/>
          </a:p>
          <a:p>
            <a:pPr marL="254000" indent="-254000">
              <a:lnSpc>
                <a:spcPct val="150000"/>
              </a:lnSpc>
              <a:spcBef>
                <a:spcPts val="10"/>
              </a:spcBef>
              <a:buSzPct val="100000"/>
              <a:buFont typeface="+mj-lt"/>
              <a:buAutoNum type="arabicPeriod"/>
            </a:pPr>
            <a:r>
              <a:rPr lang="en-US" sz="1600" dirty="0">
                <a:solidFill>
                  <a:srgbClr val="1E293B"/>
                </a:solidFill>
                <a:latin typeface="QuattrocentoSans" pitchFamily="34" charset="0"/>
                <a:ea typeface="QuattrocentoSans" pitchFamily="34" charset="-122"/>
                <a:cs typeface="QuattrocentoSans" pitchFamily="34" charset="-120"/>
              </a:rPr>
              <a:t>No multi-turn dialogue tracking</a:t>
            </a:r>
            <a:endParaRPr lang="en-US" sz="1600" dirty="0"/>
          </a:p>
        </p:txBody>
      </p:sp>
      <p:sp>
        <p:nvSpPr>
          <p:cNvPr id="30" name="Shape 27"/>
          <p:cNvSpPr/>
          <p:nvPr/>
        </p:nvSpPr>
        <p:spPr>
          <a:xfrm>
            <a:off x="1270000" y="5334000"/>
            <a:ext cx="13716000" cy="1016000"/>
          </a:xfrm>
          <a:prstGeom prst="rect">
            <a:avLst/>
          </a:prstGeom>
          <a:solidFill>
            <a:srgbClr val="E8ECF3"/>
          </a:solidFill>
          <a:ln/>
        </p:spPr>
      </p:sp>
      <p:sp>
        <p:nvSpPr>
          <p:cNvPr id="31" name="Shape 28"/>
          <p:cNvSpPr/>
          <p:nvPr/>
        </p:nvSpPr>
        <p:spPr>
          <a:xfrm>
            <a:off x="1270000" y="5334000"/>
            <a:ext cx="63500" cy="1016000"/>
          </a:xfrm>
          <a:prstGeom prst="rect">
            <a:avLst/>
          </a:prstGeom>
          <a:solidFill>
            <a:srgbClr val="2E7D32"/>
          </a:solidFill>
          <a:ln/>
        </p:spPr>
      </p:sp>
      <p:sp>
        <p:nvSpPr>
          <p:cNvPr id="32" name="Text 29"/>
          <p:cNvSpPr/>
          <p:nvPr/>
        </p:nvSpPr>
        <p:spPr>
          <a:xfrm>
            <a:off x="1524000" y="5397500"/>
            <a:ext cx="13208000" cy="889000"/>
          </a:xfrm>
          <a:prstGeom prst="rect">
            <a:avLst/>
          </a:prstGeom>
          <a:noFill/>
          <a:ln/>
        </p:spPr>
        <p:txBody>
          <a:bodyPr wrap="square" lIns="0" tIns="0" rIns="0" bIns="0" rtlCol="0" anchor="ctr"/>
          <a:lstStyle/>
          <a:p>
            <a:pPr>
              <a:lnSpc>
                <a:spcPct val="150000"/>
              </a:lnSpc>
            </a:pPr>
            <a:r>
              <a:rPr lang="en-US" sz="1600" b="1" dirty="0">
                <a:solidFill>
                  <a:srgbClr val="1E293B"/>
                </a:solidFill>
                <a:latin typeface="QuattrocentoSans" pitchFamily="34" charset="0"/>
                <a:ea typeface="QuattrocentoSans" pitchFamily="34" charset="-122"/>
                <a:cs typeface="QuattrocentoSans" pitchFamily="34" charset="-120"/>
              </a:rPr>
              <a:t>MedAidePlus</a:t>
            </a:r>
            <a:r>
              <a:rPr lang="en-US" sz="1600" dirty="0">
                <a:solidFill>
                  <a:srgbClr val="1E293B"/>
                </a:solidFill>
                <a:latin typeface="QuattrocentoSans" pitchFamily="34" charset="0"/>
                <a:ea typeface="QuattrocentoSans" pitchFamily="34" charset="-122"/>
                <a:cs typeface="QuattrocentoSans" pitchFamily="34" charset="-120"/>
              </a:rPr>
              <a:t> is a natural evolution of MedAide, overcoming all four limitations with a modular architecture of seven components, preserving the specialist agent philosophy while introducing principled mechanisms for routing, memory, verification, and dialogue continuity.</a:t>
            </a:r>
            <a:endParaRPr lang="en-US" sz="1600" dirty="0"/>
          </a:p>
        </p:txBody>
      </p:sp>
      <p:sp>
        <p:nvSpPr>
          <p:cNvPr id="33" name="Shape 30"/>
          <p:cNvSpPr/>
          <p:nvPr/>
        </p:nvSpPr>
        <p:spPr>
          <a:xfrm>
            <a:off x="1270000" y="6477000"/>
            <a:ext cx="3175000" cy="1778000"/>
          </a:xfrm>
          <a:prstGeom prst="rect">
            <a:avLst/>
          </a:prstGeom>
          <a:solidFill>
            <a:srgbClr val="FFFFFF"/>
          </a:solidFill>
          <a:ln w="12700">
            <a:solidFill>
              <a:srgbClr val="CBD5E1"/>
            </a:solidFill>
            <a:prstDash val="solid"/>
          </a:ln>
        </p:spPr>
      </p:sp>
      <p:sp>
        <p:nvSpPr>
          <p:cNvPr id="34" name="Text 31"/>
          <p:cNvSpPr/>
          <p:nvPr/>
        </p:nvSpPr>
        <p:spPr>
          <a:xfrm>
            <a:off x="1270000" y="6540500"/>
            <a:ext cx="3175000" cy="571500"/>
          </a:xfrm>
          <a:prstGeom prst="rect">
            <a:avLst/>
          </a:prstGeom>
          <a:noFill/>
          <a:ln/>
        </p:spPr>
        <p:txBody>
          <a:bodyPr wrap="none" lIns="0" tIns="0" rIns="0" bIns="0" rtlCol="0" anchor="ctr"/>
          <a:lstStyle/>
          <a:p>
            <a:pPr algn="ctr">
              <a:lnSpc>
                <a:spcPct val="100000"/>
              </a:lnSpc>
            </a:pPr>
            <a:r>
              <a:rPr lang="en-US" sz="4200" b="1" dirty="0">
                <a:solidFill>
                  <a:srgbClr val="2E7D32"/>
                </a:solidFill>
                <a:latin typeface="Quattrocento Sans" pitchFamily="34" charset="0"/>
                <a:ea typeface="Quattrocento Sans" pitchFamily="34" charset="-122"/>
                <a:cs typeface="Quattrocento Sans" pitchFamily="34" charset="-120"/>
              </a:rPr>
              <a:t>7</a:t>
            </a:r>
            <a:endParaRPr lang="en-US" sz="1600" dirty="0"/>
          </a:p>
        </p:txBody>
      </p:sp>
      <p:sp>
        <p:nvSpPr>
          <p:cNvPr id="35" name="Text 32"/>
          <p:cNvSpPr/>
          <p:nvPr/>
        </p:nvSpPr>
        <p:spPr>
          <a:xfrm>
            <a:off x="1270000" y="7112000"/>
            <a:ext cx="3175000" cy="355600"/>
          </a:xfrm>
          <a:prstGeom prst="rect">
            <a:avLst/>
          </a:prstGeom>
          <a:noFill/>
          <a:ln/>
        </p:spPr>
        <p:txBody>
          <a:bodyPr wrap="none" lIns="0" tIns="0" rIns="0" bIns="0" rtlCol="0" anchor="ctr"/>
          <a:lstStyle/>
          <a:p>
            <a:pPr algn="ctr">
              <a:lnSpc>
                <a:spcPct val="100000"/>
              </a:lnSpc>
            </a:pPr>
            <a:r>
              <a:rPr lang="en-US" sz="1600" b="1" dirty="0">
                <a:solidFill>
                  <a:srgbClr val="1C243B"/>
                </a:solidFill>
                <a:latin typeface="Quattrocento Sans" pitchFamily="34" charset="0"/>
                <a:ea typeface="Quattrocento Sans" pitchFamily="34" charset="-122"/>
                <a:cs typeface="Quattrocento Sans" pitchFamily="34" charset="-120"/>
              </a:rPr>
              <a:t>Novel Modules</a:t>
            </a:r>
            <a:endParaRPr lang="en-US" sz="1600" dirty="0"/>
          </a:p>
        </p:txBody>
      </p:sp>
      <p:sp>
        <p:nvSpPr>
          <p:cNvPr id="36" name="Text 33"/>
          <p:cNvSpPr/>
          <p:nvPr/>
        </p:nvSpPr>
        <p:spPr>
          <a:xfrm>
            <a:off x="1270000" y="7467600"/>
            <a:ext cx="3175000" cy="444500"/>
          </a:xfrm>
          <a:prstGeom prst="rect">
            <a:avLst/>
          </a:prstGeom>
          <a:noFill/>
          <a:ln/>
        </p:spPr>
        <p:txBody>
          <a:bodyPr wrap="square" lIns="0" tIns="0" rIns="0" bIns="0" rtlCol="0" anchor="t"/>
          <a:lstStyle/>
          <a:p>
            <a:pPr algn="ctr">
              <a:lnSpc>
                <a:spcPct val="100000"/>
              </a:lnSpc>
            </a:pPr>
            <a:r>
              <a:rPr lang="en-US" sz="1300" dirty="0">
                <a:solidFill>
                  <a:srgbClr val="595959"/>
                </a:solidFill>
                <a:latin typeface="Quattrocento Sans" pitchFamily="34" charset="0"/>
                <a:ea typeface="Quattrocento Sans" pitchFamily="34" charset="-122"/>
                <a:cs typeface="Quattrocento Sans" pitchFamily="34" charset="-120"/>
              </a:rPr>
              <a:t>(M1-M7)</a:t>
            </a:r>
            <a:endParaRPr lang="en-US" sz="1600" dirty="0"/>
          </a:p>
        </p:txBody>
      </p:sp>
      <p:sp>
        <p:nvSpPr>
          <p:cNvPr id="37" name="Shape 34"/>
          <p:cNvSpPr/>
          <p:nvPr/>
        </p:nvSpPr>
        <p:spPr>
          <a:xfrm>
            <a:off x="4699000" y="6477000"/>
            <a:ext cx="3175000" cy="1778000"/>
          </a:xfrm>
          <a:prstGeom prst="rect">
            <a:avLst/>
          </a:prstGeom>
          <a:solidFill>
            <a:srgbClr val="FFFFFF"/>
          </a:solidFill>
          <a:ln w="12700">
            <a:solidFill>
              <a:srgbClr val="CBD5E1"/>
            </a:solidFill>
            <a:prstDash val="solid"/>
          </a:ln>
        </p:spPr>
      </p:sp>
      <p:sp>
        <p:nvSpPr>
          <p:cNvPr id="38" name="Text 35"/>
          <p:cNvSpPr/>
          <p:nvPr/>
        </p:nvSpPr>
        <p:spPr>
          <a:xfrm>
            <a:off x="4699000" y="6540500"/>
            <a:ext cx="3175000" cy="571500"/>
          </a:xfrm>
          <a:prstGeom prst="rect">
            <a:avLst/>
          </a:prstGeom>
          <a:noFill/>
          <a:ln/>
        </p:spPr>
        <p:txBody>
          <a:bodyPr wrap="none" lIns="0" tIns="0" rIns="0" bIns="0" rtlCol="0" anchor="ctr"/>
          <a:lstStyle/>
          <a:p>
            <a:pPr algn="ctr">
              <a:lnSpc>
                <a:spcPct val="100000"/>
              </a:lnSpc>
            </a:pPr>
            <a:r>
              <a:rPr lang="en-US" sz="4200" b="1" dirty="0">
                <a:solidFill>
                  <a:srgbClr val="2E7D32"/>
                </a:solidFill>
                <a:latin typeface="Quattrocento Sans" pitchFamily="34" charset="0"/>
                <a:ea typeface="Quattrocento Sans" pitchFamily="34" charset="-122"/>
                <a:cs typeface="Quattrocento Sans" pitchFamily="34" charset="-120"/>
              </a:rPr>
              <a:t>18</a:t>
            </a:r>
            <a:endParaRPr lang="en-US" sz="1600" dirty="0"/>
          </a:p>
        </p:txBody>
      </p:sp>
      <p:sp>
        <p:nvSpPr>
          <p:cNvPr id="39" name="Text 36"/>
          <p:cNvSpPr/>
          <p:nvPr/>
        </p:nvSpPr>
        <p:spPr>
          <a:xfrm>
            <a:off x="4699000" y="7137400"/>
            <a:ext cx="3175000" cy="317500"/>
          </a:xfrm>
          <a:prstGeom prst="rect">
            <a:avLst/>
          </a:prstGeom>
          <a:noFill/>
          <a:ln/>
        </p:spPr>
        <p:txBody>
          <a:bodyPr wrap="none" lIns="0" tIns="0" rIns="0" bIns="0" rtlCol="0" anchor="ctr"/>
          <a:lstStyle/>
          <a:p>
            <a:pPr algn="ctr">
              <a:lnSpc>
                <a:spcPct val="100000"/>
              </a:lnSpc>
            </a:pPr>
            <a:r>
              <a:rPr lang="en-US" sz="1600" b="1" dirty="0">
                <a:solidFill>
                  <a:srgbClr val="1C243B"/>
                </a:solidFill>
                <a:latin typeface="Quattrocento Sans" pitchFamily="34" charset="0"/>
                <a:ea typeface="Quattrocento Sans" pitchFamily="34" charset="-122"/>
                <a:cs typeface="Quattrocento Sans" pitchFamily="34" charset="-120"/>
              </a:rPr>
              <a:t>Intent Taxonomy</a:t>
            </a:r>
            <a:endParaRPr lang="en-US" sz="1600" dirty="0"/>
          </a:p>
        </p:txBody>
      </p:sp>
      <p:sp>
        <p:nvSpPr>
          <p:cNvPr id="40" name="Text 37"/>
          <p:cNvSpPr/>
          <p:nvPr/>
        </p:nvSpPr>
        <p:spPr>
          <a:xfrm>
            <a:off x="4699000" y="7493000"/>
            <a:ext cx="3175000" cy="381000"/>
          </a:xfrm>
          <a:prstGeom prst="rect">
            <a:avLst/>
          </a:prstGeom>
          <a:noFill/>
          <a:ln/>
        </p:spPr>
        <p:txBody>
          <a:bodyPr wrap="square" lIns="0" tIns="0" rIns="0" bIns="0" rtlCol="0" anchor="t"/>
          <a:lstStyle/>
          <a:p>
            <a:pPr algn="ctr">
              <a:lnSpc>
                <a:spcPct val="100000"/>
              </a:lnSpc>
            </a:pPr>
            <a:r>
              <a:rPr lang="en-US" sz="1300" dirty="0">
                <a:solidFill>
                  <a:srgbClr val="595959"/>
                </a:solidFill>
                <a:latin typeface="Quattrocento Sans" pitchFamily="34" charset="0"/>
                <a:ea typeface="Quattrocento Sans" pitchFamily="34" charset="-122"/>
                <a:cs typeface="Quattrocento Sans" pitchFamily="34" charset="-120"/>
              </a:rPr>
              <a:t>with GAT Hierarchy</a:t>
            </a:r>
            <a:endParaRPr lang="en-US" sz="1600" dirty="0"/>
          </a:p>
        </p:txBody>
      </p:sp>
      <p:sp>
        <p:nvSpPr>
          <p:cNvPr id="41" name="Shape 38"/>
          <p:cNvSpPr/>
          <p:nvPr/>
        </p:nvSpPr>
        <p:spPr>
          <a:xfrm>
            <a:off x="8128000" y="6477000"/>
            <a:ext cx="3175000" cy="1778000"/>
          </a:xfrm>
          <a:prstGeom prst="rect">
            <a:avLst/>
          </a:prstGeom>
          <a:solidFill>
            <a:srgbClr val="FFFFFF"/>
          </a:solidFill>
          <a:ln w="12700">
            <a:solidFill>
              <a:srgbClr val="CBD5E1"/>
            </a:solidFill>
            <a:prstDash val="solid"/>
          </a:ln>
        </p:spPr>
      </p:sp>
      <p:sp>
        <p:nvSpPr>
          <p:cNvPr id="42" name="Text 39"/>
          <p:cNvSpPr/>
          <p:nvPr/>
        </p:nvSpPr>
        <p:spPr>
          <a:xfrm>
            <a:off x="8128000" y="6540500"/>
            <a:ext cx="3175000" cy="571500"/>
          </a:xfrm>
          <a:prstGeom prst="rect">
            <a:avLst/>
          </a:prstGeom>
          <a:noFill/>
          <a:ln/>
        </p:spPr>
        <p:txBody>
          <a:bodyPr wrap="none" lIns="0" tIns="0" rIns="0" bIns="0" rtlCol="0" anchor="ctr"/>
          <a:lstStyle/>
          <a:p>
            <a:pPr algn="ctr">
              <a:lnSpc>
                <a:spcPct val="100000"/>
              </a:lnSpc>
            </a:pPr>
            <a:r>
              <a:rPr lang="en-US" sz="4200" b="1" dirty="0">
                <a:solidFill>
                  <a:srgbClr val="2E7D32"/>
                </a:solidFill>
                <a:latin typeface="Quattrocento Sans" pitchFamily="34" charset="0"/>
                <a:ea typeface="Quattrocento Sans" pitchFamily="34" charset="-122"/>
                <a:cs typeface="Quattrocento Sans" pitchFamily="34" charset="-120"/>
              </a:rPr>
              <a:t>3,000</a:t>
            </a:r>
            <a:endParaRPr lang="en-US" sz="1600" dirty="0"/>
          </a:p>
        </p:txBody>
      </p:sp>
      <p:sp>
        <p:nvSpPr>
          <p:cNvPr id="43" name="Text 40"/>
          <p:cNvSpPr/>
          <p:nvPr/>
        </p:nvSpPr>
        <p:spPr>
          <a:xfrm>
            <a:off x="8128000" y="7112000"/>
            <a:ext cx="3175000" cy="355600"/>
          </a:xfrm>
          <a:prstGeom prst="rect">
            <a:avLst/>
          </a:prstGeom>
          <a:noFill/>
          <a:ln/>
        </p:spPr>
        <p:txBody>
          <a:bodyPr wrap="none" lIns="0" tIns="0" rIns="0" bIns="0" rtlCol="0" anchor="ctr"/>
          <a:lstStyle/>
          <a:p>
            <a:pPr algn="ctr">
              <a:lnSpc>
                <a:spcPct val="100000"/>
              </a:lnSpc>
            </a:pPr>
            <a:r>
              <a:rPr lang="en-US" sz="1600" b="1" dirty="0">
                <a:solidFill>
                  <a:srgbClr val="1C243B"/>
                </a:solidFill>
                <a:latin typeface="Quattrocento Sans" pitchFamily="34" charset="0"/>
                <a:ea typeface="Quattrocento Sans" pitchFamily="34" charset="-122"/>
                <a:cs typeface="Quattrocento Sans" pitchFamily="34" charset="-120"/>
              </a:rPr>
              <a:t>Open Benchmark</a:t>
            </a:r>
            <a:endParaRPr lang="en-US" sz="1600" dirty="0"/>
          </a:p>
        </p:txBody>
      </p:sp>
      <p:sp>
        <p:nvSpPr>
          <p:cNvPr id="44" name="Text 41"/>
          <p:cNvSpPr/>
          <p:nvPr/>
        </p:nvSpPr>
        <p:spPr>
          <a:xfrm>
            <a:off x="8128000" y="7467600"/>
            <a:ext cx="3175000" cy="444500"/>
          </a:xfrm>
          <a:prstGeom prst="rect">
            <a:avLst/>
          </a:prstGeom>
          <a:noFill/>
          <a:ln/>
        </p:spPr>
        <p:txBody>
          <a:bodyPr wrap="square" lIns="0" tIns="0" rIns="0" bIns="0" rtlCol="0" anchor="t"/>
          <a:lstStyle/>
          <a:p>
            <a:pPr algn="ctr">
              <a:lnSpc>
                <a:spcPct val="100000"/>
              </a:lnSpc>
            </a:pPr>
            <a:r>
              <a:rPr lang="en-US" sz="1300" dirty="0">
                <a:solidFill>
                  <a:srgbClr val="595959"/>
                </a:solidFill>
                <a:latin typeface="Quattrocento Sans" pitchFamily="34" charset="0"/>
                <a:ea typeface="Quattrocento Sans" pitchFamily="34" charset="-122"/>
                <a:cs typeface="Quattrocento Sans" pitchFamily="34" charset="-120"/>
              </a:rPr>
              <a:t>Instances</a:t>
            </a:r>
            <a:endParaRPr lang="en-US" sz="1600" dirty="0"/>
          </a:p>
        </p:txBody>
      </p:sp>
      <p:sp>
        <p:nvSpPr>
          <p:cNvPr id="45" name="Shape 42"/>
          <p:cNvSpPr/>
          <p:nvPr/>
        </p:nvSpPr>
        <p:spPr>
          <a:xfrm>
            <a:off x="11557000" y="6477000"/>
            <a:ext cx="3429000" cy="1778000"/>
          </a:xfrm>
          <a:prstGeom prst="rect">
            <a:avLst/>
          </a:prstGeom>
          <a:solidFill>
            <a:srgbClr val="FFFFFF"/>
          </a:solidFill>
          <a:ln w="12700">
            <a:solidFill>
              <a:srgbClr val="CBD5E1"/>
            </a:solidFill>
            <a:prstDash val="solid"/>
          </a:ln>
        </p:spPr>
      </p:sp>
      <p:sp>
        <p:nvSpPr>
          <p:cNvPr id="46" name="Text 43"/>
          <p:cNvSpPr/>
          <p:nvPr/>
        </p:nvSpPr>
        <p:spPr>
          <a:xfrm>
            <a:off x="11557000" y="6540500"/>
            <a:ext cx="3429000" cy="571500"/>
          </a:xfrm>
          <a:prstGeom prst="rect">
            <a:avLst/>
          </a:prstGeom>
          <a:noFill/>
          <a:ln/>
        </p:spPr>
        <p:txBody>
          <a:bodyPr wrap="none" lIns="0" tIns="0" rIns="0" bIns="0" rtlCol="0" anchor="ctr"/>
          <a:lstStyle/>
          <a:p>
            <a:pPr algn="ctr">
              <a:lnSpc>
                <a:spcPct val="100000"/>
              </a:lnSpc>
            </a:pPr>
            <a:r>
              <a:rPr lang="en-US" sz="4200" b="1" dirty="0">
                <a:solidFill>
                  <a:srgbClr val="2E7D32"/>
                </a:solidFill>
                <a:latin typeface="Quattrocento Sans" pitchFamily="34" charset="0"/>
                <a:ea typeface="Quattrocento Sans" pitchFamily="34" charset="-122"/>
                <a:cs typeface="Quattrocento Sans" pitchFamily="34" charset="-120"/>
              </a:rPr>
              <a:t>6</a:t>
            </a:r>
            <a:endParaRPr lang="en-US" sz="1600" dirty="0"/>
          </a:p>
        </p:txBody>
      </p:sp>
      <p:sp>
        <p:nvSpPr>
          <p:cNvPr id="47" name="Text 44"/>
          <p:cNvSpPr/>
          <p:nvPr/>
        </p:nvSpPr>
        <p:spPr>
          <a:xfrm>
            <a:off x="11557000" y="7112000"/>
            <a:ext cx="3429000" cy="355600"/>
          </a:xfrm>
          <a:prstGeom prst="rect">
            <a:avLst/>
          </a:prstGeom>
          <a:noFill/>
          <a:ln/>
        </p:spPr>
        <p:txBody>
          <a:bodyPr wrap="none" lIns="0" tIns="0" rIns="0" bIns="0" rtlCol="0" anchor="ctr"/>
          <a:lstStyle/>
          <a:p>
            <a:pPr algn="ctr">
              <a:lnSpc>
                <a:spcPct val="100000"/>
              </a:lnSpc>
            </a:pPr>
            <a:r>
              <a:rPr lang="en-US" sz="1600" b="1" dirty="0">
                <a:solidFill>
                  <a:srgbClr val="1C243B"/>
                </a:solidFill>
                <a:latin typeface="Quattrocento Sans" pitchFamily="34" charset="0"/>
                <a:ea typeface="Quattrocento Sans" pitchFamily="34" charset="-122"/>
                <a:cs typeface="Quattrocento Sans" pitchFamily="34" charset="-120"/>
              </a:rPr>
              <a:t>Evaluation Metrics</a:t>
            </a:r>
            <a:endParaRPr lang="en-US" sz="1600" dirty="0"/>
          </a:p>
        </p:txBody>
      </p:sp>
      <p:sp>
        <p:nvSpPr>
          <p:cNvPr id="48" name="Text 45"/>
          <p:cNvSpPr/>
          <p:nvPr/>
        </p:nvSpPr>
        <p:spPr>
          <a:xfrm>
            <a:off x="11557000" y="7467600"/>
            <a:ext cx="3429000" cy="444500"/>
          </a:xfrm>
          <a:prstGeom prst="rect">
            <a:avLst/>
          </a:prstGeom>
          <a:noFill/>
          <a:ln/>
        </p:spPr>
        <p:txBody>
          <a:bodyPr wrap="square" lIns="0" tIns="0" rIns="0" bIns="0" rtlCol="0" anchor="t"/>
          <a:lstStyle/>
          <a:p>
            <a:pPr algn="ctr">
              <a:lnSpc>
                <a:spcPct val="100000"/>
              </a:lnSpc>
            </a:pPr>
            <a:r>
              <a:rPr lang="en-US" sz="1300" dirty="0">
                <a:solidFill>
                  <a:srgbClr val="595959"/>
                </a:solidFill>
                <a:latin typeface="Quattrocento Sans" pitchFamily="34" charset="0"/>
                <a:ea typeface="Quattrocento Sans" pitchFamily="34" charset="-122"/>
                <a:cs typeface="Quattrocento Sans" pitchFamily="34" charset="-120"/>
              </a:rPr>
              <a:t>BLEU, METEOR, BERTScore...</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Shape 3"/>
          <p:cNvSpPr/>
          <p:nvPr/>
        </p:nvSpPr>
        <p:spPr>
          <a:xfrm>
            <a:off x="2413000" y="76200"/>
            <a:ext cx="2032000" cy="508000"/>
          </a:xfrm>
          <a:prstGeom prst="rect">
            <a:avLst/>
          </a:prstGeom>
          <a:solidFill>
            <a:srgbClr val="FFFFFF">
              <a:alpha val="18824"/>
            </a:srgbClr>
          </a:solidFill>
          <a:ln/>
        </p:spPr>
      </p:sp>
      <p:sp>
        <p:nvSpPr>
          <p:cNvPr id="6" name="Text 4"/>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7" name="Text 5"/>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8" name="Text 6"/>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4</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2296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3566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Literature Review: Related Work</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Shape 23"/>
          <p:cNvSpPr/>
          <p:nvPr/>
        </p:nvSpPr>
        <p:spPr>
          <a:xfrm>
            <a:off x="1270000" y="1460500"/>
            <a:ext cx="4445000" cy="1841500"/>
          </a:xfrm>
          <a:prstGeom prst="rect">
            <a:avLst/>
          </a:prstGeom>
          <a:solidFill>
            <a:srgbClr val="FFFFFF"/>
          </a:solidFill>
          <a:ln w="12700">
            <a:solidFill>
              <a:srgbClr val="CBD5E1"/>
            </a:solidFill>
            <a:prstDash val="solid"/>
          </a:ln>
        </p:spPr>
      </p:sp>
      <p:sp>
        <p:nvSpPr>
          <p:cNvPr id="27" name="Shape 24"/>
          <p:cNvSpPr/>
          <p:nvPr/>
        </p:nvSpPr>
        <p:spPr>
          <a:xfrm>
            <a:off x="1270000" y="1460500"/>
            <a:ext cx="63500" cy="1841500"/>
          </a:xfrm>
          <a:prstGeom prst="rect">
            <a:avLst/>
          </a:prstGeom>
          <a:solidFill>
            <a:srgbClr val="2E7D32"/>
          </a:solidFill>
          <a:ln/>
        </p:spPr>
      </p:sp>
      <p:sp>
        <p:nvSpPr>
          <p:cNvPr id="28" name="Text 25"/>
          <p:cNvSpPr/>
          <p:nvPr/>
        </p:nvSpPr>
        <p:spPr>
          <a:xfrm>
            <a:off x="1460500" y="1524000"/>
            <a:ext cx="41275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Medical LLMs &amp; Domain Adaptation</a:t>
            </a:r>
            <a:endParaRPr lang="en-US" sz="1600" dirty="0"/>
          </a:p>
        </p:txBody>
      </p:sp>
      <p:sp>
        <p:nvSpPr>
          <p:cNvPr id="29" name="Text 26"/>
          <p:cNvSpPr/>
          <p:nvPr/>
        </p:nvSpPr>
        <p:spPr>
          <a:xfrm>
            <a:off x="1460500" y="1879600"/>
            <a:ext cx="4127500" cy="13335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BioBERT [2], BioGPT [3], MedPaLM 2 [4] - domain-adaptive pretraining on biomedical corpora. Shift toward locally deployable open-weight models (LLaMA, Mistral, Qwen, Gemma).</a:t>
            </a:r>
            <a:endParaRPr lang="en-US" sz="1600" dirty="0"/>
          </a:p>
        </p:txBody>
      </p:sp>
      <p:sp>
        <p:nvSpPr>
          <p:cNvPr id="30" name="Shape 27"/>
          <p:cNvSpPr/>
          <p:nvPr/>
        </p:nvSpPr>
        <p:spPr>
          <a:xfrm>
            <a:off x="5905500" y="1460500"/>
            <a:ext cx="4445000" cy="1841500"/>
          </a:xfrm>
          <a:prstGeom prst="rect">
            <a:avLst/>
          </a:prstGeom>
          <a:solidFill>
            <a:srgbClr val="FFFFFF"/>
          </a:solidFill>
          <a:ln w="12700">
            <a:solidFill>
              <a:srgbClr val="CBD5E1"/>
            </a:solidFill>
            <a:prstDash val="solid"/>
          </a:ln>
        </p:spPr>
      </p:sp>
      <p:sp>
        <p:nvSpPr>
          <p:cNvPr id="31" name="Shape 28"/>
          <p:cNvSpPr/>
          <p:nvPr/>
        </p:nvSpPr>
        <p:spPr>
          <a:xfrm>
            <a:off x="5905500" y="1460500"/>
            <a:ext cx="63500" cy="1841500"/>
          </a:xfrm>
          <a:prstGeom prst="rect">
            <a:avLst/>
          </a:prstGeom>
          <a:solidFill>
            <a:srgbClr val="AD7B53"/>
          </a:solidFill>
          <a:ln/>
        </p:spPr>
      </p:sp>
      <p:sp>
        <p:nvSpPr>
          <p:cNvPr id="32" name="Text 29"/>
          <p:cNvSpPr/>
          <p:nvPr/>
        </p:nvSpPr>
        <p:spPr>
          <a:xfrm>
            <a:off x="6096000" y="1524000"/>
            <a:ext cx="41275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Multi-Agent Frameworks</a:t>
            </a:r>
            <a:endParaRPr lang="en-US" sz="1600" dirty="0"/>
          </a:p>
        </p:txBody>
      </p:sp>
      <p:sp>
        <p:nvSpPr>
          <p:cNvPr id="33" name="Text 30"/>
          <p:cNvSpPr/>
          <p:nvPr/>
        </p:nvSpPr>
        <p:spPr>
          <a:xfrm>
            <a:off x="6096000" y="1879600"/>
            <a:ext cx="4127500" cy="13335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Reflexion [5] with self-evaluation loops, ReAct [6] interleaving reasoning with tool calls, MedAgents [7] panel-based discussion, MedAide [1] category-specialised architecture.</a:t>
            </a:r>
            <a:endParaRPr lang="en-US" sz="1600" dirty="0"/>
          </a:p>
        </p:txBody>
      </p:sp>
      <p:sp>
        <p:nvSpPr>
          <p:cNvPr id="34" name="Shape 31"/>
          <p:cNvSpPr/>
          <p:nvPr/>
        </p:nvSpPr>
        <p:spPr>
          <a:xfrm>
            <a:off x="10541000" y="1460500"/>
            <a:ext cx="4445000" cy="1841500"/>
          </a:xfrm>
          <a:prstGeom prst="rect">
            <a:avLst/>
          </a:prstGeom>
          <a:solidFill>
            <a:srgbClr val="FFFFFF"/>
          </a:solidFill>
          <a:ln w="12700">
            <a:solidFill>
              <a:srgbClr val="CBD5E1"/>
            </a:solidFill>
            <a:prstDash val="solid"/>
          </a:ln>
        </p:spPr>
      </p:sp>
      <p:sp>
        <p:nvSpPr>
          <p:cNvPr id="35" name="Shape 32"/>
          <p:cNvSpPr/>
          <p:nvPr/>
        </p:nvSpPr>
        <p:spPr>
          <a:xfrm>
            <a:off x="10541000" y="1460500"/>
            <a:ext cx="63500" cy="1841500"/>
          </a:xfrm>
          <a:prstGeom prst="rect">
            <a:avLst/>
          </a:prstGeom>
          <a:solidFill>
            <a:srgbClr val="2E7D32"/>
          </a:solidFill>
          <a:ln/>
        </p:spPr>
      </p:sp>
      <p:sp>
        <p:nvSpPr>
          <p:cNvPr id="36" name="Text 33"/>
          <p:cNvSpPr/>
          <p:nvPr/>
        </p:nvSpPr>
        <p:spPr>
          <a:xfrm>
            <a:off x="10731500" y="1524000"/>
            <a:ext cx="41275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Intent Recognition in Clinical NLP</a:t>
            </a:r>
            <a:endParaRPr lang="en-US" sz="1600" dirty="0"/>
          </a:p>
        </p:txBody>
      </p:sp>
      <p:sp>
        <p:nvSpPr>
          <p:cNvPr id="37" name="Text 34"/>
          <p:cNvSpPr/>
          <p:nvPr/>
        </p:nvSpPr>
        <p:spPr>
          <a:xfrm>
            <a:off x="10731500" y="1879600"/>
            <a:ext cx="4127500" cy="13335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Clinical intents form natural hierarchies (Pre-Diagnosis -&gt; Symptom Triage). Graph Attention Networks [8] exploit hierarchical structure via learned attention weights.</a:t>
            </a:r>
            <a:endParaRPr lang="en-US" sz="1600" dirty="0"/>
          </a:p>
        </p:txBody>
      </p:sp>
      <p:sp>
        <p:nvSpPr>
          <p:cNvPr id="38" name="Shape 35"/>
          <p:cNvSpPr/>
          <p:nvPr/>
        </p:nvSpPr>
        <p:spPr>
          <a:xfrm>
            <a:off x="1270000" y="3492500"/>
            <a:ext cx="6858000" cy="1651000"/>
          </a:xfrm>
          <a:prstGeom prst="rect">
            <a:avLst/>
          </a:prstGeom>
          <a:solidFill>
            <a:srgbClr val="FFFFFF"/>
          </a:solidFill>
          <a:ln w="12700">
            <a:solidFill>
              <a:srgbClr val="CBD5E1"/>
            </a:solidFill>
            <a:prstDash val="solid"/>
          </a:ln>
        </p:spPr>
      </p:sp>
      <p:sp>
        <p:nvSpPr>
          <p:cNvPr id="39" name="Shape 36"/>
          <p:cNvSpPr/>
          <p:nvPr/>
        </p:nvSpPr>
        <p:spPr>
          <a:xfrm>
            <a:off x="1270000" y="3492500"/>
            <a:ext cx="63500" cy="1651000"/>
          </a:xfrm>
          <a:prstGeom prst="rect">
            <a:avLst/>
          </a:prstGeom>
          <a:solidFill>
            <a:srgbClr val="AD7B53"/>
          </a:solidFill>
          <a:ln/>
        </p:spPr>
      </p:sp>
      <p:sp>
        <p:nvSpPr>
          <p:cNvPr id="40" name="Text 37"/>
          <p:cNvSpPr/>
          <p:nvPr/>
        </p:nvSpPr>
        <p:spPr>
          <a:xfrm>
            <a:off x="1460500" y="3556000"/>
            <a:ext cx="6477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Hallucination Detection &amp; Mitigation</a:t>
            </a:r>
            <a:endParaRPr lang="en-US" sz="1600" dirty="0"/>
          </a:p>
        </p:txBody>
      </p:sp>
      <p:sp>
        <p:nvSpPr>
          <p:cNvPr id="41" name="Text 38"/>
          <p:cNvSpPr/>
          <p:nvPr/>
        </p:nvSpPr>
        <p:spPr>
          <a:xfrm>
            <a:off x="1460500" y="3911600"/>
            <a:ext cx="6477000" cy="1143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Extrinsic vs intrinsic hallucination categorised by Min et al. [9]. FAISS [10] enables efficient semantic retrieval. Monte Carlo Dropout [11] provides Bayesian uncertainty approximation. MedAidePlus combines both approaches.</a:t>
            </a:r>
            <a:endParaRPr lang="en-US" sz="1600" dirty="0"/>
          </a:p>
        </p:txBody>
      </p:sp>
      <p:sp>
        <p:nvSpPr>
          <p:cNvPr id="42" name="Shape 39"/>
          <p:cNvSpPr/>
          <p:nvPr/>
        </p:nvSpPr>
        <p:spPr>
          <a:xfrm>
            <a:off x="8382000" y="3492500"/>
            <a:ext cx="6604000" cy="1651000"/>
          </a:xfrm>
          <a:prstGeom prst="rect">
            <a:avLst/>
          </a:prstGeom>
          <a:solidFill>
            <a:srgbClr val="FFFFFF"/>
          </a:solidFill>
          <a:ln w="12700">
            <a:solidFill>
              <a:srgbClr val="CBD5E1"/>
            </a:solidFill>
            <a:prstDash val="solid"/>
          </a:ln>
        </p:spPr>
      </p:sp>
      <p:sp>
        <p:nvSpPr>
          <p:cNvPr id="43" name="Shape 40"/>
          <p:cNvSpPr/>
          <p:nvPr/>
        </p:nvSpPr>
        <p:spPr>
          <a:xfrm>
            <a:off x="8382000" y="3492500"/>
            <a:ext cx="63500" cy="1651000"/>
          </a:xfrm>
          <a:prstGeom prst="rect">
            <a:avLst/>
          </a:prstGeom>
          <a:solidFill>
            <a:srgbClr val="2E7D32"/>
          </a:solidFill>
          <a:ln/>
        </p:spPr>
      </p:sp>
      <p:sp>
        <p:nvSpPr>
          <p:cNvPr id="44" name="Text 41"/>
          <p:cNvSpPr/>
          <p:nvPr/>
        </p:nvSpPr>
        <p:spPr>
          <a:xfrm>
            <a:off x="8572500" y="3556000"/>
            <a:ext cx="6223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Retrieval-Augmented Generation (RAG)</a:t>
            </a:r>
            <a:endParaRPr lang="en-US" sz="1600" dirty="0"/>
          </a:p>
        </p:txBody>
      </p:sp>
      <p:sp>
        <p:nvSpPr>
          <p:cNvPr id="45" name="Text 42"/>
          <p:cNvSpPr/>
          <p:nvPr/>
        </p:nvSpPr>
        <p:spPr>
          <a:xfrm>
            <a:off x="8572500" y="3911600"/>
            <a:ext cx="6223000" cy="1143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Hybrid RAG combining BM25 lexical scoring with recency weighting and FAISS dense retrieval [12, 13]. Combining sparse and dense retrieval outperforms either alone on heterogeneous medical queries.</a:t>
            </a:r>
            <a:endParaRPr lang="en-US" sz="1600" dirty="0"/>
          </a:p>
        </p:txBody>
      </p:sp>
      <p:sp>
        <p:nvSpPr>
          <p:cNvPr id="46" name="Text 43"/>
          <p:cNvSpPr/>
          <p:nvPr/>
        </p:nvSpPr>
        <p:spPr>
          <a:xfrm>
            <a:off x="1270000" y="5334000"/>
            <a:ext cx="6350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MedAide vs MedAidePlus: Key Comparison</a:t>
            </a:r>
            <a:endParaRPr lang="en-US" sz="2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270000" y="5816600"/>
          <a:ext cx="13716000" cy="2540000"/>
        </p:xfrm>
        <a:graphic>
          <a:graphicData uri="http://schemas.openxmlformats.org/drawingml/2006/table">
            <a:tbl>
              <a:tblPr/>
              <a:tblGrid>
                <a:gridCol w="301752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gridCol w="5349240">
                  <a:extLst>
                    <a:ext uri="{9D8B030D-6E8A-4147-A177-3AD203B41FA5}">
                      <a16:colId xmlns:a16="http://schemas.microsoft.com/office/drawing/2014/main" val="20002"/>
                    </a:ext>
                  </a:extLst>
                </a:gridCol>
              </a:tblGrid>
              <a:tr h="4318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Aspect</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MedAide (2024)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MedAidePlus (2026)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extLst>
                  <a:ext uri="{0D108BD9-81ED-4DB2-BD59-A6C34878D82A}">
                    <a16:rowId xmlns:a16="http://schemas.microsoft.com/office/drawing/2014/main" val="10000"/>
                  </a:ext>
                </a:extLst>
              </a:tr>
              <a:tr h="4318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Modules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 (intent, routing, agents)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 (M1-M7, all novel)</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18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Intent Taxonomy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17 intents, shallow</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18 intents, GAT hierarchy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2"/>
                  </a:ext>
                </a:extLst>
              </a:tr>
              <a:tr h="4318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Routing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Content-only classifier</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Category-aware + RoBERTa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64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Patient Memory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None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NetworkX graphs + spaCy NER</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4064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Hallucination Detection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None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FAISS + MC Dropout (N=15)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Shape 4"/>
          <p:cNvSpPr/>
          <p:nvPr/>
        </p:nvSpPr>
        <p:spPr>
          <a:xfrm>
            <a:off x="4572000" y="76200"/>
            <a:ext cx="2032000" cy="508000"/>
          </a:xfrm>
          <a:prstGeom prst="rect">
            <a:avLst/>
          </a:prstGeom>
          <a:solidFill>
            <a:srgbClr val="FFFFFF">
              <a:alpha val="18824"/>
            </a:srgbClr>
          </a:solidFill>
          <a:ln/>
        </p:spPr>
      </p:sp>
      <p:sp>
        <p:nvSpPr>
          <p:cNvPr id="7" name="Text 5"/>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8" name="Text 6"/>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5</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5344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6614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Problem Statement &amp; Objectives</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460500"/>
            <a:ext cx="6858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Core Problem: Four Key Deficiencies</a:t>
            </a:r>
            <a:endParaRPr lang="en-US" sz="2000" dirty="0"/>
          </a:p>
        </p:txBody>
      </p:sp>
      <p:sp>
        <p:nvSpPr>
          <p:cNvPr id="27" name="Shape 24"/>
          <p:cNvSpPr/>
          <p:nvPr/>
        </p:nvSpPr>
        <p:spPr>
          <a:xfrm>
            <a:off x="1270000" y="1968500"/>
            <a:ext cx="6858000" cy="1270000"/>
          </a:xfrm>
          <a:prstGeom prst="rect">
            <a:avLst/>
          </a:prstGeom>
          <a:solidFill>
            <a:srgbClr val="FFFFFF"/>
          </a:solidFill>
          <a:ln w="12700">
            <a:solidFill>
              <a:srgbClr val="CBD5E1"/>
            </a:solidFill>
            <a:prstDash val="solid"/>
          </a:ln>
        </p:spPr>
      </p:sp>
      <p:sp>
        <p:nvSpPr>
          <p:cNvPr id="28" name="Shape 25"/>
          <p:cNvSpPr/>
          <p:nvPr/>
        </p:nvSpPr>
        <p:spPr>
          <a:xfrm>
            <a:off x="1270000" y="1968500"/>
            <a:ext cx="63500" cy="1270000"/>
          </a:xfrm>
          <a:prstGeom prst="rect">
            <a:avLst/>
          </a:prstGeom>
          <a:solidFill>
            <a:srgbClr val="C2410C"/>
          </a:solidFill>
          <a:ln/>
        </p:spPr>
      </p:sp>
      <p:sp>
        <p:nvSpPr>
          <p:cNvPr id="29" name="Text 26"/>
          <p:cNvSpPr/>
          <p:nvPr/>
        </p:nvSpPr>
        <p:spPr>
          <a:xfrm>
            <a:off x="1460500" y="2032000"/>
            <a:ext cx="6477000" cy="279400"/>
          </a:xfrm>
          <a:prstGeom prst="rect">
            <a:avLst/>
          </a:prstGeom>
          <a:noFill/>
          <a:ln/>
        </p:spPr>
        <p:txBody>
          <a:bodyPr wrap="none" lIns="0" tIns="0" rIns="0" bIns="0" rtlCol="0" anchor="ctr"/>
          <a:lstStyle/>
          <a:p>
            <a:pPr>
              <a:lnSpc>
                <a:spcPct val="100000"/>
              </a:lnSpc>
            </a:pPr>
            <a:r>
              <a:rPr lang="en-US" sz="1400" b="1" dirty="0">
                <a:solidFill>
                  <a:srgbClr val="C2410C"/>
                </a:solidFill>
                <a:latin typeface="Quattrocento Sans" pitchFamily="34" charset="0"/>
                <a:ea typeface="Quattrocento Sans" pitchFamily="34" charset="-122"/>
                <a:cs typeface="Quattrocento Sans" pitchFamily="34" charset="-120"/>
              </a:rPr>
              <a:t>(a) Misrouting</a:t>
            </a:r>
            <a:endParaRPr lang="en-US" sz="1600" dirty="0"/>
          </a:p>
        </p:txBody>
      </p:sp>
      <p:sp>
        <p:nvSpPr>
          <p:cNvPr id="30" name="Text 27"/>
          <p:cNvSpPr/>
          <p:nvPr/>
        </p:nvSpPr>
        <p:spPr>
          <a:xfrm>
            <a:off x="1460500" y="2349500"/>
            <a:ext cx="6477000" cy="762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Vocabulary overlap between adjacent clinical intent categories - a Medication query about chest pain scores highly on both Medication and Diagnosis intents.</a:t>
            </a:r>
            <a:endParaRPr lang="en-US" sz="1600" dirty="0"/>
          </a:p>
        </p:txBody>
      </p:sp>
      <p:sp>
        <p:nvSpPr>
          <p:cNvPr id="31" name="Shape 28"/>
          <p:cNvSpPr/>
          <p:nvPr/>
        </p:nvSpPr>
        <p:spPr>
          <a:xfrm>
            <a:off x="1270000" y="3365500"/>
            <a:ext cx="6858000" cy="1270000"/>
          </a:xfrm>
          <a:prstGeom prst="rect">
            <a:avLst/>
          </a:prstGeom>
          <a:solidFill>
            <a:srgbClr val="FFFFFF"/>
          </a:solidFill>
          <a:ln w="12700">
            <a:solidFill>
              <a:srgbClr val="CBD5E1"/>
            </a:solidFill>
            <a:prstDash val="solid"/>
          </a:ln>
        </p:spPr>
      </p:sp>
      <p:sp>
        <p:nvSpPr>
          <p:cNvPr id="32" name="Shape 29"/>
          <p:cNvSpPr/>
          <p:nvPr/>
        </p:nvSpPr>
        <p:spPr>
          <a:xfrm>
            <a:off x="1270000" y="3365500"/>
            <a:ext cx="63500" cy="1270000"/>
          </a:xfrm>
          <a:prstGeom prst="rect">
            <a:avLst/>
          </a:prstGeom>
          <a:solidFill>
            <a:srgbClr val="2563EB"/>
          </a:solidFill>
          <a:ln/>
        </p:spPr>
      </p:sp>
      <p:sp>
        <p:nvSpPr>
          <p:cNvPr id="33" name="Text 30"/>
          <p:cNvSpPr/>
          <p:nvPr/>
        </p:nvSpPr>
        <p:spPr>
          <a:xfrm>
            <a:off x="1460500" y="3429000"/>
            <a:ext cx="6477000" cy="279400"/>
          </a:xfrm>
          <a:prstGeom prst="rect">
            <a:avLst/>
          </a:prstGeom>
          <a:noFill/>
          <a:ln/>
        </p:spPr>
        <p:txBody>
          <a:bodyPr wrap="none" lIns="0" tIns="0" rIns="0" bIns="0" rtlCol="0" anchor="ctr"/>
          <a:lstStyle/>
          <a:p>
            <a:pPr>
              <a:lnSpc>
                <a:spcPct val="100000"/>
              </a:lnSpc>
            </a:pPr>
            <a:r>
              <a:rPr lang="en-US" sz="1400" b="1" dirty="0">
                <a:solidFill>
                  <a:srgbClr val="2563EB"/>
                </a:solidFill>
                <a:latin typeface="Quattrocento Sans" pitchFamily="34" charset="0"/>
                <a:ea typeface="Quattrocento Sans" pitchFamily="34" charset="-122"/>
                <a:cs typeface="Quattrocento Sans" pitchFamily="34" charset="-120"/>
              </a:rPr>
              <a:t>(b) Statelessness</a:t>
            </a:r>
            <a:endParaRPr lang="en-US" sz="1600" dirty="0"/>
          </a:p>
        </p:txBody>
      </p:sp>
      <p:sp>
        <p:nvSpPr>
          <p:cNvPr id="34" name="Text 31"/>
          <p:cNvSpPr/>
          <p:nvPr/>
        </p:nvSpPr>
        <p:spPr>
          <a:xfrm>
            <a:off x="1460500" y="3746500"/>
            <a:ext cx="6477000" cy="762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Each query processed in isolation, discarding all patient history from previous conversation turns.</a:t>
            </a:r>
            <a:endParaRPr lang="en-US" sz="1600" dirty="0"/>
          </a:p>
        </p:txBody>
      </p:sp>
      <p:sp>
        <p:nvSpPr>
          <p:cNvPr id="35" name="Shape 32"/>
          <p:cNvSpPr/>
          <p:nvPr/>
        </p:nvSpPr>
        <p:spPr>
          <a:xfrm>
            <a:off x="1270000" y="4762500"/>
            <a:ext cx="6858000" cy="1270000"/>
          </a:xfrm>
          <a:prstGeom prst="rect">
            <a:avLst/>
          </a:prstGeom>
          <a:solidFill>
            <a:srgbClr val="FFFFFF"/>
          </a:solidFill>
          <a:ln w="12700">
            <a:solidFill>
              <a:srgbClr val="CBD5E1"/>
            </a:solidFill>
            <a:prstDash val="solid"/>
          </a:ln>
        </p:spPr>
      </p:sp>
      <p:sp>
        <p:nvSpPr>
          <p:cNvPr id="36" name="Shape 33"/>
          <p:cNvSpPr/>
          <p:nvPr/>
        </p:nvSpPr>
        <p:spPr>
          <a:xfrm>
            <a:off x="1270000" y="4762500"/>
            <a:ext cx="63500" cy="1270000"/>
          </a:xfrm>
          <a:prstGeom prst="rect">
            <a:avLst/>
          </a:prstGeom>
          <a:solidFill>
            <a:srgbClr val="7C3AED"/>
          </a:solidFill>
          <a:ln/>
        </p:spPr>
      </p:sp>
      <p:sp>
        <p:nvSpPr>
          <p:cNvPr id="37" name="Text 34"/>
          <p:cNvSpPr/>
          <p:nvPr/>
        </p:nvSpPr>
        <p:spPr>
          <a:xfrm>
            <a:off x="1460500" y="4826000"/>
            <a:ext cx="6477000" cy="279400"/>
          </a:xfrm>
          <a:prstGeom prst="rect">
            <a:avLst/>
          </a:prstGeom>
          <a:noFill/>
          <a:ln/>
        </p:spPr>
        <p:txBody>
          <a:bodyPr wrap="none" lIns="0" tIns="0" rIns="0" bIns="0" rtlCol="0" anchor="ctr"/>
          <a:lstStyle/>
          <a:p>
            <a:pPr>
              <a:lnSpc>
                <a:spcPct val="100000"/>
              </a:lnSpc>
            </a:pPr>
            <a:r>
              <a:rPr lang="en-US" sz="1400" b="1" dirty="0">
                <a:solidFill>
                  <a:srgbClr val="7C3AED"/>
                </a:solidFill>
                <a:latin typeface="Quattrocento Sans" pitchFamily="34" charset="0"/>
                <a:ea typeface="Quattrocento Sans" pitchFamily="34" charset="-122"/>
                <a:cs typeface="Quattrocento Sans" pitchFamily="34" charset="-120"/>
              </a:rPr>
              <a:t>(c) Uncalibrated Hallucination</a:t>
            </a:r>
            <a:endParaRPr lang="en-US" sz="1600" dirty="0"/>
          </a:p>
        </p:txBody>
      </p:sp>
      <p:sp>
        <p:nvSpPr>
          <p:cNvPr id="38" name="Text 35"/>
          <p:cNvSpPr/>
          <p:nvPr/>
        </p:nvSpPr>
        <p:spPr>
          <a:xfrm>
            <a:off x="1460500" y="5143500"/>
            <a:ext cx="6477000" cy="762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No explicit mechanism to detect factually plausible but ungrounded clinical claims in generated responses.</a:t>
            </a:r>
            <a:endParaRPr lang="en-US" sz="1600" dirty="0"/>
          </a:p>
        </p:txBody>
      </p:sp>
      <p:sp>
        <p:nvSpPr>
          <p:cNvPr id="39" name="Shape 36"/>
          <p:cNvSpPr/>
          <p:nvPr/>
        </p:nvSpPr>
        <p:spPr>
          <a:xfrm>
            <a:off x="1270000" y="6159500"/>
            <a:ext cx="6858000" cy="1270000"/>
          </a:xfrm>
          <a:prstGeom prst="rect">
            <a:avLst/>
          </a:prstGeom>
          <a:solidFill>
            <a:srgbClr val="FFFFFF"/>
          </a:solidFill>
          <a:ln w="12700">
            <a:solidFill>
              <a:srgbClr val="CBD5E1"/>
            </a:solidFill>
            <a:prstDash val="solid"/>
          </a:ln>
        </p:spPr>
      </p:sp>
      <p:sp>
        <p:nvSpPr>
          <p:cNvPr id="40" name="Shape 37"/>
          <p:cNvSpPr/>
          <p:nvPr/>
        </p:nvSpPr>
        <p:spPr>
          <a:xfrm>
            <a:off x="1270000" y="6159500"/>
            <a:ext cx="63500" cy="1270000"/>
          </a:xfrm>
          <a:prstGeom prst="rect">
            <a:avLst/>
          </a:prstGeom>
          <a:solidFill>
            <a:srgbClr val="DC2626"/>
          </a:solidFill>
          <a:ln/>
        </p:spPr>
      </p:sp>
      <p:sp>
        <p:nvSpPr>
          <p:cNvPr id="41" name="Text 38"/>
          <p:cNvSpPr/>
          <p:nvPr/>
        </p:nvSpPr>
        <p:spPr>
          <a:xfrm>
            <a:off x="1460500" y="6223000"/>
            <a:ext cx="6477000" cy="279400"/>
          </a:xfrm>
          <a:prstGeom prst="rect">
            <a:avLst/>
          </a:prstGeom>
          <a:noFill/>
          <a:ln/>
        </p:spPr>
        <p:txBody>
          <a:bodyPr wrap="none" lIns="0" tIns="0" rIns="0" bIns="0" rtlCol="0" anchor="ctr"/>
          <a:lstStyle/>
          <a:p>
            <a:pPr>
              <a:lnSpc>
                <a:spcPct val="100000"/>
              </a:lnSpc>
            </a:pPr>
            <a:r>
              <a:rPr lang="en-US" sz="1400" b="1" dirty="0">
                <a:solidFill>
                  <a:srgbClr val="DC2626"/>
                </a:solidFill>
                <a:latin typeface="Quattrocento Sans" pitchFamily="34" charset="0"/>
                <a:ea typeface="Quattrocento Sans" pitchFamily="34" charset="-122"/>
                <a:cs typeface="Quattrocento Sans" pitchFamily="34" charset="-120"/>
              </a:rPr>
              <a:t>(d) Inability to Adapt</a:t>
            </a:r>
            <a:endParaRPr lang="en-US" sz="1600" dirty="0"/>
          </a:p>
        </p:txBody>
      </p:sp>
      <p:sp>
        <p:nvSpPr>
          <p:cNvPr id="42" name="Text 39"/>
          <p:cNvSpPr/>
          <p:nvPr/>
        </p:nvSpPr>
        <p:spPr>
          <a:xfrm>
            <a:off x="1460500" y="6540500"/>
            <a:ext cx="6477000" cy="762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No tracking of topic and intent shifts during multi-turn dialogue, unable to adapt to evolving conversational context.</a:t>
            </a:r>
            <a:endParaRPr lang="en-US" sz="1600" dirty="0"/>
          </a:p>
        </p:txBody>
      </p:sp>
      <p:sp>
        <p:nvSpPr>
          <p:cNvPr id="43" name="Text 40"/>
          <p:cNvSpPr/>
          <p:nvPr/>
        </p:nvSpPr>
        <p:spPr>
          <a:xfrm>
            <a:off x="8382000" y="1460500"/>
            <a:ext cx="6604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Project Objectives</a:t>
            </a:r>
            <a:endParaRPr lang="en-US" sz="2000" dirty="0"/>
          </a:p>
        </p:txBody>
      </p:sp>
      <p:sp>
        <p:nvSpPr>
          <p:cNvPr id="44" name="Text 41"/>
          <p:cNvSpPr/>
          <p:nvPr/>
        </p:nvSpPr>
        <p:spPr>
          <a:xfrm>
            <a:off x="8382000" y="1968500"/>
            <a:ext cx="6858000" cy="5461000"/>
          </a:xfrm>
          <a:prstGeom prst="rect">
            <a:avLst/>
          </a:prstGeom>
          <a:noFill/>
          <a:ln/>
        </p:spPr>
        <p:txBody>
          <a:bodyPr wrap="square" lIns="0" tIns="0" rIns="0" bIns="0" rtlCol="0" anchor="t"/>
          <a:lstStyle/>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Design a </a:t>
            </a:r>
            <a:r>
              <a:rPr lang="en-US" sz="1300" b="1" dirty="0">
                <a:solidFill>
                  <a:srgbClr val="1E293B"/>
                </a:solidFill>
                <a:latin typeface="Quattrocento Sans" pitchFamily="34" charset="0"/>
                <a:ea typeface="Quattrocento Sans" pitchFamily="34" charset="-122"/>
                <a:cs typeface="Quattrocento Sans" pitchFamily="34" charset="-120"/>
              </a:rPr>
              <a:t>seven-module pipeline</a:t>
            </a:r>
            <a:r>
              <a:rPr lang="en-US" sz="1300" dirty="0">
                <a:solidFill>
                  <a:srgbClr val="1E293B"/>
                </a:solidFill>
                <a:latin typeface="Quattrocento Sans" pitchFamily="34" charset="0"/>
                <a:ea typeface="Quattrocento Sans" pitchFamily="34" charset="-122"/>
                <a:cs typeface="Quattrocento Sans" pitchFamily="34" charset="-120"/>
              </a:rPr>
              <a:t> extending MedAide with principled enhancements at each stage</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Develop </a:t>
            </a:r>
            <a:r>
              <a:rPr lang="en-US" sz="1300" b="1" dirty="0">
                <a:solidFill>
                  <a:srgbClr val="1E293B"/>
                </a:solidFill>
                <a:latin typeface="Quattrocento Sans" pitchFamily="34" charset="0"/>
                <a:ea typeface="Quattrocento Sans" pitchFamily="34" charset="-122"/>
                <a:cs typeface="Quattrocento Sans" pitchFamily="34" charset="-120"/>
              </a:rPr>
              <a:t>hierarchical intent classifier</a:t>
            </a:r>
            <a:r>
              <a:rPr lang="en-US" sz="1300" dirty="0">
                <a:solidFill>
                  <a:srgbClr val="1E293B"/>
                </a:solidFill>
                <a:latin typeface="Quattrocento Sans" pitchFamily="34" charset="0"/>
                <a:ea typeface="Quattrocento Sans" pitchFamily="34" charset="-122"/>
                <a:cs typeface="Quattrocento Sans" pitchFamily="34" charset="-120"/>
              </a:rPr>
              <a:t> (M2-HDIO) using BioBERT + Graph Attention Networks</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Implement </a:t>
            </a:r>
            <a:r>
              <a:rPr lang="en-US" sz="1300" b="1" dirty="0">
                <a:solidFill>
                  <a:srgbClr val="1E293B"/>
                </a:solidFill>
                <a:latin typeface="Quattrocento Sans" pitchFamily="34" charset="0"/>
                <a:ea typeface="Quattrocento Sans" pitchFamily="34" charset="-122"/>
                <a:cs typeface="Quattrocento Sans" pitchFamily="34" charset="-120"/>
              </a:rPr>
              <a:t>category-aware routing</a:t>
            </a:r>
            <a:r>
              <a:rPr lang="en-US" sz="1300" dirty="0">
                <a:solidFill>
                  <a:srgbClr val="1E293B"/>
                </a:solidFill>
                <a:latin typeface="Quattrocento Sans" pitchFamily="34" charset="0"/>
                <a:ea typeface="Quattrocento Sans" pitchFamily="34" charset="-122"/>
                <a:cs typeface="Quattrocento Sans" pitchFamily="34" charset="-120"/>
              </a:rPr>
              <a:t> (M6-AQCR) using RoBERTa complexity classifier</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Construct </a:t>
            </a:r>
            <a:r>
              <a:rPr lang="en-US" sz="1300" b="1" dirty="0">
                <a:solidFill>
                  <a:srgbClr val="1E293B"/>
                </a:solidFill>
                <a:latin typeface="Quattrocento Sans" pitchFamily="34" charset="0"/>
                <a:ea typeface="Quattrocento Sans" pitchFamily="34" charset="-122"/>
                <a:cs typeface="Quattrocento Sans" pitchFamily="34" charset="-120"/>
              </a:rPr>
              <a:t>persistent patient knowledge graph</a:t>
            </a:r>
            <a:r>
              <a:rPr lang="en-US" sz="1300" dirty="0">
                <a:solidFill>
                  <a:srgbClr val="1E293B"/>
                </a:solidFill>
                <a:latin typeface="Quattrocento Sans" pitchFamily="34" charset="0"/>
                <a:ea typeface="Quattrocento Sans" pitchFamily="34" charset="-122"/>
                <a:cs typeface="Quattrocento Sans" pitchFamily="34" charset="-120"/>
              </a:rPr>
              <a:t> (M4-PAHM) with NetworkX + spaCy NER</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Build </a:t>
            </a:r>
            <a:r>
              <a:rPr lang="en-US" sz="1300" b="1" dirty="0">
                <a:solidFill>
                  <a:srgbClr val="1E293B"/>
                </a:solidFill>
                <a:latin typeface="Quattrocento Sans" pitchFamily="34" charset="0"/>
                <a:ea typeface="Quattrocento Sans" pitchFamily="34" charset="-122"/>
                <a:cs typeface="Quattrocento Sans" pitchFamily="34" charset="-120"/>
              </a:rPr>
              <a:t>dual-stage hallucination verification</a:t>
            </a:r>
            <a:r>
              <a:rPr lang="en-US" sz="1300" dirty="0">
                <a:solidFill>
                  <a:srgbClr val="1E293B"/>
                </a:solidFill>
                <a:latin typeface="Quattrocento Sans" pitchFamily="34" charset="0"/>
                <a:ea typeface="Quattrocento Sans" pitchFamily="34" charset="-122"/>
                <a:cs typeface="Quattrocento Sans" pitchFamily="34" charset="-120"/>
              </a:rPr>
              <a:t> (M5-HDFG) combining FAISS + MC Dropout</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Design </a:t>
            </a:r>
            <a:r>
              <a:rPr lang="en-US" sz="1300" b="1" dirty="0">
                <a:solidFill>
                  <a:srgbClr val="1E293B"/>
                </a:solidFill>
                <a:latin typeface="Quattrocento Sans" pitchFamily="34" charset="0"/>
                <a:ea typeface="Quattrocento Sans" pitchFamily="34" charset="-122"/>
                <a:cs typeface="Quattrocento Sans" pitchFamily="34" charset="-120"/>
              </a:rPr>
              <a:t>multi-turn intent tracker</a:t>
            </a:r>
            <a:r>
              <a:rPr lang="en-US" sz="1300" dirty="0">
                <a:solidFill>
                  <a:srgbClr val="1E293B"/>
                </a:solidFill>
                <a:latin typeface="Quattrocento Sans" pitchFamily="34" charset="0"/>
                <a:ea typeface="Quattrocento Sans" pitchFamily="34" charset="-122"/>
                <a:cs typeface="Quattrocento Sans" pitchFamily="34" charset="-120"/>
              </a:rPr>
              <a:t> (M7-MIET) with exponential smoothing state vector</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Evaluate on a </a:t>
            </a:r>
            <a:r>
              <a:rPr lang="en-US" sz="1300" b="1" dirty="0">
                <a:solidFill>
                  <a:srgbClr val="1E293B"/>
                </a:solidFill>
                <a:latin typeface="Quattrocento Sans" pitchFamily="34" charset="0"/>
                <a:ea typeface="Quattrocento Sans" pitchFamily="34" charset="-122"/>
                <a:cs typeface="Quattrocento Sans" pitchFamily="34" charset="-120"/>
              </a:rPr>
              <a:t>reproducible 3,000-instance benchmark</a:t>
            </a:r>
            <a:r>
              <a:rPr lang="en-US" sz="1300" dirty="0">
                <a:solidFill>
                  <a:srgbClr val="1E293B"/>
                </a:solidFill>
                <a:latin typeface="Quattrocento Sans" pitchFamily="34" charset="0"/>
                <a:ea typeface="Quattrocento Sans" pitchFamily="34" charset="-122"/>
                <a:cs typeface="Quattrocento Sans" pitchFamily="34" charset="-120"/>
              </a:rPr>
              <a:t> with six automatic metrics</a:t>
            </a:r>
            <a:endParaRPr lang="en-US" sz="1600" dirty="0"/>
          </a:p>
        </p:txBody>
      </p:sp>
      <p:sp>
        <p:nvSpPr>
          <p:cNvPr id="45" name="Shape 42"/>
          <p:cNvSpPr/>
          <p:nvPr/>
        </p:nvSpPr>
        <p:spPr>
          <a:xfrm>
            <a:off x="1270000" y="7620000"/>
            <a:ext cx="13716000" cy="762000"/>
          </a:xfrm>
          <a:prstGeom prst="rect">
            <a:avLst/>
          </a:prstGeom>
          <a:solidFill>
            <a:srgbClr val="E8ECF3"/>
          </a:solidFill>
          <a:ln/>
        </p:spPr>
      </p:sp>
      <p:sp>
        <p:nvSpPr>
          <p:cNvPr id="46" name="Shape 43"/>
          <p:cNvSpPr/>
          <p:nvPr/>
        </p:nvSpPr>
        <p:spPr>
          <a:xfrm>
            <a:off x="1270000" y="7620000"/>
            <a:ext cx="63500" cy="762000"/>
          </a:xfrm>
          <a:prstGeom prst="rect">
            <a:avLst/>
          </a:prstGeom>
          <a:solidFill>
            <a:srgbClr val="1C243B"/>
          </a:solidFill>
          <a:ln/>
        </p:spPr>
      </p:sp>
      <p:sp>
        <p:nvSpPr>
          <p:cNvPr id="47" name="Text 44"/>
          <p:cNvSpPr/>
          <p:nvPr/>
        </p:nvSpPr>
        <p:spPr>
          <a:xfrm>
            <a:off x="1524000" y="7683500"/>
            <a:ext cx="13208000" cy="635000"/>
          </a:xfrm>
          <a:prstGeom prst="rect">
            <a:avLst/>
          </a:prstGeom>
          <a:noFill/>
          <a:ln/>
        </p:spPr>
        <p:txBody>
          <a:bodyPr wrap="square" lIns="0" tIns="0" rIns="0" bIns="0" rtlCol="0" anchor="ctr"/>
          <a:lstStyle/>
          <a:p>
            <a:pPr>
              <a:lnSpc>
                <a:spcPct val="140000"/>
              </a:lnSpc>
            </a:pPr>
            <a:r>
              <a:rPr lang="en-US" sz="1200" b="1" dirty="0">
                <a:solidFill>
                  <a:srgbClr val="595959"/>
                </a:solidFill>
                <a:latin typeface="Quattrocento Sans" pitchFamily="34" charset="0"/>
                <a:ea typeface="Quattrocento Sans" pitchFamily="34" charset="-122"/>
                <a:cs typeface="Quattrocento Sans" pitchFamily="34" charset="-120"/>
              </a:rPr>
              <a:t>Scope:</a:t>
            </a:r>
            <a:r>
              <a:rPr lang="en-US" sz="1200" dirty="0">
                <a:solidFill>
                  <a:srgbClr val="595959"/>
                </a:solidFill>
                <a:latin typeface="Quattrocento Sans" pitchFamily="34" charset="0"/>
                <a:ea typeface="Quattrocento Sans" pitchFamily="34" charset="-122"/>
                <a:cs typeface="Quattrocento Sans" pitchFamily="34" charset="-120"/>
              </a:rPr>
              <a:t> Text-based medical QA and clinical decision assistance. Evaluated with automatic lexical/semantic metrics on self-generated benchmark. Does not perform image analysis or EHR integration. Intended strictly for research and educational purposes. All inference via locally deployed Ollama models.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Shape 5"/>
          <p:cNvSpPr/>
          <p:nvPr/>
        </p:nvSpPr>
        <p:spPr>
          <a:xfrm>
            <a:off x="6731000" y="76200"/>
            <a:ext cx="2032000" cy="508000"/>
          </a:xfrm>
          <a:prstGeom prst="rect">
            <a:avLst/>
          </a:prstGeom>
          <a:solidFill>
            <a:srgbClr val="FFFFFF">
              <a:alpha val="18824"/>
            </a:srgbClr>
          </a:solidFill>
          <a:ln/>
        </p:spPr>
      </p:sp>
      <p:sp>
        <p:nvSpPr>
          <p:cNvPr id="8" name="Text 6"/>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6</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2296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3566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Design Philosophy of MedAidePlus</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460500"/>
            <a:ext cx="6858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Design Principles</a:t>
            </a:r>
            <a:endParaRPr lang="en-US" sz="2000" dirty="0"/>
          </a:p>
        </p:txBody>
      </p:sp>
      <p:sp>
        <p:nvSpPr>
          <p:cNvPr id="27" name="Shape 24"/>
          <p:cNvSpPr/>
          <p:nvPr/>
        </p:nvSpPr>
        <p:spPr>
          <a:xfrm>
            <a:off x="1270000" y="1930400"/>
            <a:ext cx="6858000" cy="1016000"/>
          </a:xfrm>
          <a:prstGeom prst="rect">
            <a:avLst/>
          </a:prstGeom>
          <a:solidFill>
            <a:srgbClr val="FFFFFF"/>
          </a:solidFill>
          <a:ln w="12700">
            <a:solidFill>
              <a:srgbClr val="CBD5E1"/>
            </a:solidFill>
            <a:prstDash val="solid"/>
          </a:ln>
        </p:spPr>
      </p:sp>
      <p:sp>
        <p:nvSpPr>
          <p:cNvPr id="28" name="Text 25"/>
          <p:cNvSpPr/>
          <p:nvPr/>
        </p:nvSpPr>
        <p:spPr>
          <a:xfrm>
            <a:off x="1371600" y="1993900"/>
            <a:ext cx="381000" cy="317500"/>
          </a:xfrm>
          <a:prstGeom prst="rect">
            <a:avLst/>
          </a:prstGeom>
          <a:noFill/>
          <a:ln/>
        </p:spPr>
        <p:txBody>
          <a:bodyPr wrap="none" lIns="0" tIns="0" rIns="0" bIns="0" rtlCol="0" anchor="ctr"/>
          <a:lstStyle/>
          <a:p>
            <a:pPr algn="ctr">
              <a:lnSpc>
                <a:spcPct val="100000"/>
              </a:lnSpc>
            </a:pPr>
            <a:r>
              <a:rPr lang="en-US" sz="1800" b="1" dirty="0">
                <a:solidFill>
                  <a:srgbClr val="2E7D32"/>
                </a:solidFill>
                <a:latin typeface="Quattrocento Sans" pitchFamily="34" charset="0"/>
                <a:ea typeface="Quattrocento Sans" pitchFamily="34" charset="-122"/>
                <a:cs typeface="Quattrocento Sans" pitchFamily="34" charset="-120"/>
              </a:rPr>
              <a:t>1</a:t>
            </a:r>
            <a:endParaRPr lang="en-US" sz="1600" dirty="0"/>
          </a:p>
        </p:txBody>
      </p:sp>
      <p:sp>
        <p:nvSpPr>
          <p:cNvPr id="29" name="Text 26"/>
          <p:cNvSpPr/>
          <p:nvPr/>
        </p:nvSpPr>
        <p:spPr>
          <a:xfrm>
            <a:off x="1778000" y="1993900"/>
            <a:ext cx="6223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Problem Decomposition</a:t>
            </a:r>
            <a:endParaRPr lang="en-US" sz="1600" dirty="0"/>
          </a:p>
        </p:txBody>
      </p:sp>
      <p:sp>
        <p:nvSpPr>
          <p:cNvPr id="30" name="Text 27"/>
          <p:cNvSpPr/>
          <p:nvPr/>
        </p:nvSpPr>
        <p:spPr>
          <a:xfrm>
            <a:off x="1778000" y="2311400"/>
            <a:ext cx="6223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Monolithic LLMs struggle with multi-intent clinical queries. System divided into 7 specialized modules, each targeting a specific failure point.</a:t>
            </a:r>
            <a:endParaRPr lang="en-US" sz="1600" dirty="0"/>
          </a:p>
        </p:txBody>
      </p:sp>
      <p:sp>
        <p:nvSpPr>
          <p:cNvPr id="31" name="Shape 28"/>
          <p:cNvSpPr/>
          <p:nvPr/>
        </p:nvSpPr>
        <p:spPr>
          <a:xfrm>
            <a:off x="1270000" y="3048000"/>
            <a:ext cx="6858000" cy="1016000"/>
          </a:xfrm>
          <a:prstGeom prst="rect">
            <a:avLst/>
          </a:prstGeom>
          <a:solidFill>
            <a:srgbClr val="FFFFFF"/>
          </a:solidFill>
          <a:ln w="12700">
            <a:solidFill>
              <a:srgbClr val="CBD5E1"/>
            </a:solidFill>
            <a:prstDash val="solid"/>
          </a:ln>
        </p:spPr>
      </p:sp>
      <p:sp>
        <p:nvSpPr>
          <p:cNvPr id="32" name="Text 29"/>
          <p:cNvSpPr/>
          <p:nvPr/>
        </p:nvSpPr>
        <p:spPr>
          <a:xfrm>
            <a:off x="1371600" y="3111500"/>
            <a:ext cx="381000" cy="317500"/>
          </a:xfrm>
          <a:prstGeom prst="rect">
            <a:avLst/>
          </a:prstGeom>
          <a:noFill/>
          <a:ln/>
        </p:spPr>
        <p:txBody>
          <a:bodyPr wrap="none" lIns="0" tIns="0" rIns="0" bIns="0" rtlCol="0" anchor="ctr"/>
          <a:lstStyle/>
          <a:p>
            <a:pPr algn="ctr">
              <a:lnSpc>
                <a:spcPct val="100000"/>
              </a:lnSpc>
            </a:pPr>
            <a:r>
              <a:rPr lang="en-US" sz="1800" b="1" dirty="0">
                <a:solidFill>
                  <a:srgbClr val="2E7D32"/>
                </a:solidFill>
                <a:latin typeface="Quattrocento Sans" pitchFamily="34" charset="0"/>
                <a:ea typeface="Quattrocento Sans" pitchFamily="34" charset="-122"/>
                <a:cs typeface="Quattrocento Sans" pitchFamily="34" charset="-120"/>
              </a:rPr>
              <a:t>2</a:t>
            </a:r>
            <a:endParaRPr lang="en-US" sz="1600" dirty="0"/>
          </a:p>
        </p:txBody>
      </p:sp>
      <p:sp>
        <p:nvSpPr>
          <p:cNvPr id="33" name="Text 30"/>
          <p:cNvSpPr/>
          <p:nvPr/>
        </p:nvSpPr>
        <p:spPr>
          <a:xfrm>
            <a:off x="1778000" y="3111500"/>
            <a:ext cx="6223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Context &amp; Understanding</a:t>
            </a:r>
            <a:endParaRPr lang="en-US" sz="1600" dirty="0"/>
          </a:p>
        </p:txBody>
      </p:sp>
      <p:sp>
        <p:nvSpPr>
          <p:cNvPr id="34" name="Text 31"/>
          <p:cNvSpPr/>
          <p:nvPr/>
        </p:nvSpPr>
        <p:spPr>
          <a:xfrm>
            <a:off x="1778000" y="3429000"/>
            <a:ext cx="6223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Patient memory enables longitudinal context. Query decomposition handles complex inputs. Hierarchical intent modeling ensures precise mapping.</a:t>
            </a:r>
            <a:endParaRPr lang="en-US" sz="1600" dirty="0"/>
          </a:p>
        </p:txBody>
      </p:sp>
      <p:sp>
        <p:nvSpPr>
          <p:cNvPr id="35" name="Shape 32"/>
          <p:cNvSpPr/>
          <p:nvPr/>
        </p:nvSpPr>
        <p:spPr>
          <a:xfrm>
            <a:off x="1270000" y="4165600"/>
            <a:ext cx="6858000" cy="1016000"/>
          </a:xfrm>
          <a:prstGeom prst="rect">
            <a:avLst/>
          </a:prstGeom>
          <a:solidFill>
            <a:srgbClr val="FFFFFF"/>
          </a:solidFill>
          <a:ln w="12700">
            <a:solidFill>
              <a:srgbClr val="CBD5E1"/>
            </a:solidFill>
            <a:prstDash val="solid"/>
          </a:ln>
        </p:spPr>
      </p:sp>
      <p:sp>
        <p:nvSpPr>
          <p:cNvPr id="36" name="Text 33"/>
          <p:cNvSpPr/>
          <p:nvPr/>
        </p:nvSpPr>
        <p:spPr>
          <a:xfrm>
            <a:off x="1371600" y="4229100"/>
            <a:ext cx="381000" cy="317500"/>
          </a:xfrm>
          <a:prstGeom prst="rect">
            <a:avLst/>
          </a:prstGeom>
          <a:noFill/>
          <a:ln/>
        </p:spPr>
        <p:txBody>
          <a:bodyPr wrap="none" lIns="0" tIns="0" rIns="0" bIns="0" rtlCol="0" anchor="ctr"/>
          <a:lstStyle/>
          <a:p>
            <a:pPr algn="ctr">
              <a:lnSpc>
                <a:spcPct val="100000"/>
              </a:lnSpc>
            </a:pPr>
            <a:r>
              <a:rPr lang="en-US" sz="1800" b="1" dirty="0">
                <a:solidFill>
                  <a:srgbClr val="2E7D32"/>
                </a:solidFill>
                <a:latin typeface="Quattrocento Sans" pitchFamily="34" charset="0"/>
                <a:ea typeface="Quattrocento Sans" pitchFamily="34" charset="-122"/>
                <a:cs typeface="Quattrocento Sans" pitchFamily="34" charset="-120"/>
              </a:rPr>
              <a:t>3</a:t>
            </a:r>
            <a:endParaRPr lang="en-US" sz="1600" dirty="0"/>
          </a:p>
        </p:txBody>
      </p:sp>
      <p:sp>
        <p:nvSpPr>
          <p:cNvPr id="37" name="Text 34"/>
          <p:cNvSpPr/>
          <p:nvPr/>
        </p:nvSpPr>
        <p:spPr>
          <a:xfrm>
            <a:off x="1778000" y="4229100"/>
            <a:ext cx="6223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Adaptive Control</a:t>
            </a:r>
            <a:endParaRPr lang="en-US" sz="1600" dirty="0"/>
          </a:p>
        </p:txBody>
      </p:sp>
      <p:sp>
        <p:nvSpPr>
          <p:cNvPr id="38" name="Text 35"/>
          <p:cNvSpPr/>
          <p:nvPr/>
        </p:nvSpPr>
        <p:spPr>
          <a:xfrm>
            <a:off x="1778000" y="4546600"/>
            <a:ext cx="6223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Multi-turn tracking maintains conversation continuity. Complexity-aware routing adjusts computation dynamically, preventing under-processing and overuse.</a:t>
            </a:r>
            <a:endParaRPr lang="en-US" sz="1600" dirty="0"/>
          </a:p>
        </p:txBody>
      </p:sp>
      <p:sp>
        <p:nvSpPr>
          <p:cNvPr id="39" name="Shape 36"/>
          <p:cNvSpPr/>
          <p:nvPr/>
        </p:nvSpPr>
        <p:spPr>
          <a:xfrm>
            <a:off x="1270000" y="5283200"/>
            <a:ext cx="6858000" cy="1016000"/>
          </a:xfrm>
          <a:prstGeom prst="rect">
            <a:avLst/>
          </a:prstGeom>
          <a:solidFill>
            <a:srgbClr val="FFFFFF"/>
          </a:solidFill>
          <a:ln w="12700">
            <a:solidFill>
              <a:srgbClr val="CBD5E1"/>
            </a:solidFill>
            <a:prstDash val="solid"/>
          </a:ln>
        </p:spPr>
      </p:sp>
      <p:sp>
        <p:nvSpPr>
          <p:cNvPr id="40" name="Text 37"/>
          <p:cNvSpPr/>
          <p:nvPr/>
        </p:nvSpPr>
        <p:spPr>
          <a:xfrm>
            <a:off x="1371600" y="5346700"/>
            <a:ext cx="381000" cy="317500"/>
          </a:xfrm>
          <a:prstGeom prst="rect">
            <a:avLst/>
          </a:prstGeom>
          <a:noFill/>
          <a:ln/>
        </p:spPr>
        <p:txBody>
          <a:bodyPr wrap="none" lIns="0" tIns="0" rIns="0" bIns="0" rtlCol="0" anchor="ctr"/>
          <a:lstStyle/>
          <a:p>
            <a:pPr algn="ctr">
              <a:lnSpc>
                <a:spcPct val="100000"/>
              </a:lnSpc>
            </a:pPr>
            <a:r>
              <a:rPr lang="en-US" sz="1800" b="1" dirty="0">
                <a:solidFill>
                  <a:srgbClr val="2E7D32"/>
                </a:solidFill>
                <a:latin typeface="Quattrocento Sans" pitchFamily="34" charset="0"/>
                <a:ea typeface="Quattrocento Sans" pitchFamily="34" charset="-122"/>
                <a:cs typeface="Quattrocento Sans" pitchFamily="34" charset="-120"/>
              </a:rPr>
              <a:t>4</a:t>
            </a:r>
            <a:endParaRPr lang="en-US" sz="1600" dirty="0"/>
          </a:p>
        </p:txBody>
      </p:sp>
      <p:sp>
        <p:nvSpPr>
          <p:cNvPr id="41" name="Text 38"/>
          <p:cNvSpPr/>
          <p:nvPr/>
        </p:nvSpPr>
        <p:spPr>
          <a:xfrm>
            <a:off x="1778000" y="5346700"/>
            <a:ext cx="6223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Execution &amp; Reliability</a:t>
            </a:r>
            <a:endParaRPr lang="en-US" sz="1600" dirty="0"/>
          </a:p>
        </p:txBody>
      </p:sp>
      <p:sp>
        <p:nvSpPr>
          <p:cNvPr id="42" name="Text 39"/>
          <p:cNvSpPr/>
          <p:nvPr/>
        </p:nvSpPr>
        <p:spPr>
          <a:xfrm>
            <a:off x="1778000" y="5664200"/>
            <a:ext cx="6223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Parallel specialist agents provide domain expertise. Critic-guided synthesis ensures coherent responses. Verification layer detects and flags hallucinations.</a:t>
            </a:r>
            <a:endParaRPr lang="en-US" sz="1600" dirty="0"/>
          </a:p>
        </p:txBody>
      </p:sp>
      <p:sp>
        <p:nvSpPr>
          <p:cNvPr id="43" name="Shape 40"/>
          <p:cNvSpPr/>
          <p:nvPr/>
        </p:nvSpPr>
        <p:spPr>
          <a:xfrm>
            <a:off x="1270000" y="6400800"/>
            <a:ext cx="6858000" cy="1016000"/>
          </a:xfrm>
          <a:prstGeom prst="rect">
            <a:avLst/>
          </a:prstGeom>
          <a:solidFill>
            <a:srgbClr val="FFFFFF"/>
          </a:solidFill>
          <a:ln w="12700">
            <a:solidFill>
              <a:srgbClr val="CBD5E1"/>
            </a:solidFill>
            <a:prstDash val="solid"/>
          </a:ln>
        </p:spPr>
      </p:sp>
      <p:sp>
        <p:nvSpPr>
          <p:cNvPr id="44" name="Text 41"/>
          <p:cNvSpPr/>
          <p:nvPr/>
        </p:nvSpPr>
        <p:spPr>
          <a:xfrm>
            <a:off x="1371600" y="6464300"/>
            <a:ext cx="381000" cy="317500"/>
          </a:xfrm>
          <a:prstGeom prst="rect">
            <a:avLst/>
          </a:prstGeom>
          <a:noFill/>
          <a:ln/>
        </p:spPr>
        <p:txBody>
          <a:bodyPr wrap="none" lIns="0" tIns="0" rIns="0" bIns="0" rtlCol="0" anchor="ctr"/>
          <a:lstStyle/>
          <a:p>
            <a:pPr algn="ctr">
              <a:lnSpc>
                <a:spcPct val="100000"/>
              </a:lnSpc>
            </a:pPr>
            <a:r>
              <a:rPr lang="en-US" sz="1800" b="1" dirty="0">
                <a:solidFill>
                  <a:srgbClr val="2E7D32"/>
                </a:solidFill>
                <a:latin typeface="Quattrocento Sans" pitchFamily="34" charset="0"/>
                <a:ea typeface="Quattrocento Sans" pitchFamily="34" charset="-122"/>
                <a:cs typeface="Quattrocento Sans" pitchFamily="34" charset="-120"/>
              </a:rPr>
              <a:t>5</a:t>
            </a:r>
            <a:endParaRPr lang="en-US" sz="1600" dirty="0"/>
          </a:p>
        </p:txBody>
      </p:sp>
      <p:sp>
        <p:nvSpPr>
          <p:cNvPr id="45" name="Text 42"/>
          <p:cNvSpPr/>
          <p:nvPr/>
        </p:nvSpPr>
        <p:spPr>
          <a:xfrm>
            <a:off x="1778000" y="6464300"/>
            <a:ext cx="6223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System Outcome</a:t>
            </a:r>
            <a:endParaRPr lang="en-US" sz="1600" dirty="0"/>
          </a:p>
        </p:txBody>
      </p:sp>
      <p:sp>
        <p:nvSpPr>
          <p:cNvPr id="46" name="Text 43"/>
          <p:cNvSpPr/>
          <p:nvPr/>
        </p:nvSpPr>
        <p:spPr>
          <a:xfrm>
            <a:off x="1778000" y="6781800"/>
            <a:ext cx="6223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Progressive refinement across pipeline stages. Localized errors and improved interpretability. Scalable across diverse clinical scenarios.</a:t>
            </a:r>
            <a:endParaRPr lang="en-US" sz="1600" dirty="0"/>
          </a:p>
        </p:txBody>
      </p:sp>
      <p:sp>
        <p:nvSpPr>
          <p:cNvPr id="47" name="Text 44"/>
          <p:cNvSpPr/>
          <p:nvPr/>
        </p:nvSpPr>
        <p:spPr>
          <a:xfrm>
            <a:off x="8382000" y="1460500"/>
            <a:ext cx="6604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Key Innovations</a:t>
            </a:r>
            <a:endParaRPr lang="en-US" sz="2000" dirty="0"/>
          </a:p>
        </p:txBody>
      </p:sp>
      <p:sp>
        <p:nvSpPr>
          <p:cNvPr id="48" name="Shape 45"/>
          <p:cNvSpPr/>
          <p:nvPr/>
        </p:nvSpPr>
        <p:spPr>
          <a:xfrm>
            <a:off x="8382000" y="1930400"/>
            <a:ext cx="6858000" cy="1016000"/>
          </a:xfrm>
          <a:prstGeom prst="rect">
            <a:avLst/>
          </a:prstGeom>
          <a:solidFill>
            <a:srgbClr val="FFFFFF"/>
          </a:solidFill>
          <a:ln w="12700">
            <a:solidFill>
              <a:srgbClr val="CBD5E1"/>
            </a:solidFill>
            <a:prstDash val="solid"/>
          </a:ln>
        </p:spPr>
      </p:sp>
      <p:sp>
        <p:nvSpPr>
          <p:cNvPr id="49" name="Shape 46"/>
          <p:cNvSpPr/>
          <p:nvPr/>
        </p:nvSpPr>
        <p:spPr>
          <a:xfrm>
            <a:off x="8382000" y="1930400"/>
            <a:ext cx="63500" cy="1016000"/>
          </a:xfrm>
          <a:prstGeom prst="rect">
            <a:avLst/>
          </a:prstGeom>
          <a:solidFill>
            <a:srgbClr val="2E7D32"/>
          </a:solidFill>
          <a:ln/>
        </p:spPr>
      </p:sp>
      <p:sp>
        <p:nvSpPr>
          <p:cNvPr id="50" name="Text 47"/>
          <p:cNvSpPr/>
          <p:nvPr/>
        </p:nvSpPr>
        <p:spPr>
          <a:xfrm>
            <a:off x="8610600" y="1993900"/>
            <a:ext cx="6477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Category-Aware Specialist Routing</a:t>
            </a:r>
            <a:endParaRPr lang="en-US" sz="1600" dirty="0"/>
          </a:p>
        </p:txBody>
      </p:sp>
      <p:sp>
        <p:nvSpPr>
          <p:cNvPr id="51" name="Text 48"/>
          <p:cNvSpPr/>
          <p:nvPr/>
        </p:nvSpPr>
        <p:spPr>
          <a:xfrm>
            <a:off x="8610600" y="2311400"/>
            <a:ext cx="6477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Deterministic category hint override eliminates vocabulary-overlap misrouting. Proved to be the single largest driver of benchmark improvement.</a:t>
            </a:r>
            <a:endParaRPr lang="en-US" sz="1600" dirty="0"/>
          </a:p>
        </p:txBody>
      </p:sp>
      <p:sp>
        <p:nvSpPr>
          <p:cNvPr id="52" name="Shape 49"/>
          <p:cNvSpPr/>
          <p:nvPr/>
        </p:nvSpPr>
        <p:spPr>
          <a:xfrm>
            <a:off x="8382000" y="3073400"/>
            <a:ext cx="6858000" cy="1016000"/>
          </a:xfrm>
          <a:prstGeom prst="rect">
            <a:avLst/>
          </a:prstGeom>
          <a:solidFill>
            <a:srgbClr val="FFFFFF"/>
          </a:solidFill>
          <a:ln w="12700">
            <a:solidFill>
              <a:srgbClr val="CBD5E1"/>
            </a:solidFill>
            <a:prstDash val="solid"/>
          </a:ln>
        </p:spPr>
      </p:sp>
      <p:sp>
        <p:nvSpPr>
          <p:cNvPr id="53" name="Shape 50"/>
          <p:cNvSpPr/>
          <p:nvPr/>
        </p:nvSpPr>
        <p:spPr>
          <a:xfrm>
            <a:off x="8382000" y="3073400"/>
            <a:ext cx="63500" cy="1016000"/>
          </a:xfrm>
          <a:prstGeom prst="rect">
            <a:avLst/>
          </a:prstGeom>
          <a:solidFill>
            <a:srgbClr val="AD7B53"/>
          </a:solidFill>
          <a:ln/>
        </p:spPr>
      </p:sp>
      <p:sp>
        <p:nvSpPr>
          <p:cNvPr id="54" name="Text 51"/>
          <p:cNvSpPr/>
          <p:nvPr/>
        </p:nvSpPr>
        <p:spPr>
          <a:xfrm>
            <a:off x="8610600" y="3136900"/>
            <a:ext cx="6477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Extractive Primary Agent Synthesis</a:t>
            </a:r>
            <a:endParaRPr lang="en-US" sz="1600" dirty="0"/>
          </a:p>
        </p:txBody>
      </p:sp>
      <p:sp>
        <p:nvSpPr>
          <p:cNvPr id="55" name="Text 52"/>
          <p:cNvSpPr/>
          <p:nvPr/>
        </p:nvSpPr>
        <p:spPr>
          <a:xfrm>
            <a:off x="8610600" y="3454400"/>
            <a:ext cx="6477000" cy="533400"/>
          </a:xfrm>
          <a:prstGeom prst="rect">
            <a:avLst/>
          </a:prstGeom>
          <a:noFill/>
          <a:ln/>
        </p:spPr>
        <p:txBody>
          <a:bodyPr wrap="square" lIns="0" tIns="0" rIns="0" bIns="0" rtlCol="0" anchor="t"/>
          <a:lstStyle/>
          <a:p>
            <a:pPr>
              <a:lnSpc>
                <a:spcPct val="130000"/>
              </a:lnSpc>
            </a:pPr>
            <a:r>
              <a:rPr lang="en-US" sz="1200" dirty="0">
                <a:solidFill>
                  <a:srgbClr val="595959"/>
                </a:solidFill>
                <a:latin typeface="Quattrocento Sans" pitchFamily="34" charset="0"/>
                <a:ea typeface="Quattrocento Sans" pitchFamily="34" charset="-122"/>
                <a:cs typeface="Quattrocento Sans" pitchFamily="34" charset="-120"/>
              </a:rPr>
              <a:t>Preserves specialist clinical vocabulary and structural formatting. Primary specialist response used as base, secondary agents contribute supplementary info only.</a:t>
            </a:r>
            <a:endParaRPr lang="en-US" sz="1600" dirty="0"/>
          </a:p>
        </p:txBody>
      </p:sp>
      <p:sp>
        <p:nvSpPr>
          <p:cNvPr id="56" name="Text 53"/>
          <p:cNvSpPr/>
          <p:nvPr/>
        </p:nvSpPr>
        <p:spPr>
          <a:xfrm>
            <a:off x="8382000" y="4318000"/>
            <a:ext cx="6858000" cy="381000"/>
          </a:xfrm>
          <a:prstGeom prst="rect">
            <a:avLst/>
          </a:prstGeom>
          <a:noFill/>
          <a:ln/>
        </p:spPr>
        <p:txBody>
          <a:bodyPr wrap="none" lIns="0" tIns="0" rIns="0" bIns="0" rtlCol="0" anchor="ctr"/>
          <a:lstStyle/>
          <a:p>
            <a:pPr>
              <a:lnSpc>
                <a:spcPct val="100000"/>
              </a:lnSpc>
            </a:pPr>
            <a:r>
              <a:rPr lang="en-US" sz="1600" b="1" dirty="0">
                <a:solidFill>
                  <a:srgbClr val="475569"/>
                </a:solidFill>
                <a:latin typeface="QuattrocentoSans" pitchFamily="34" charset="0"/>
                <a:ea typeface="QuattrocentoSans" pitchFamily="34" charset="-122"/>
                <a:cs typeface="QuattrocentoSans" pitchFamily="34" charset="-120"/>
              </a:rPr>
              <a:t>18-Intent Clinical Taxonomy (4 Categories)</a:t>
            </a:r>
            <a:endParaRPr lang="en-US" sz="2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8382000" y="4762500"/>
          <a:ext cx="6858000" cy="2844800"/>
        </p:xfrm>
        <a:graphic>
          <a:graphicData uri="http://schemas.openxmlformats.org/drawingml/2006/table">
            <a:tbl>
              <a:tblPr/>
              <a:tblGrid>
                <a:gridCol w="150876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3180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Category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Intents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Count</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extLst>
                  <a:ext uri="{0D108BD9-81ED-4DB2-BD59-A6C34878D82A}">
                    <a16:rowId xmlns:a16="http://schemas.microsoft.com/office/drawing/2014/main" val="10000"/>
                  </a:ext>
                </a:extLst>
              </a:tr>
              <a:tr h="5588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Pre-Diagnosis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Symptom_Triage, Dept_Suggestion, Risk_Assessment, Health_Inquiry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 intents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88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Diagnosis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Symptom_Analysis, Etiology_Detection, Test_Interpretation, Differential_Diagnosis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 intents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2"/>
                  </a:ext>
                </a:extLst>
              </a:tr>
              <a:tr h="6477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Medication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Drug_Counseling, Dosage_Rec, Contraindication_Check, Drug_Interaction, Prescription_Review</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5 intents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770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Post-Diagnosis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Rehab_Advice, Progress_Tracking, Care_Support, Lifestyle_Guidance, Follow_up_Scheduling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5 intents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127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Shape 5"/>
          <p:cNvSpPr/>
          <p:nvPr/>
        </p:nvSpPr>
        <p:spPr>
          <a:xfrm>
            <a:off x="6731000" y="76200"/>
            <a:ext cx="2032000" cy="508000"/>
          </a:xfrm>
          <a:prstGeom prst="rect">
            <a:avLst/>
          </a:prstGeom>
          <a:solidFill>
            <a:srgbClr val="FFFFFF">
              <a:alpha val="18824"/>
            </a:srgbClr>
          </a:solidFill>
          <a:ln/>
        </p:spPr>
      </p:sp>
      <p:sp>
        <p:nvSpPr>
          <p:cNvPr id="8" name="Text 6"/>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7</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5344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6614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System Architecture &amp; Data Flow</a:t>
            </a:r>
            <a:endParaRPr lang="en-US" sz="2800" dirty="0"/>
          </a:p>
        </p:txBody>
      </p:sp>
      <p:sp>
        <p:nvSpPr>
          <p:cNvPr id="25" name="Shape 22"/>
          <p:cNvSpPr/>
          <p:nvPr/>
        </p:nvSpPr>
        <p:spPr>
          <a:xfrm>
            <a:off x="1270000" y="1244600"/>
            <a:ext cx="762000" cy="50800"/>
          </a:xfrm>
          <a:prstGeom prst="rect">
            <a:avLst/>
          </a:prstGeom>
          <a:solidFill>
            <a:srgbClr val="2E7D32"/>
          </a:solidFill>
          <a:ln/>
        </p:spPr>
      </p:sp>
      <p:pic>
        <p:nvPicPr>
          <p:cNvPr id="26" name="Image 1" descr="https://kimi-img.moonshot.cn/pub/slides/okc/nqxj6awjc7f7i/mnt/agents/output/medaideplus/images/image_3.png"/>
          <p:cNvPicPr>
            <a:picLocks noChangeAspect="1"/>
          </p:cNvPicPr>
          <p:nvPr/>
        </p:nvPicPr>
        <p:blipFill>
          <a:blip r:embed="rId4"/>
          <a:srcRect l="-38437" r="-38437"/>
          <a:stretch/>
        </p:blipFill>
        <p:spPr>
          <a:xfrm>
            <a:off x="1270001" y="1460500"/>
            <a:ext cx="5897966" cy="5080000"/>
          </a:xfrm>
          <a:prstGeom prst="rect">
            <a:avLst/>
          </a:prstGeom>
        </p:spPr>
      </p:pic>
      <p:sp>
        <p:nvSpPr>
          <p:cNvPr id="27" name="Text 23"/>
          <p:cNvSpPr/>
          <p:nvPr/>
        </p:nvSpPr>
        <p:spPr>
          <a:xfrm>
            <a:off x="1270000" y="6604000"/>
            <a:ext cx="13716000" cy="533400"/>
          </a:xfrm>
          <a:prstGeom prst="rect">
            <a:avLst/>
          </a:prstGeom>
          <a:noFill/>
          <a:ln/>
        </p:spPr>
        <p:txBody>
          <a:bodyPr wrap="square" lIns="0" tIns="0" rIns="0" bIns="0" rtlCol="0" anchor="ctr"/>
          <a:lstStyle/>
          <a:p>
            <a:pPr algn="ctr">
              <a:lnSpc>
                <a:spcPct val="100000"/>
              </a:lnSpc>
            </a:pPr>
            <a:r>
              <a:rPr lang="en-US" sz="1200" b="1" dirty="0">
                <a:solidFill>
                  <a:srgbClr val="595959"/>
                </a:solidFill>
                <a:latin typeface="Quattrocento Sans" pitchFamily="34" charset="0"/>
                <a:ea typeface="Quattrocento Sans" pitchFamily="34" charset="-122"/>
                <a:cs typeface="Quattrocento Sans" pitchFamily="34" charset="-120"/>
              </a:rPr>
              <a:t>Fig. 1</a:t>
            </a:r>
            <a:r>
              <a:rPr lang="en-US" sz="1200" dirty="0">
                <a:solidFill>
                  <a:srgbClr val="595959"/>
                </a:solidFill>
                <a:latin typeface="Quattrocento Sans" pitchFamily="34" charset="0"/>
                <a:ea typeface="Quattrocento Sans" pitchFamily="34" charset="-122"/>
                <a:cs typeface="Quattrocento Sans" pitchFamily="34" charset="-120"/>
              </a:rPr>
              <a:t> - MedAidePlus Seven Module Pipeline Architecture. M4 PAHM injects patient history -&gt; M1 AMQU decomposes and retrieves -&gt; M2 HDIO classifies intent -&gt; M7 MIET updates dialogue state -&gt; M6 AQCR determines complexity tier -&gt; M3 DMACN dispatches agents in parallel -&gt; M5 HDFG verifies claims.</a:t>
            </a:r>
            <a:endParaRPr lang="en-US" sz="1600" dirty="0"/>
          </a:p>
        </p:txBody>
      </p:sp>
      <p:sp>
        <p:nvSpPr>
          <p:cNvPr id="28" name="Shape 24"/>
          <p:cNvSpPr/>
          <p:nvPr/>
        </p:nvSpPr>
        <p:spPr>
          <a:xfrm>
            <a:off x="1270000" y="7175500"/>
            <a:ext cx="3302000" cy="1206500"/>
          </a:xfrm>
          <a:prstGeom prst="rect">
            <a:avLst/>
          </a:prstGeom>
          <a:solidFill>
            <a:srgbClr val="FFFFFF"/>
          </a:solidFill>
          <a:ln w="12700">
            <a:solidFill>
              <a:srgbClr val="CBD5E1"/>
            </a:solidFill>
            <a:prstDash val="solid"/>
          </a:ln>
        </p:spPr>
      </p:sp>
      <p:sp>
        <p:nvSpPr>
          <p:cNvPr id="29" name="Shape 25"/>
          <p:cNvSpPr/>
          <p:nvPr/>
        </p:nvSpPr>
        <p:spPr>
          <a:xfrm>
            <a:off x="1270000" y="7175500"/>
            <a:ext cx="3302000" cy="63500"/>
          </a:xfrm>
          <a:prstGeom prst="rect">
            <a:avLst/>
          </a:prstGeom>
          <a:solidFill>
            <a:srgbClr val="2E7D32"/>
          </a:solidFill>
          <a:ln/>
        </p:spPr>
      </p:sp>
      <p:sp>
        <p:nvSpPr>
          <p:cNvPr id="30" name="Text 26"/>
          <p:cNvSpPr/>
          <p:nvPr/>
        </p:nvSpPr>
        <p:spPr>
          <a:xfrm>
            <a:off x="1371600" y="7302500"/>
            <a:ext cx="3098800" cy="254000"/>
          </a:xfrm>
          <a:prstGeom prst="rect">
            <a:avLst/>
          </a:prstGeom>
          <a:noFill/>
          <a:ln/>
        </p:spPr>
        <p:txBody>
          <a:bodyPr wrap="none" lIns="0" tIns="0" rIns="0" bIns="0" rtlCol="0" anchor="ctr"/>
          <a:lstStyle/>
          <a:p>
            <a:pPr>
              <a:lnSpc>
                <a:spcPct val="100000"/>
              </a:lnSpc>
            </a:pPr>
            <a:r>
              <a:rPr lang="en-US" sz="1300" b="1" dirty="0">
                <a:solidFill>
                  <a:srgbClr val="1C243B"/>
                </a:solidFill>
                <a:latin typeface="Quattrocento Sans" pitchFamily="34" charset="0"/>
                <a:ea typeface="Quattrocento Sans" pitchFamily="34" charset="-122"/>
                <a:cs typeface="Quattrocento Sans" pitchFamily="34" charset="-120"/>
              </a:rPr>
              <a:t>Modular Decomposition</a:t>
            </a:r>
            <a:endParaRPr lang="en-US" sz="1600" dirty="0"/>
          </a:p>
        </p:txBody>
      </p:sp>
      <p:sp>
        <p:nvSpPr>
          <p:cNvPr id="31" name="Text 27"/>
          <p:cNvSpPr/>
          <p:nvPr/>
        </p:nvSpPr>
        <p:spPr>
          <a:xfrm>
            <a:off x="1371600" y="7594600"/>
            <a:ext cx="3098800" cy="698500"/>
          </a:xfrm>
          <a:prstGeom prst="rect">
            <a:avLst/>
          </a:prstGeom>
          <a:noFill/>
          <a:ln/>
        </p:spPr>
        <p:txBody>
          <a:bodyPr wrap="square" lIns="0" tIns="0" rIns="0" bIns="0" rtlCol="0" anchor="t"/>
          <a:lstStyle/>
          <a:p>
            <a:pPr>
              <a:lnSpc>
                <a:spcPct val="130000"/>
              </a:lnSpc>
            </a:pPr>
            <a:r>
              <a:rPr lang="en-US" sz="1100" dirty="0">
                <a:solidFill>
                  <a:srgbClr val="595959"/>
                </a:solidFill>
                <a:latin typeface="Quattrocento Sans" pitchFamily="34" charset="0"/>
                <a:ea typeface="Quattrocento Sans" pitchFamily="34" charset="-122"/>
                <a:cs typeface="Quattrocento Sans" pitchFamily="34" charset="-120"/>
              </a:rPr>
              <a:t>7 modules, each solves a specific failure point in the pipeline</a:t>
            </a:r>
            <a:endParaRPr lang="en-US" sz="1600" dirty="0"/>
          </a:p>
        </p:txBody>
      </p:sp>
      <p:sp>
        <p:nvSpPr>
          <p:cNvPr id="32" name="Shape 28"/>
          <p:cNvSpPr/>
          <p:nvPr/>
        </p:nvSpPr>
        <p:spPr>
          <a:xfrm>
            <a:off x="4737100" y="7175500"/>
            <a:ext cx="3302000" cy="1206500"/>
          </a:xfrm>
          <a:prstGeom prst="rect">
            <a:avLst/>
          </a:prstGeom>
          <a:solidFill>
            <a:srgbClr val="FFFFFF"/>
          </a:solidFill>
          <a:ln w="12700">
            <a:solidFill>
              <a:srgbClr val="CBD5E1"/>
            </a:solidFill>
            <a:prstDash val="solid"/>
          </a:ln>
        </p:spPr>
      </p:sp>
      <p:sp>
        <p:nvSpPr>
          <p:cNvPr id="33" name="Shape 29"/>
          <p:cNvSpPr/>
          <p:nvPr/>
        </p:nvSpPr>
        <p:spPr>
          <a:xfrm>
            <a:off x="4737100" y="7175500"/>
            <a:ext cx="3302000" cy="63500"/>
          </a:xfrm>
          <a:prstGeom prst="rect">
            <a:avLst/>
          </a:prstGeom>
          <a:solidFill>
            <a:srgbClr val="AD7B53"/>
          </a:solidFill>
          <a:ln/>
        </p:spPr>
      </p:sp>
      <p:sp>
        <p:nvSpPr>
          <p:cNvPr id="34" name="Text 30"/>
          <p:cNvSpPr/>
          <p:nvPr/>
        </p:nvSpPr>
        <p:spPr>
          <a:xfrm>
            <a:off x="4838700" y="7302500"/>
            <a:ext cx="3098800" cy="254000"/>
          </a:xfrm>
          <a:prstGeom prst="rect">
            <a:avLst/>
          </a:prstGeom>
          <a:noFill/>
          <a:ln/>
        </p:spPr>
        <p:txBody>
          <a:bodyPr wrap="none" lIns="0" tIns="0" rIns="0" bIns="0" rtlCol="0" anchor="ctr"/>
          <a:lstStyle/>
          <a:p>
            <a:pPr>
              <a:lnSpc>
                <a:spcPct val="100000"/>
              </a:lnSpc>
            </a:pPr>
            <a:r>
              <a:rPr lang="en-US" sz="1300" b="1" dirty="0">
                <a:solidFill>
                  <a:srgbClr val="1C243B"/>
                </a:solidFill>
                <a:latin typeface="Quattrocento Sans" pitchFamily="34" charset="0"/>
                <a:ea typeface="Quattrocento Sans" pitchFamily="34" charset="-122"/>
                <a:cs typeface="Quattrocento Sans" pitchFamily="34" charset="-120"/>
              </a:rPr>
              <a:t>Context Awareness</a:t>
            </a:r>
            <a:endParaRPr lang="en-US" sz="1600" dirty="0"/>
          </a:p>
        </p:txBody>
      </p:sp>
      <p:sp>
        <p:nvSpPr>
          <p:cNvPr id="35" name="Text 31"/>
          <p:cNvSpPr/>
          <p:nvPr/>
        </p:nvSpPr>
        <p:spPr>
          <a:xfrm>
            <a:off x="4838700" y="7594600"/>
            <a:ext cx="3098800" cy="698500"/>
          </a:xfrm>
          <a:prstGeom prst="rect">
            <a:avLst/>
          </a:prstGeom>
          <a:noFill/>
          <a:ln/>
        </p:spPr>
        <p:txBody>
          <a:bodyPr wrap="square" lIns="0" tIns="0" rIns="0" bIns="0" rtlCol="0" anchor="t"/>
          <a:lstStyle/>
          <a:p>
            <a:pPr>
              <a:lnSpc>
                <a:spcPct val="130000"/>
              </a:lnSpc>
            </a:pPr>
            <a:r>
              <a:rPr lang="en-US" sz="1100" dirty="0">
                <a:solidFill>
                  <a:srgbClr val="595959"/>
                </a:solidFill>
                <a:latin typeface="Quattrocento Sans" pitchFamily="34" charset="0"/>
                <a:ea typeface="Quattrocento Sans" pitchFamily="34" charset="-122"/>
                <a:cs typeface="Quattrocento Sans" pitchFamily="34" charset="-120"/>
              </a:rPr>
              <a:t>Memory + multi-intent understanding for longitudinal patient care</a:t>
            </a:r>
            <a:endParaRPr lang="en-US" sz="1600" dirty="0"/>
          </a:p>
        </p:txBody>
      </p:sp>
      <p:sp>
        <p:nvSpPr>
          <p:cNvPr id="36" name="Shape 32"/>
          <p:cNvSpPr/>
          <p:nvPr/>
        </p:nvSpPr>
        <p:spPr>
          <a:xfrm>
            <a:off x="8204200" y="7175500"/>
            <a:ext cx="3302000" cy="1206500"/>
          </a:xfrm>
          <a:prstGeom prst="rect">
            <a:avLst/>
          </a:prstGeom>
          <a:solidFill>
            <a:srgbClr val="FFFFFF"/>
          </a:solidFill>
          <a:ln w="12700">
            <a:solidFill>
              <a:srgbClr val="CBD5E1"/>
            </a:solidFill>
            <a:prstDash val="solid"/>
          </a:ln>
        </p:spPr>
      </p:sp>
      <p:sp>
        <p:nvSpPr>
          <p:cNvPr id="37" name="Shape 33"/>
          <p:cNvSpPr/>
          <p:nvPr/>
        </p:nvSpPr>
        <p:spPr>
          <a:xfrm>
            <a:off x="8204200" y="7175500"/>
            <a:ext cx="3302000" cy="63500"/>
          </a:xfrm>
          <a:prstGeom prst="rect">
            <a:avLst/>
          </a:prstGeom>
          <a:solidFill>
            <a:srgbClr val="2E7D32"/>
          </a:solidFill>
          <a:ln/>
        </p:spPr>
      </p:sp>
      <p:sp>
        <p:nvSpPr>
          <p:cNvPr id="38" name="Text 34"/>
          <p:cNvSpPr/>
          <p:nvPr/>
        </p:nvSpPr>
        <p:spPr>
          <a:xfrm>
            <a:off x="8305800" y="7302500"/>
            <a:ext cx="3098800" cy="254000"/>
          </a:xfrm>
          <a:prstGeom prst="rect">
            <a:avLst/>
          </a:prstGeom>
          <a:noFill/>
          <a:ln/>
        </p:spPr>
        <p:txBody>
          <a:bodyPr wrap="none" lIns="0" tIns="0" rIns="0" bIns="0" rtlCol="0" anchor="ctr"/>
          <a:lstStyle/>
          <a:p>
            <a:pPr>
              <a:lnSpc>
                <a:spcPct val="100000"/>
              </a:lnSpc>
            </a:pPr>
            <a:r>
              <a:rPr lang="en-US" sz="1300" b="1" dirty="0">
                <a:solidFill>
                  <a:srgbClr val="1C243B"/>
                </a:solidFill>
                <a:latin typeface="Quattrocento Sans" pitchFamily="34" charset="0"/>
                <a:ea typeface="Quattrocento Sans" pitchFamily="34" charset="-122"/>
                <a:cs typeface="Quattrocento Sans" pitchFamily="34" charset="-120"/>
              </a:rPr>
              <a:t>Adaptive Routing</a:t>
            </a:r>
            <a:endParaRPr lang="en-US" sz="1600" dirty="0"/>
          </a:p>
        </p:txBody>
      </p:sp>
      <p:sp>
        <p:nvSpPr>
          <p:cNvPr id="39" name="Text 35"/>
          <p:cNvSpPr/>
          <p:nvPr/>
        </p:nvSpPr>
        <p:spPr>
          <a:xfrm>
            <a:off x="8305800" y="7594600"/>
            <a:ext cx="3098800" cy="698500"/>
          </a:xfrm>
          <a:prstGeom prst="rect">
            <a:avLst/>
          </a:prstGeom>
          <a:noFill/>
          <a:ln/>
        </p:spPr>
        <p:txBody>
          <a:bodyPr wrap="square" lIns="0" tIns="0" rIns="0" bIns="0" rtlCol="0" anchor="t"/>
          <a:lstStyle/>
          <a:p>
            <a:pPr>
              <a:lnSpc>
                <a:spcPct val="130000"/>
              </a:lnSpc>
            </a:pPr>
            <a:r>
              <a:rPr lang="en-US" sz="1100" dirty="0">
                <a:solidFill>
                  <a:srgbClr val="595959"/>
                </a:solidFill>
                <a:latin typeface="Quattrocento Sans" pitchFamily="34" charset="0"/>
                <a:ea typeface="Quattrocento Sans" pitchFamily="34" charset="-122"/>
                <a:cs typeface="Quattrocento Sans" pitchFamily="34" charset="-120"/>
              </a:rPr>
              <a:t>Dynamic complexity-based execution with category-aware routing</a:t>
            </a:r>
            <a:endParaRPr lang="en-US" sz="1600" dirty="0"/>
          </a:p>
        </p:txBody>
      </p:sp>
      <p:sp>
        <p:nvSpPr>
          <p:cNvPr id="40" name="Shape 36"/>
          <p:cNvSpPr/>
          <p:nvPr/>
        </p:nvSpPr>
        <p:spPr>
          <a:xfrm>
            <a:off x="11684000" y="7175500"/>
            <a:ext cx="3302000" cy="1206500"/>
          </a:xfrm>
          <a:prstGeom prst="rect">
            <a:avLst/>
          </a:prstGeom>
          <a:solidFill>
            <a:srgbClr val="FFFFFF"/>
          </a:solidFill>
          <a:ln w="12700">
            <a:solidFill>
              <a:srgbClr val="CBD5E1"/>
            </a:solidFill>
            <a:prstDash val="solid"/>
          </a:ln>
        </p:spPr>
      </p:sp>
      <p:sp>
        <p:nvSpPr>
          <p:cNvPr id="41" name="Shape 37"/>
          <p:cNvSpPr/>
          <p:nvPr/>
        </p:nvSpPr>
        <p:spPr>
          <a:xfrm>
            <a:off x="11684000" y="7175500"/>
            <a:ext cx="3302000" cy="63500"/>
          </a:xfrm>
          <a:prstGeom prst="rect">
            <a:avLst/>
          </a:prstGeom>
          <a:solidFill>
            <a:srgbClr val="AD7B53"/>
          </a:solidFill>
          <a:ln/>
        </p:spPr>
      </p:sp>
      <p:sp>
        <p:nvSpPr>
          <p:cNvPr id="42" name="Text 38"/>
          <p:cNvSpPr/>
          <p:nvPr/>
        </p:nvSpPr>
        <p:spPr>
          <a:xfrm>
            <a:off x="11785600" y="7302500"/>
            <a:ext cx="3098800" cy="254000"/>
          </a:xfrm>
          <a:prstGeom prst="rect">
            <a:avLst/>
          </a:prstGeom>
          <a:noFill/>
          <a:ln/>
        </p:spPr>
        <p:txBody>
          <a:bodyPr wrap="none" lIns="0" tIns="0" rIns="0" bIns="0" rtlCol="0" anchor="ctr"/>
          <a:lstStyle/>
          <a:p>
            <a:pPr>
              <a:lnSpc>
                <a:spcPct val="100000"/>
              </a:lnSpc>
            </a:pPr>
            <a:r>
              <a:rPr lang="en-US" sz="1300" b="1" dirty="0">
                <a:solidFill>
                  <a:srgbClr val="1C243B"/>
                </a:solidFill>
                <a:latin typeface="Quattrocento Sans" pitchFamily="34" charset="0"/>
                <a:ea typeface="Quattrocento Sans" pitchFamily="34" charset="-122"/>
                <a:cs typeface="Quattrocento Sans" pitchFamily="34" charset="-120"/>
              </a:rPr>
              <a:t>Multi-Agent + Verification</a:t>
            </a:r>
            <a:endParaRPr lang="en-US" sz="1600" dirty="0"/>
          </a:p>
        </p:txBody>
      </p:sp>
      <p:sp>
        <p:nvSpPr>
          <p:cNvPr id="43" name="Text 39"/>
          <p:cNvSpPr/>
          <p:nvPr/>
        </p:nvSpPr>
        <p:spPr>
          <a:xfrm>
            <a:off x="11785600" y="7594600"/>
            <a:ext cx="3098800" cy="698500"/>
          </a:xfrm>
          <a:prstGeom prst="rect">
            <a:avLst/>
          </a:prstGeom>
          <a:noFill/>
          <a:ln/>
        </p:spPr>
        <p:txBody>
          <a:bodyPr wrap="square" lIns="0" tIns="0" rIns="0" bIns="0" rtlCol="0" anchor="t"/>
          <a:lstStyle/>
          <a:p>
            <a:pPr>
              <a:lnSpc>
                <a:spcPct val="130000"/>
              </a:lnSpc>
            </a:pPr>
            <a:r>
              <a:rPr lang="en-US" sz="1100" dirty="0">
                <a:solidFill>
                  <a:srgbClr val="595959"/>
                </a:solidFill>
                <a:latin typeface="Quattrocento Sans" pitchFamily="34" charset="0"/>
                <a:ea typeface="Quattrocento Sans" pitchFamily="34" charset="-122"/>
                <a:cs typeface="Quattrocento Sans" pitchFamily="34" charset="-120"/>
              </a:rPr>
              <a:t>Parallel specialists + critic synthesis + hallucination detection</a:t>
            </a:r>
            <a:endParaRPr lang="en-US" sz="1600" dirty="0"/>
          </a:p>
        </p:txBody>
      </p:sp>
      <p:sp>
        <p:nvSpPr>
          <p:cNvPr id="45" name="Rectangle 1">
            <a:extLst>
              <a:ext uri="{FF2B5EF4-FFF2-40B4-BE49-F238E27FC236}">
                <a16:creationId xmlns:a16="http://schemas.microsoft.com/office/drawing/2014/main" id="{DB7258B4-A31B-E341-4EA3-2FF1F4F159CE}"/>
              </a:ext>
            </a:extLst>
          </p:cNvPr>
          <p:cNvSpPr>
            <a:spLocks noChangeArrowheads="1"/>
          </p:cNvSpPr>
          <p:nvPr/>
        </p:nvSpPr>
        <p:spPr bwMode="auto">
          <a:xfrm>
            <a:off x="6167036" y="1474709"/>
            <a:ext cx="856496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a:t>
            </a:r>
            <a:r>
              <a:rPr kumimoji="0" lang="en-US" altLang="en-US" sz="1400" b="0" i="0" u="none" strike="noStrike" cap="none" normalizeH="0" baseline="0" dirty="0" err="1">
                <a:ln>
                  <a:noFill/>
                </a:ln>
                <a:solidFill>
                  <a:schemeClr val="tx1"/>
                </a:solidFill>
                <a:effectLst/>
                <a:latin typeface="Arial" panose="020B0604020202020204" pitchFamily="34" charset="0"/>
              </a:rPr>
              <a:t>MedAidePlus</a:t>
            </a:r>
            <a:r>
              <a:rPr kumimoji="0" lang="en-US" altLang="en-US" sz="1400" b="0" i="0" u="none" strike="noStrike" cap="none" normalizeH="0" baseline="0" dirty="0">
                <a:ln>
                  <a:noFill/>
                </a:ln>
                <a:solidFill>
                  <a:schemeClr val="tx1"/>
                </a:solidFill>
                <a:effectLst/>
                <a:latin typeface="Arial" panose="020B0604020202020204" pitchFamily="34" charset="0"/>
              </a:rPr>
              <a:t> architecture is built on the principle that complex clinical queries cannot be reliably handled by a single generalized model. Instead, the system decomposes the problem into specialized functional modules, each addressing a distinct failure point observed in traditional medical AI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first group of modules focuses on </a:t>
            </a:r>
            <a:r>
              <a:rPr kumimoji="0" lang="en-US" altLang="en-US" sz="1400" b="1" i="0" u="none" strike="noStrike" cap="none" normalizeH="0" baseline="0" dirty="0">
                <a:ln>
                  <a:noFill/>
                </a:ln>
                <a:solidFill>
                  <a:schemeClr val="tx1"/>
                </a:solidFill>
                <a:effectLst/>
                <a:latin typeface="Arial" panose="020B0604020202020204" pitchFamily="34" charset="0"/>
              </a:rPr>
              <a:t>context and understanding</a:t>
            </a:r>
            <a:r>
              <a:rPr kumimoji="0" lang="en-US" altLang="en-US" sz="1400" b="0" i="0" u="none" strike="noStrike" cap="none" normalizeH="0" baseline="0" dirty="0">
                <a:ln>
                  <a:noFill/>
                </a:ln>
                <a:solidFill>
                  <a:schemeClr val="tx1"/>
                </a:solidFill>
                <a:effectLst/>
                <a:latin typeface="Arial" panose="020B0604020202020204" pitchFamily="34" charset="0"/>
              </a:rPr>
              <a:t>. Persistent memory enables longitudinal awareness of patient history, while query decomposition and hierarchical intent modeling ensure that complex, multi-faceted queries are interpreted with high semantic precision.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second group introduces </a:t>
            </a:r>
            <a:r>
              <a:rPr kumimoji="0" lang="en-US" altLang="en-US" sz="1400" b="1" i="0" u="none" strike="noStrike" cap="none" normalizeH="0" baseline="0" dirty="0">
                <a:ln>
                  <a:noFill/>
                </a:ln>
                <a:solidFill>
                  <a:schemeClr val="tx1"/>
                </a:solidFill>
                <a:effectLst/>
                <a:latin typeface="Arial" panose="020B0604020202020204" pitchFamily="34" charset="0"/>
              </a:rPr>
              <a:t>adaptation and control</a:t>
            </a:r>
            <a:r>
              <a:rPr kumimoji="0" lang="en-US" altLang="en-US" sz="1400" b="0" i="0" u="none" strike="noStrike" cap="none" normalizeH="0" baseline="0" dirty="0">
                <a:ln>
                  <a:noFill/>
                </a:ln>
                <a:solidFill>
                  <a:schemeClr val="tx1"/>
                </a:solidFill>
                <a:effectLst/>
                <a:latin typeface="Arial" panose="020B0604020202020204" pitchFamily="34" charset="0"/>
              </a:rPr>
              <a:t>. Multi-turn intent tracking preserves conversational continuity, and complexity-aware routing dynamically determines the level of computational effort required, preventing both under-processing of difficult queries and overuse of resources on simple ones.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final group is responsible for </a:t>
            </a:r>
            <a:r>
              <a:rPr kumimoji="0" lang="en-US" altLang="en-US" sz="1400" b="1" i="0" u="none" strike="noStrike" cap="none" normalizeH="0" baseline="0" dirty="0">
                <a:ln>
                  <a:noFill/>
                </a:ln>
                <a:solidFill>
                  <a:schemeClr val="tx1"/>
                </a:solidFill>
                <a:effectLst/>
                <a:latin typeface="Arial" panose="020B0604020202020204" pitchFamily="34" charset="0"/>
              </a:rPr>
              <a:t>execution and reliability</a:t>
            </a:r>
            <a:r>
              <a:rPr kumimoji="0" lang="en-US" altLang="en-US" sz="1400" b="0" i="0" u="none" strike="noStrike" cap="none" normalizeH="0" baseline="0" dirty="0">
                <a:ln>
                  <a:noFill/>
                </a:ln>
                <a:solidFill>
                  <a:schemeClr val="tx1"/>
                </a:solidFill>
                <a:effectLst/>
                <a:latin typeface="Arial" panose="020B0604020202020204" pitchFamily="34" charset="0"/>
              </a:rPr>
              <a:t>. Multi-agent collaboration allows domain-specific reasoning in parallel, while critic-guided synthesis ensures coherent integration of outputs. This is reinforced by a dedicated verification layer that explicitly detects and flags unsupported claims, addressing hallucination risks.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Together, these modules form a pipeline where each stage incrementally improves correctness, contextual grounding, and robustness. The design ensures that errors are localized, decisions are interpretable, and the system remains scalable across diverse clinical scenarios.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Shape 5"/>
          <p:cNvSpPr/>
          <p:nvPr/>
        </p:nvSpPr>
        <p:spPr>
          <a:xfrm>
            <a:off x="6731000" y="76200"/>
            <a:ext cx="2032000" cy="508000"/>
          </a:xfrm>
          <a:prstGeom prst="rect">
            <a:avLst/>
          </a:prstGeom>
          <a:solidFill>
            <a:srgbClr val="FFFFFF">
              <a:alpha val="18824"/>
            </a:srgbClr>
          </a:solidFill>
          <a:ln/>
        </p:spPr>
      </p:sp>
      <p:sp>
        <p:nvSpPr>
          <p:cNvPr id="8" name="Text 6"/>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8</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2296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3566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Module Interaction &amp; Routing Decisions</a:t>
            </a:r>
            <a:endParaRPr lang="en-US" sz="2800" dirty="0"/>
          </a:p>
        </p:txBody>
      </p:sp>
      <p:sp>
        <p:nvSpPr>
          <p:cNvPr id="25" name="Shape 22"/>
          <p:cNvSpPr/>
          <p:nvPr/>
        </p:nvSpPr>
        <p:spPr>
          <a:xfrm>
            <a:off x="1270000" y="1244600"/>
            <a:ext cx="762000" cy="50800"/>
          </a:xfrm>
          <a:prstGeom prst="rect">
            <a:avLst/>
          </a:prstGeom>
          <a:solidFill>
            <a:srgbClr val="2E7D32"/>
          </a:solidFill>
          <a:ln/>
        </p:spPr>
      </p:sp>
      <p:pic>
        <p:nvPicPr>
          <p:cNvPr id="26" name="Image 1" descr="https://kimi-img.moonshot.cn/pub/slides/okc/nqxj6awjc7f7i/mnt/agents/output/medaideplus/images/image_4.png"/>
          <p:cNvPicPr>
            <a:picLocks noChangeAspect="1"/>
          </p:cNvPicPr>
          <p:nvPr/>
        </p:nvPicPr>
        <p:blipFill>
          <a:blip r:embed="rId4"/>
          <a:srcRect l="-24834" r="-24834"/>
          <a:stretch/>
        </p:blipFill>
        <p:spPr>
          <a:xfrm>
            <a:off x="1270000" y="1460500"/>
            <a:ext cx="6731000" cy="5080000"/>
          </a:xfrm>
          <a:prstGeom prst="rect">
            <a:avLst/>
          </a:prstGeom>
        </p:spPr>
      </p:pic>
      <p:sp>
        <p:nvSpPr>
          <p:cNvPr id="27" name="Text 23"/>
          <p:cNvSpPr/>
          <p:nvPr/>
        </p:nvSpPr>
        <p:spPr>
          <a:xfrm>
            <a:off x="1270000" y="6604000"/>
            <a:ext cx="6731000" cy="863600"/>
          </a:xfrm>
          <a:prstGeom prst="rect">
            <a:avLst/>
          </a:prstGeom>
          <a:noFill/>
          <a:ln/>
        </p:spPr>
        <p:txBody>
          <a:bodyPr wrap="square" lIns="0" tIns="0" rIns="0" bIns="0" rtlCol="0" anchor="t"/>
          <a:lstStyle/>
          <a:p>
            <a:pPr algn="ctr">
              <a:lnSpc>
                <a:spcPct val="130000"/>
              </a:lnSpc>
            </a:pPr>
            <a:r>
              <a:rPr lang="en-US" sz="1100" b="1" dirty="0">
                <a:solidFill>
                  <a:srgbClr val="595959"/>
                </a:solidFill>
                <a:latin typeface="Quattrocento Sans" pitchFamily="34" charset="0"/>
                <a:ea typeface="Quattrocento Sans" pitchFamily="34" charset="-122"/>
                <a:cs typeface="Quattrocento Sans" pitchFamily="34" charset="-120"/>
              </a:rPr>
              <a:t>Fig. 2</a:t>
            </a:r>
            <a:r>
              <a:rPr lang="en-US" sz="1100" dirty="0">
                <a:solidFill>
                  <a:srgbClr val="595959"/>
                </a:solidFill>
                <a:latin typeface="Quattrocento Sans" pitchFamily="34" charset="0"/>
                <a:ea typeface="Quattrocento Sans" pitchFamily="34" charset="-122"/>
                <a:cs typeface="Quattrocento Sans" pitchFamily="34" charset="-120"/>
              </a:rPr>
              <a:t> - Module Interaction Block Diagram. Data flow between seven modules, six specialist agents, and three knowledge stores (FAISS, BM25, Patient Graphs). Solid arrows: data transfer; dashed: conditional paths.</a:t>
            </a:r>
            <a:endParaRPr lang="en-US" sz="1600" dirty="0"/>
          </a:p>
        </p:txBody>
      </p:sp>
      <p:pic>
        <p:nvPicPr>
          <p:cNvPr id="28" name="Image 2" descr="https://kimi-img.moonshot.cn/pub/slides/okc/nqxj6awjc7f7i/mnt/agents/output/medaideplus/images/image_5.png"/>
          <p:cNvPicPr>
            <a:picLocks noChangeAspect="1"/>
          </p:cNvPicPr>
          <p:nvPr/>
        </p:nvPicPr>
        <p:blipFill>
          <a:blip r:embed="rId5"/>
          <a:srcRect l="-24843" r="-24843"/>
          <a:stretch/>
        </p:blipFill>
        <p:spPr>
          <a:xfrm>
            <a:off x="8255000" y="1460500"/>
            <a:ext cx="6731000" cy="5080000"/>
          </a:xfrm>
          <a:prstGeom prst="rect">
            <a:avLst/>
          </a:prstGeom>
        </p:spPr>
      </p:pic>
      <p:sp>
        <p:nvSpPr>
          <p:cNvPr id="29" name="Text 24"/>
          <p:cNvSpPr/>
          <p:nvPr/>
        </p:nvSpPr>
        <p:spPr>
          <a:xfrm>
            <a:off x="8255000" y="6604000"/>
            <a:ext cx="6731000" cy="635000"/>
          </a:xfrm>
          <a:prstGeom prst="rect">
            <a:avLst/>
          </a:prstGeom>
          <a:noFill/>
          <a:ln/>
        </p:spPr>
        <p:txBody>
          <a:bodyPr wrap="square" lIns="0" tIns="0" rIns="0" bIns="0" rtlCol="0" anchor="t"/>
          <a:lstStyle/>
          <a:p>
            <a:pPr algn="ctr">
              <a:lnSpc>
                <a:spcPct val="130000"/>
              </a:lnSpc>
            </a:pPr>
            <a:r>
              <a:rPr lang="en-US" sz="1100" b="1" dirty="0">
                <a:solidFill>
                  <a:srgbClr val="595959"/>
                </a:solidFill>
                <a:latin typeface="Quattrocento Sans" pitchFamily="34" charset="0"/>
                <a:ea typeface="Quattrocento Sans" pitchFamily="34" charset="-122"/>
                <a:cs typeface="Quattrocento Sans" pitchFamily="34" charset="-120"/>
              </a:rPr>
              <a:t>Fig. 3</a:t>
            </a:r>
            <a:r>
              <a:rPr lang="en-US" sz="1100" dirty="0">
                <a:solidFill>
                  <a:srgbClr val="595959"/>
                </a:solidFill>
                <a:latin typeface="Quattrocento Sans" pitchFamily="34" charset="0"/>
                <a:ea typeface="Quattrocento Sans" pitchFamily="34" charset="-122"/>
                <a:cs typeface="Quattrocento Sans" pitchFamily="34" charset="-120"/>
              </a:rPr>
              <a:t> - Category-Aware Routing. M6 AQCR: hint bypasses classifier for direct specialist mapping. RoBERTa classifies complexity as Simple (1), Moderate (2), or Complex (4 + Critic + Synthesis).</a:t>
            </a:r>
            <a:endParaRPr lang="en-US" sz="1600" dirty="0"/>
          </a:p>
        </p:txBody>
      </p:sp>
      <p:sp>
        <p:nvSpPr>
          <p:cNvPr id="30" name="Shape 25"/>
          <p:cNvSpPr/>
          <p:nvPr/>
        </p:nvSpPr>
        <p:spPr>
          <a:xfrm>
            <a:off x="1270000" y="7556500"/>
            <a:ext cx="4445000" cy="952500"/>
          </a:xfrm>
          <a:prstGeom prst="rect">
            <a:avLst/>
          </a:prstGeom>
          <a:solidFill>
            <a:srgbClr val="E8ECF3"/>
          </a:solidFill>
          <a:ln/>
        </p:spPr>
      </p:sp>
      <p:sp>
        <p:nvSpPr>
          <p:cNvPr id="31" name="Shape 26"/>
          <p:cNvSpPr/>
          <p:nvPr/>
        </p:nvSpPr>
        <p:spPr>
          <a:xfrm>
            <a:off x="1270000" y="7556500"/>
            <a:ext cx="63500" cy="952500"/>
          </a:xfrm>
          <a:prstGeom prst="rect">
            <a:avLst/>
          </a:prstGeom>
          <a:solidFill>
            <a:srgbClr val="2E7D32"/>
          </a:solidFill>
          <a:ln/>
        </p:spPr>
      </p:sp>
      <p:sp>
        <p:nvSpPr>
          <p:cNvPr id="32" name="Text 27"/>
          <p:cNvSpPr/>
          <p:nvPr/>
        </p:nvSpPr>
        <p:spPr>
          <a:xfrm>
            <a:off x="1460500" y="7620000"/>
            <a:ext cx="4127500" cy="825500"/>
          </a:xfrm>
          <a:prstGeom prst="rect">
            <a:avLst/>
          </a:prstGeom>
          <a:noFill/>
          <a:ln/>
        </p:spPr>
        <p:txBody>
          <a:bodyPr wrap="square" lIns="0" tIns="0" rIns="0" bIns="0" rtlCol="0" anchor="ctr"/>
          <a:lstStyle/>
          <a:p>
            <a:pPr>
              <a:lnSpc>
                <a:spcPct val="140000"/>
              </a:lnSpc>
            </a:pPr>
            <a:r>
              <a:rPr lang="en-US" sz="1200" b="1" dirty="0">
                <a:solidFill>
                  <a:srgbClr val="1E293B"/>
                </a:solidFill>
                <a:latin typeface="Quattrocento Sans" pitchFamily="34" charset="0"/>
                <a:ea typeface="Quattrocento Sans" pitchFamily="34" charset="-122"/>
                <a:cs typeface="Quattrocento Sans" pitchFamily="34" charset="-120"/>
              </a:rPr>
              <a:t>6 specialist agents</a:t>
            </a:r>
            <a:r>
              <a:rPr lang="en-US" sz="1200" dirty="0">
                <a:solidFill>
                  <a:srgbClr val="1E293B"/>
                </a:solidFill>
                <a:latin typeface="Quattrocento Sans" pitchFamily="34" charset="0"/>
                <a:ea typeface="Quattrocento Sans" pitchFamily="34" charset="-122"/>
                <a:cs typeface="Quattrocento Sans" pitchFamily="34" charset="-120"/>
              </a:rPr>
              <a:t> across 4 clinical categories, with critic-guided synthesis for coherent final responses.</a:t>
            </a:r>
            <a:endParaRPr lang="en-US" sz="1600" dirty="0"/>
          </a:p>
        </p:txBody>
      </p:sp>
      <p:sp>
        <p:nvSpPr>
          <p:cNvPr id="33" name="Shape 28"/>
          <p:cNvSpPr/>
          <p:nvPr/>
        </p:nvSpPr>
        <p:spPr>
          <a:xfrm>
            <a:off x="5905500" y="7556500"/>
            <a:ext cx="4445000" cy="952500"/>
          </a:xfrm>
          <a:prstGeom prst="rect">
            <a:avLst/>
          </a:prstGeom>
          <a:solidFill>
            <a:srgbClr val="E8ECF3"/>
          </a:solidFill>
          <a:ln/>
        </p:spPr>
      </p:sp>
      <p:sp>
        <p:nvSpPr>
          <p:cNvPr id="34" name="Shape 29"/>
          <p:cNvSpPr/>
          <p:nvPr/>
        </p:nvSpPr>
        <p:spPr>
          <a:xfrm>
            <a:off x="5905500" y="7556500"/>
            <a:ext cx="63500" cy="952500"/>
          </a:xfrm>
          <a:prstGeom prst="rect">
            <a:avLst/>
          </a:prstGeom>
          <a:solidFill>
            <a:srgbClr val="AD7B53"/>
          </a:solidFill>
          <a:ln/>
        </p:spPr>
      </p:sp>
      <p:sp>
        <p:nvSpPr>
          <p:cNvPr id="35" name="Text 30"/>
          <p:cNvSpPr/>
          <p:nvPr/>
        </p:nvSpPr>
        <p:spPr>
          <a:xfrm>
            <a:off x="6096000" y="7620000"/>
            <a:ext cx="4127500" cy="825500"/>
          </a:xfrm>
          <a:prstGeom prst="rect">
            <a:avLst/>
          </a:prstGeom>
          <a:noFill/>
          <a:ln/>
        </p:spPr>
        <p:txBody>
          <a:bodyPr wrap="square" lIns="0" tIns="0" rIns="0" bIns="0" rtlCol="0" anchor="ctr"/>
          <a:lstStyle/>
          <a:p>
            <a:pPr>
              <a:lnSpc>
                <a:spcPct val="140000"/>
              </a:lnSpc>
            </a:pPr>
            <a:r>
              <a:rPr lang="en-US" sz="1200" b="1" dirty="0">
                <a:solidFill>
                  <a:srgbClr val="1E293B"/>
                </a:solidFill>
                <a:latin typeface="Quattrocento Sans" pitchFamily="34" charset="0"/>
                <a:ea typeface="Quattrocento Sans" pitchFamily="34" charset="-122"/>
                <a:cs typeface="Quattrocento Sans" pitchFamily="34" charset="-120"/>
              </a:rPr>
              <a:t>3 knowledge stores</a:t>
            </a:r>
            <a:r>
              <a:rPr lang="en-US" sz="1200" dirty="0">
                <a:solidFill>
                  <a:srgbClr val="1E293B"/>
                </a:solidFill>
                <a:latin typeface="Quattrocento Sans" pitchFamily="34" charset="0"/>
                <a:ea typeface="Quattrocento Sans" pitchFamily="34" charset="-122"/>
                <a:cs typeface="Quattrocento Sans" pitchFamily="34" charset="-120"/>
              </a:rPr>
              <a:t> (FAISS dense, BM25 sparse, Patient Graphs) for comprehensive retrieval.</a:t>
            </a:r>
            <a:endParaRPr lang="en-US" sz="1600" dirty="0"/>
          </a:p>
        </p:txBody>
      </p:sp>
      <p:sp>
        <p:nvSpPr>
          <p:cNvPr id="36" name="Shape 31"/>
          <p:cNvSpPr/>
          <p:nvPr/>
        </p:nvSpPr>
        <p:spPr>
          <a:xfrm>
            <a:off x="10541000" y="7556500"/>
            <a:ext cx="4445000" cy="952500"/>
          </a:xfrm>
          <a:prstGeom prst="rect">
            <a:avLst/>
          </a:prstGeom>
          <a:solidFill>
            <a:srgbClr val="E8ECF3"/>
          </a:solidFill>
          <a:ln/>
        </p:spPr>
      </p:sp>
      <p:sp>
        <p:nvSpPr>
          <p:cNvPr id="37" name="Shape 32"/>
          <p:cNvSpPr/>
          <p:nvPr/>
        </p:nvSpPr>
        <p:spPr>
          <a:xfrm>
            <a:off x="10541000" y="7556500"/>
            <a:ext cx="63500" cy="952500"/>
          </a:xfrm>
          <a:prstGeom prst="rect">
            <a:avLst/>
          </a:prstGeom>
          <a:solidFill>
            <a:srgbClr val="2E7D32"/>
          </a:solidFill>
          <a:ln/>
        </p:spPr>
      </p:sp>
      <p:sp>
        <p:nvSpPr>
          <p:cNvPr id="38" name="Text 33"/>
          <p:cNvSpPr/>
          <p:nvPr/>
        </p:nvSpPr>
        <p:spPr>
          <a:xfrm>
            <a:off x="10731500" y="7620000"/>
            <a:ext cx="4127500" cy="571500"/>
          </a:xfrm>
          <a:prstGeom prst="rect">
            <a:avLst/>
          </a:prstGeom>
          <a:noFill/>
          <a:ln/>
        </p:spPr>
        <p:txBody>
          <a:bodyPr wrap="square" lIns="0" tIns="0" rIns="0" bIns="0" rtlCol="0" anchor="ctr"/>
          <a:lstStyle/>
          <a:p>
            <a:pPr>
              <a:lnSpc>
                <a:spcPct val="140000"/>
              </a:lnSpc>
            </a:pPr>
            <a:r>
              <a:rPr lang="en-US" sz="1200" b="1" dirty="0">
                <a:solidFill>
                  <a:srgbClr val="1E293B"/>
                </a:solidFill>
                <a:latin typeface="Quattrocento Sans" pitchFamily="34" charset="0"/>
                <a:ea typeface="Quattrocento Sans" pitchFamily="34" charset="-122"/>
                <a:cs typeface="Quattrocento Sans" pitchFamily="34" charset="-120"/>
              </a:rPr>
              <a:t>Complexity-aware dispatch:</a:t>
            </a:r>
            <a:r>
              <a:rPr lang="en-US" sz="1200" dirty="0">
                <a:solidFill>
                  <a:srgbClr val="1E293B"/>
                </a:solidFill>
                <a:latin typeface="Quattrocento Sans" pitchFamily="34" charset="0"/>
                <a:ea typeface="Quattrocento Sans" pitchFamily="34" charset="-122"/>
                <a:cs typeface="Quattrocento Sans" pitchFamily="34" charset="-120"/>
              </a:rPr>
              <a:t> Simple (1 agent), Moderate (2 agents), Complex (4 + Critic + Synthesis).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Text 5"/>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8" name="Shape 6"/>
          <p:cNvSpPr/>
          <p:nvPr/>
        </p:nvSpPr>
        <p:spPr>
          <a:xfrm>
            <a:off x="8890000" y="76200"/>
            <a:ext cx="2032000" cy="508000"/>
          </a:xfrm>
          <a:prstGeom prst="rect">
            <a:avLst/>
          </a:prstGeom>
          <a:solidFill>
            <a:srgbClr val="FFFFFF">
              <a:alpha val="18824"/>
            </a:srgbClr>
          </a:solidFill>
          <a:ln/>
        </p:spPr>
      </p:sp>
      <p:sp>
        <p:nvSpPr>
          <p:cNvPr id="9" name="Text 7"/>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9</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5344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6614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Implementation: Tools &amp; Technology</a:t>
            </a:r>
            <a:endParaRPr lang="en-US" sz="2800" dirty="0"/>
          </a:p>
        </p:txBody>
      </p:sp>
      <p:sp>
        <p:nvSpPr>
          <p:cNvPr id="25" name="Shape 22"/>
          <p:cNvSpPr/>
          <p:nvPr/>
        </p:nvSpPr>
        <p:spPr>
          <a:xfrm>
            <a:off x="1270000" y="1244600"/>
            <a:ext cx="762000" cy="50800"/>
          </a:xfrm>
          <a:prstGeom prst="rect">
            <a:avLst/>
          </a:prstGeom>
          <a:solidFill>
            <a:srgbClr val="2E7D32"/>
          </a:solidFill>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270000" y="1460500"/>
          <a:ext cx="13716000" cy="4648198"/>
        </p:xfrm>
        <a:graphic>
          <a:graphicData uri="http://schemas.openxmlformats.org/drawingml/2006/table">
            <a:tbl>
              <a:tblPr/>
              <a:tblGrid>
                <a:gridCol w="2057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6995160">
                  <a:extLst>
                    <a:ext uri="{9D8B030D-6E8A-4147-A177-3AD203B41FA5}">
                      <a16:colId xmlns:a16="http://schemas.microsoft.com/office/drawing/2014/main" val="20003"/>
                    </a:ext>
                  </a:extLst>
                </a:gridCol>
              </a:tblGrid>
              <a:tr h="420248">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Category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Tool / Library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Version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Role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extLst>
                  <a:ext uri="{0D108BD9-81ED-4DB2-BD59-A6C34878D82A}">
                    <a16:rowId xmlns:a16="http://schemas.microsoft.com/office/drawing/2014/main" val="10000"/>
                  </a:ext>
                </a:extLst>
              </a:tr>
              <a:tr h="420248">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Language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Python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3.10+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Primary implementation, asyncio concurrent execution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248">
                <a:tc rowSpan="4">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Deep Learning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PyTorch</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Neural network backend for BioBERT, Flan-T5, RoBERTa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2"/>
                  </a:ext>
                </a:extLst>
              </a:tr>
              <a:tr h="420248">
                <a:tc vMerge="1">
                  <a:txBody>
                    <a:bodyPr/>
                    <a:lstStyle/>
                    <a:p>
                      <a:endParaRPr lang="en-US"/>
                    </a:p>
                  </a:txBody>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Transformers (HF)</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4.40+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Pretrained model loading and inference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248">
                <a:tc vMerge="1">
                  <a:txBody>
                    <a:bodyPr/>
                    <a:lstStyle/>
                    <a:p>
                      <a:endParaRPr lang="en-US"/>
                    </a:p>
                  </a:txBody>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sentence-transformers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Sentence embedding for FAISS and MC Dropout</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420248">
                <a:tc vMerge="1">
                  <a:txBody>
                    <a:bodyPr/>
                    <a:lstStyle/>
                    <a:p>
                      <a:endParaRPr lang="en-US"/>
                    </a:p>
                  </a:txBody>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NLP / NER</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spaCy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248">
                <a:tc rowSpan="2">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Retrieval</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FAISS-CPU</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1.7.4+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Dense claim verification in M5 HDFG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6"/>
                  </a:ext>
                </a:extLst>
              </a:tr>
              <a:tr h="420248">
                <a:tc vMerge="1">
                  <a:txBody>
                    <a:bodyPr/>
                    <a:lstStyle/>
                    <a:p>
                      <a:endParaRPr lang="en-US"/>
                    </a:p>
                  </a:txBody>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rank-bm25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0.2.2+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Recency-weighted sparse retrieval in M1 AMQU</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248">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Graph DB</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NetworkX</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Patient knowledge graph construction and traversal (M4)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8"/>
                  </a:ext>
                </a:extLst>
              </a:tr>
              <a:tr h="420248">
                <a:tc rowSpan="2">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LLM Backend</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Ollama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latest</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Local open-weight model serving (qwen3:8b, gemma3:4b, phi4:14b)</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45718">
                <a:tc vMerge="1">
                  <a:txBody>
                    <a:bodyPr/>
                    <a:lstStyle/>
                    <a:p>
                      <a:endParaRPr lang="en-US"/>
                    </a:p>
                  </a:txBody>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openai SDK</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1.30+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Agent call abstraction layer (OpenAI-compatible endpoint)</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10"/>
                  </a:ext>
                </a:extLst>
              </a:tr>
            </a:tbl>
          </a:graphicData>
        </a:graphic>
      </p:graphicFrame>
      <p:sp>
        <p:nvSpPr>
          <p:cNvPr id="27" name="Shape 23"/>
          <p:cNvSpPr/>
          <p:nvPr/>
        </p:nvSpPr>
        <p:spPr>
          <a:xfrm>
            <a:off x="1270000" y="6731000"/>
            <a:ext cx="6604000" cy="1651000"/>
          </a:xfrm>
          <a:prstGeom prst="rect">
            <a:avLst/>
          </a:prstGeom>
          <a:solidFill>
            <a:srgbClr val="FFFFFF"/>
          </a:solidFill>
          <a:ln w="12700">
            <a:solidFill>
              <a:srgbClr val="CBD5E1"/>
            </a:solidFill>
            <a:prstDash val="solid"/>
          </a:ln>
        </p:spPr>
      </p:sp>
      <p:sp>
        <p:nvSpPr>
          <p:cNvPr id="28" name="Shape 24"/>
          <p:cNvSpPr/>
          <p:nvPr/>
        </p:nvSpPr>
        <p:spPr>
          <a:xfrm>
            <a:off x="1270000" y="6731000"/>
            <a:ext cx="6604000" cy="63500"/>
          </a:xfrm>
          <a:prstGeom prst="rect">
            <a:avLst/>
          </a:prstGeom>
          <a:solidFill>
            <a:srgbClr val="2E7D32"/>
          </a:solidFill>
          <a:ln/>
        </p:spPr>
      </p:sp>
      <p:sp>
        <p:nvSpPr>
          <p:cNvPr id="29" name="Text 25"/>
          <p:cNvSpPr/>
          <p:nvPr/>
        </p:nvSpPr>
        <p:spPr>
          <a:xfrm>
            <a:off x="1460500" y="6858000"/>
            <a:ext cx="6223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Evaluation Stack</a:t>
            </a:r>
            <a:endParaRPr lang="en-US" sz="1600" dirty="0"/>
          </a:p>
        </p:txBody>
      </p:sp>
      <p:sp>
        <p:nvSpPr>
          <p:cNvPr id="30" name="Text 26"/>
          <p:cNvSpPr/>
          <p:nvPr/>
        </p:nvSpPr>
        <p:spPr>
          <a:xfrm>
            <a:off x="1460500" y="7213600"/>
            <a:ext cx="6223000" cy="10795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NLTK 3.8+ (BLEU-1/2, GLEU, METEOR), rouge-score 0.1+ (ROUGE-L), bertscore 0.3+ (BERTScore with distilbert-base-uncased). All pinned in requirements.txt for reproducibility.</a:t>
            </a:r>
            <a:endParaRPr lang="en-US" sz="1600" dirty="0"/>
          </a:p>
        </p:txBody>
      </p:sp>
      <p:sp>
        <p:nvSpPr>
          <p:cNvPr id="31" name="Shape 27"/>
          <p:cNvSpPr/>
          <p:nvPr/>
        </p:nvSpPr>
        <p:spPr>
          <a:xfrm>
            <a:off x="8128000" y="6731000"/>
            <a:ext cx="6858000" cy="1651000"/>
          </a:xfrm>
          <a:prstGeom prst="rect">
            <a:avLst/>
          </a:prstGeom>
          <a:solidFill>
            <a:srgbClr val="FFFFFF"/>
          </a:solidFill>
          <a:ln w="12700">
            <a:solidFill>
              <a:srgbClr val="CBD5E1"/>
            </a:solidFill>
            <a:prstDash val="solid"/>
          </a:ln>
        </p:spPr>
      </p:sp>
      <p:sp>
        <p:nvSpPr>
          <p:cNvPr id="32" name="Shape 28"/>
          <p:cNvSpPr/>
          <p:nvPr/>
        </p:nvSpPr>
        <p:spPr>
          <a:xfrm>
            <a:off x="8128000" y="6731000"/>
            <a:ext cx="6858000" cy="63500"/>
          </a:xfrm>
          <a:prstGeom prst="rect">
            <a:avLst/>
          </a:prstGeom>
          <a:solidFill>
            <a:srgbClr val="AD7B53"/>
          </a:solidFill>
          <a:ln/>
        </p:spPr>
      </p:sp>
      <p:sp>
        <p:nvSpPr>
          <p:cNvPr id="33" name="Text 29"/>
          <p:cNvSpPr/>
          <p:nvPr/>
        </p:nvSpPr>
        <p:spPr>
          <a:xfrm>
            <a:off x="8318500" y="6858000"/>
            <a:ext cx="6477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Hardware &amp; Reproducibility</a:t>
            </a:r>
            <a:endParaRPr lang="en-US" sz="1600" dirty="0"/>
          </a:p>
        </p:txBody>
      </p:sp>
      <p:sp>
        <p:nvSpPr>
          <p:cNvPr id="34" name="Text 30"/>
          <p:cNvSpPr/>
          <p:nvPr/>
        </p:nvSpPr>
        <p:spPr>
          <a:xfrm>
            <a:off x="8318500" y="7213600"/>
            <a:ext cx="6477000" cy="10795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NVIDIA RTX 3070 Laptop GPU (8GB VRAM). Temperature=0, fixed seed for all benchmark runs. Patient graph cleanup enforced at benchmark start. Module isolation: ML modules release VRAM before agent inference.</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Text 5"/>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8" name="Text 6"/>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9" name="Shape 7"/>
          <p:cNvSpPr/>
          <p:nvPr/>
        </p:nvSpPr>
        <p:spPr>
          <a:xfrm>
            <a:off x="11049000" y="76200"/>
            <a:ext cx="2032000" cy="508000"/>
          </a:xfrm>
          <a:prstGeom prst="rect">
            <a:avLst/>
          </a:prstGeom>
          <a:solidFill>
            <a:srgbClr val="FFFFFF">
              <a:alpha val="18824"/>
            </a:srgbClr>
          </a:solidFill>
          <a:ln/>
        </p:spPr>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10</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2296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3566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Main Results: MedAide+ Wins All 18/18 Comparisons</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371600"/>
            <a:ext cx="13716000" cy="279400"/>
          </a:xfrm>
          <a:prstGeom prst="rect">
            <a:avLst/>
          </a:prstGeom>
          <a:noFill/>
          <a:ln/>
        </p:spPr>
        <p:txBody>
          <a:bodyPr wrap="none" lIns="0" tIns="0" rIns="0" bIns="0" rtlCol="0" anchor="ctr"/>
          <a:lstStyle/>
          <a:p>
            <a:pPr>
              <a:lnSpc>
                <a:spcPct val="100000"/>
              </a:lnSpc>
            </a:pPr>
            <a:r>
              <a:rPr lang="en-US" sz="1200" dirty="0">
                <a:solidFill>
                  <a:srgbClr val="595959"/>
                </a:solidFill>
                <a:latin typeface="Quattrocento Sans" pitchFamily="34" charset="0"/>
                <a:ea typeface="Quattrocento Sans" pitchFamily="34" charset="-122"/>
                <a:cs typeface="Quattrocento Sans" pitchFamily="34" charset="-120"/>
              </a:rPr>
              <a:t>V2 Benchmark: 3,000 instances (750/category) | 3 open-weight models via Ollama | 6 automatic metrics | Temperature=0</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270000" y="1752600"/>
          <a:ext cx="13716000" cy="3365500"/>
        </p:xfrm>
        <a:graphic>
          <a:graphicData uri="http://schemas.openxmlformats.org/drawingml/2006/table">
            <a:tbl>
              <a:tblPr/>
              <a:tblGrid>
                <a:gridCol w="30175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gridCol w="1783080">
                  <a:extLst>
                    <a:ext uri="{9D8B030D-6E8A-4147-A177-3AD203B41FA5}">
                      <a16:colId xmlns:a16="http://schemas.microsoft.com/office/drawing/2014/main" val="20006"/>
                    </a:ext>
                  </a:extLst>
                </a:gridCol>
              </a:tblGrid>
              <a:tr h="33655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Model / Condition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BLEU-1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BLEU-2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METEOR</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ROUGE-L</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BERTSc.</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GLEU</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extLst>
                  <a:ext uri="{0D108BD9-81ED-4DB2-BD59-A6C34878D82A}">
                    <a16:rowId xmlns:a16="http://schemas.microsoft.com/office/drawing/2014/main" val="10000"/>
                  </a:ext>
                </a:extLst>
              </a:tr>
              <a:tr h="33655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gemma3:4b 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24.79</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10.27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19.23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15.97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64.77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7.71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655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gemma3:4b 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28.91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14.14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22.68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18.99</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66.64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9.87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2"/>
                  </a:ext>
                </a:extLst>
              </a:tr>
              <a:tr h="336550">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Delta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+4.12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+3.87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+3.45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+3.02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+1.87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+2.16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655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qwen3:8b 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27.56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12.63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19.46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19.13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66.03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9.35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33655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qwen3:8b 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31.01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15.48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23.29</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22.00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68.67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10.98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6550">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Delta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+3.45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+2.85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+3.83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+2.87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+2.64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+1.63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6"/>
                  </a:ext>
                </a:extLst>
              </a:tr>
              <a:tr h="33655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phi4:14b 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10.33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4.64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7.56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13.52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35.34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6.22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655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phi4:14b 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13.96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7.56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10.75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15.97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46.61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7.80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8"/>
                  </a:ext>
                </a:extLst>
              </a:tr>
              <a:tr h="336550">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Delta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+3.63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+2.92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+3.19</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+2.45</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+11.27</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+1.58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8" name="Text 24"/>
          <p:cNvSpPr/>
          <p:nvPr/>
        </p:nvSpPr>
        <p:spPr>
          <a:xfrm>
            <a:off x="1270000" y="5969000"/>
            <a:ext cx="3810000" cy="317500"/>
          </a:xfrm>
          <a:prstGeom prst="rect">
            <a:avLst/>
          </a:prstGeom>
          <a:noFill/>
          <a:ln/>
        </p:spPr>
        <p:txBody>
          <a:bodyPr wrap="none" lIns="0" tIns="0" rIns="0" bIns="0" rtlCol="0" anchor="ctr"/>
          <a:lstStyle/>
          <a:p>
            <a:pPr>
              <a:lnSpc>
                <a:spcPct val="100000"/>
              </a:lnSpc>
            </a:pPr>
            <a:r>
              <a:rPr lang="en-US" sz="1600" b="1" dirty="0">
                <a:solidFill>
                  <a:srgbClr val="475569"/>
                </a:solidFill>
                <a:latin typeface="QuattrocentoSans" pitchFamily="34" charset="0"/>
                <a:ea typeface="QuattrocentoSans" pitchFamily="34" charset="-122"/>
                <a:cs typeface="QuattrocentoSans" pitchFamily="34" charset="-120"/>
              </a:rPr>
              <a:t>Key Insights by Model</a:t>
            </a:r>
            <a:endParaRPr lang="en-US" sz="2000" dirty="0"/>
          </a:p>
        </p:txBody>
      </p:sp>
      <p:sp>
        <p:nvSpPr>
          <p:cNvPr id="29" name="Shape 25"/>
          <p:cNvSpPr/>
          <p:nvPr/>
        </p:nvSpPr>
        <p:spPr>
          <a:xfrm>
            <a:off x="1270000" y="6350000"/>
            <a:ext cx="4445000" cy="1968500"/>
          </a:xfrm>
          <a:prstGeom prst="rect">
            <a:avLst/>
          </a:prstGeom>
          <a:solidFill>
            <a:srgbClr val="FFFFFF"/>
          </a:solidFill>
          <a:ln w="12700">
            <a:solidFill>
              <a:srgbClr val="CBD5E1"/>
            </a:solidFill>
            <a:prstDash val="solid"/>
          </a:ln>
        </p:spPr>
      </p:sp>
      <p:sp>
        <p:nvSpPr>
          <p:cNvPr id="30" name="Shape 26"/>
          <p:cNvSpPr/>
          <p:nvPr/>
        </p:nvSpPr>
        <p:spPr>
          <a:xfrm>
            <a:off x="1270000" y="6350000"/>
            <a:ext cx="4445000" cy="63500"/>
          </a:xfrm>
          <a:prstGeom prst="rect">
            <a:avLst/>
          </a:prstGeom>
          <a:solidFill>
            <a:srgbClr val="2E7D32"/>
          </a:solidFill>
          <a:ln/>
        </p:spPr>
      </p:sp>
      <p:sp>
        <p:nvSpPr>
          <p:cNvPr id="31" name="Text 27"/>
          <p:cNvSpPr/>
          <p:nvPr/>
        </p:nvSpPr>
        <p:spPr>
          <a:xfrm>
            <a:off x="1460500" y="6477000"/>
            <a:ext cx="4064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qwen3:8b (8B)</a:t>
            </a:r>
            <a:endParaRPr lang="en-US" sz="1600" dirty="0"/>
          </a:p>
        </p:txBody>
      </p:sp>
      <p:sp>
        <p:nvSpPr>
          <p:cNvPr id="32" name="Text 28"/>
          <p:cNvSpPr/>
          <p:nvPr/>
        </p:nvSpPr>
        <p:spPr>
          <a:xfrm>
            <a:off x="1460500" y="6794500"/>
            <a:ext cx="4064000" cy="1397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Consistent improvements across all 6 metrics. BLEU-1 </a:t>
            </a:r>
            <a:r>
              <a:rPr lang="en-US" sz="1200" b="1" dirty="0">
                <a:solidFill>
                  <a:srgbClr val="595959"/>
                </a:solidFill>
                <a:latin typeface="Quattrocento Sans" pitchFamily="34" charset="0"/>
                <a:ea typeface="Quattrocento Sans" pitchFamily="34" charset="-122"/>
                <a:cs typeface="Quattrocento Sans" pitchFamily="34" charset="-120"/>
              </a:rPr>
              <a:t>+12.5%</a:t>
            </a:r>
            <a:r>
              <a:rPr lang="en-US" sz="1200" dirty="0">
                <a:solidFill>
                  <a:srgbClr val="595959"/>
                </a:solidFill>
                <a:latin typeface="Quattrocento Sans" pitchFamily="34" charset="0"/>
                <a:ea typeface="Quattrocento Sans" pitchFamily="34" charset="-122"/>
                <a:cs typeface="Quattrocento Sans" pitchFamily="34" charset="-120"/>
              </a:rPr>
              <a:t> relative gain. METEOR </a:t>
            </a:r>
            <a:r>
              <a:rPr lang="en-US" sz="1200" b="1" dirty="0">
                <a:solidFill>
                  <a:srgbClr val="595959"/>
                </a:solidFill>
                <a:latin typeface="Quattrocento Sans" pitchFamily="34" charset="0"/>
                <a:ea typeface="Quattrocento Sans" pitchFamily="34" charset="-122"/>
                <a:cs typeface="Quattrocento Sans" pitchFamily="34" charset="-120"/>
              </a:rPr>
              <a:t>+19.7%</a:t>
            </a:r>
            <a:r>
              <a:rPr lang="en-US" sz="1200" dirty="0">
                <a:solidFill>
                  <a:srgbClr val="595959"/>
                </a:solidFill>
                <a:latin typeface="Quattrocento Sans" pitchFamily="34" charset="0"/>
                <a:ea typeface="Quattrocento Sans" pitchFamily="34" charset="-122"/>
                <a:cs typeface="Quattrocento Sans" pitchFamily="34" charset="-120"/>
              </a:rPr>
              <a:t> relative - synonym-level recall improvements. Validates category-aware routing + extractive synthesis.</a:t>
            </a:r>
            <a:endParaRPr lang="en-US" sz="1600" dirty="0"/>
          </a:p>
        </p:txBody>
      </p:sp>
      <p:sp>
        <p:nvSpPr>
          <p:cNvPr id="33" name="Shape 29"/>
          <p:cNvSpPr/>
          <p:nvPr/>
        </p:nvSpPr>
        <p:spPr>
          <a:xfrm>
            <a:off x="5905500" y="6350000"/>
            <a:ext cx="4445000" cy="1968500"/>
          </a:xfrm>
          <a:prstGeom prst="rect">
            <a:avLst/>
          </a:prstGeom>
          <a:solidFill>
            <a:srgbClr val="FFFFFF"/>
          </a:solidFill>
          <a:ln w="12700">
            <a:solidFill>
              <a:srgbClr val="CBD5E1"/>
            </a:solidFill>
            <a:prstDash val="solid"/>
          </a:ln>
        </p:spPr>
      </p:sp>
      <p:sp>
        <p:nvSpPr>
          <p:cNvPr id="34" name="Shape 30"/>
          <p:cNvSpPr/>
          <p:nvPr/>
        </p:nvSpPr>
        <p:spPr>
          <a:xfrm>
            <a:off x="5905500" y="6350000"/>
            <a:ext cx="4445000" cy="63500"/>
          </a:xfrm>
          <a:prstGeom prst="rect">
            <a:avLst/>
          </a:prstGeom>
          <a:solidFill>
            <a:srgbClr val="AD7B53"/>
          </a:solidFill>
          <a:ln/>
        </p:spPr>
      </p:sp>
      <p:sp>
        <p:nvSpPr>
          <p:cNvPr id="35" name="Text 31"/>
          <p:cNvSpPr/>
          <p:nvPr/>
        </p:nvSpPr>
        <p:spPr>
          <a:xfrm>
            <a:off x="6096000" y="6477000"/>
            <a:ext cx="4064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gemma3:4b (4B)</a:t>
            </a:r>
            <a:endParaRPr lang="en-US" sz="1600" dirty="0"/>
          </a:p>
        </p:txBody>
      </p:sp>
      <p:sp>
        <p:nvSpPr>
          <p:cNvPr id="36" name="Text 32"/>
          <p:cNvSpPr/>
          <p:nvPr/>
        </p:nvSpPr>
        <p:spPr>
          <a:xfrm>
            <a:off x="6096000" y="6794500"/>
            <a:ext cx="4064000" cy="1397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Meaningful gains even with compact 4B model. BLEU-1 </a:t>
            </a:r>
            <a:r>
              <a:rPr lang="en-US" sz="1200" b="1" dirty="0">
                <a:solidFill>
                  <a:srgbClr val="595959"/>
                </a:solidFill>
                <a:latin typeface="Quattrocento Sans" pitchFamily="34" charset="0"/>
                <a:ea typeface="Quattrocento Sans" pitchFamily="34" charset="-122"/>
                <a:cs typeface="Quattrocento Sans" pitchFamily="34" charset="-120"/>
              </a:rPr>
              <a:t>+16.6%</a:t>
            </a:r>
            <a:r>
              <a:rPr lang="en-US" sz="1200" dirty="0">
                <a:solidFill>
                  <a:srgbClr val="595959"/>
                </a:solidFill>
                <a:latin typeface="Quattrocento Sans" pitchFamily="34" charset="0"/>
                <a:ea typeface="Quattrocento Sans" pitchFamily="34" charset="-122"/>
                <a:cs typeface="Quattrocento Sans" pitchFamily="34" charset="-120"/>
              </a:rPr>
              <a:t> relative. Primary driver is routing correctness, not model capacity. Largest gains in Medication and Diagnosis categories.</a:t>
            </a:r>
            <a:endParaRPr lang="en-US" sz="1600" dirty="0"/>
          </a:p>
        </p:txBody>
      </p:sp>
      <p:sp>
        <p:nvSpPr>
          <p:cNvPr id="37" name="Shape 33"/>
          <p:cNvSpPr/>
          <p:nvPr/>
        </p:nvSpPr>
        <p:spPr>
          <a:xfrm>
            <a:off x="10541000" y="6350000"/>
            <a:ext cx="4445000" cy="1968500"/>
          </a:xfrm>
          <a:prstGeom prst="rect">
            <a:avLst/>
          </a:prstGeom>
          <a:solidFill>
            <a:srgbClr val="FFFFFF"/>
          </a:solidFill>
          <a:ln w="12700">
            <a:solidFill>
              <a:srgbClr val="CBD5E1"/>
            </a:solidFill>
            <a:prstDash val="solid"/>
          </a:ln>
        </p:spPr>
      </p:sp>
      <p:sp>
        <p:nvSpPr>
          <p:cNvPr id="38" name="Shape 34"/>
          <p:cNvSpPr/>
          <p:nvPr/>
        </p:nvSpPr>
        <p:spPr>
          <a:xfrm>
            <a:off x="10541000" y="6350000"/>
            <a:ext cx="4445000" cy="63500"/>
          </a:xfrm>
          <a:prstGeom prst="rect">
            <a:avLst/>
          </a:prstGeom>
          <a:solidFill>
            <a:srgbClr val="2E7D32"/>
          </a:solidFill>
          <a:ln/>
        </p:spPr>
      </p:sp>
      <p:sp>
        <p:nvSpPr>
          <p:cNvPr id="39" name="Text 35"/>
          <p:cNvSpPr/>
          <p:nvPr/>
        </p:nvSpPr>
        <p:spPr>
          <a:xfrm>
            <a:off x="10731500" y="6477000"/>
            <a:ext cx="4064000" cy="279400"/>
          </a:xfrm>
          <a:prstGeom prst="rect">
            <a:avLst/>
          </a:prstGeom>
          <a:noFill/>
          <a:ln/>
        </p:spPr>
        <p:txBody>
          <a:bodyPr wrap="none" lIns="0" tIns="0" rIns="0" bIns="0" rtlCol="0" anchor="ctr"/>
          <a:lstStyle/>
          <a:p>
            <a:pPr>
              <a:lnSpc>
                <a:spcPct val="100000"/>
              </a:lnSpc>
            </a:pPr>
            <a:r>
              <a:rPr lang="en-US" sz="1400" b="1" dirty="0">
                <a:solidFill>
                  <a:srgbClr val="1C243B"/>
                </a:solidFill>
                <a:latin typeface="Quattrocento Sans" pitchFamily="34" charset="0"/>
                <a:ea typeface="Quattrocento Sans" pitchFamily="34" charset="-122"/>
                <a:cs typeface="Quattrocento Sans" pitchFamily="34" charset="-120"/>
              </a:rPr>
              <a:t>phi4:14b (14B)</a:t>
            </a:r>
            <a:endParaRPr lang="en-US" sz="1600" dirty="0"/>
          </a:p>
        </p:txBody>
      </p:sp>
      <p:sp>
        <p:nvSpPr>
          <p:cNvPr id="40" name="Text 36"/>
          <p:cNvSpPr/>
          <p:nvPr/>
        </p:nvSpPr>
        <p:spPr>
          <a:xfrm>
            <a:off x="10731500" y="6794500"/>
            <a:ext cx="4064000" cy="13970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Most dramatic BERTScore improvement: </a:t>
            </a:r>
            <a:r>
              <a:rPr lang="en-US" sz="1200" b="1" dirty="0">
                <a:solidFill>
                  <a:srgbClr val="595959"/>
                </a:solidFill>
                <a:latin typeface="Quattrocento Sans" pitchFamily="34" charset="0"/>
                <a:ea typeface="Quattrocento Sans" pitchFamily="34" charset="-122"/>
                <a:cs typeface="Quattrocento Sans" pitchFamily="34" charset="-120"/>
              </a:rPr>
              <a:t>+11.27</a:t>
            </a:r>
            <a:r>
              <a:rPr lang="en-US" sz="1200" dirty="0">
                <a:solidFill>
                  <a:srgbClr val="595959"/>
                </a:solidFill>
                <a:latin typeface="Quattrocento Sans" pitchFamily="34" charset="0"/>
                <a:ea typeface="Quattrocento Sans" pitchFamily="34" charset="-122"/>
                <a:cs typeface="Quattrocento Sans" pitchFamily="34" charset="-120"/>
              </a:rPr>
              <a:t> points (35.34-&gt;46.61). BLEU-1 </a:t>
            </a:r>
            <a:r>
              <a:rPr lang="en-US" sz="1200" b="1" dirty="0">
                <a:solidFill>
                  <a:srgbClr val="595959"/>
                </a:solidFill>
                <a:latin typeface="Quattrocento Sans" pitchFamily="34" charset="0"/>
                <a:ea typeface="Quattrocento Sans" pitchFamily="34" charset="-122"/>
                <a:cs typeface="Quattrocento Sans" pitchFamily="34" charset="-120"/>
              </a:rPr>
              <a:t>+25.8%</a:t>
            </a:r>
            <a:r>
              <a:rPr lang="en-US" sz="1200" dirty="0">
                <a:solidFill>
                  <a:srgbClr val="595959"/>
                </a:solidFill>
                <a:latin typeface="Quattrocento Sans" pitchFamily="34" charset="0"/>
                <a:ea typeface="Quattrocento Sans" pitchFamily="34" charset="-122"/>
                <a:cs typeface="Quattrocento Sans" pitchFamily="34" charset="-120"/>
              </a:rPr>
              <a:t> relative - highest across all models. Chain-of-thought reasoning aligns with correct specialist routing.</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Text 5"/>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8" name="Text 6"/>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9" name="Shape 7"/>
          <p:cNvSpPr/>
          <p:nvPr/>
        </p:nvSpPr>
        <p:spPr>
          <a:xfrm>
            <a:off x="11049000" y="76200"/>
            <a:ext cx="2032000" cy="508000"/>
          </a:xfrm>
          <a:prstGeom prst="rect">
            <a:avLst/>
          </a:prstGeom>
          <a:solidFill>
            <a:srgbClr val="FFFFFF">
              <a:alpha val="18824"/>
            </a:srgbClr>
          </a:solidFill>
          <a:ln/>
        </p:spPr>
      </p:sp>
      <p:sp>
        <p:nvSpPr>
          <p:cNvPr id="10" name="Text 8"/>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11</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2296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3566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Per-Category Breakdown &amp; Ablation Study</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422400"/>
            <a:ext cx="6604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Per-Category BLEU-1 Scores (qwen3:8b)</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270000" y="1803400"/>
          <a:ext cx="6604000" cy="2006600"/>
        </p:xfrm>
        <a:graphic>
          <a:graphicData uri="http://schemas.openxmlformats.org/drawingml/2006/table">
            <a:tbl>
              <a:tblPr/>
              <a:tblGrid>
                <a:gridCol w="132080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gridCol w="1320800">
                  <a:extLst>
                    <a:ext uri="{9D8B030D-6E8A-4147-A177-3AD203B41FA5}">
                      <a16:colId xmlns:a16="http://schemas.microsoft.com/office/drawing/2014/main" val="20002"/>
                    </a:ext>
                  </a:extLst>
                </a:gridCol>
                <a:gridCol w="1320800">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tblGrid>
              <a:tr h="391224">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Condition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Pre-Diag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Diagnosis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Medication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Post-Diag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extLst>
                  <a:ext uri="{0D108BD9-81ED-4DB2-BD59-A6C34878D82A}">
                    <a16:rowId xmlns:a16="http://schemas.microsoft.com/office/drawing/2014/main" val="10000"/>
                  </a:ext>
                </a:extLst>
              </a:tr>
              <a:tr h="391224">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31.31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24.08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28.83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25.58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1224">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MedAide+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26.11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33.52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33.12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26.02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2"/>
                  </a:ext>
                </a:extLst>
              </a:tr>
              <a:tr h="391224">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Delta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DC2626"/>
                          </a:solidFill>
                          <a:latin typeface="QuattrocentoSans" pitchFamily="34" charset="0"/>
                          <a:ea typeface="QuattrocentoSans" pitchFamily="34" charset="-122"/>
                          <a:cs typeface="QuattrocentoSans" pitchFamily="34" charset="-120"/>
                        </a:rPr>
                        <a:t>-5.20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+9.44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+4.29</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+0.44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1704">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Why?</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Both use PreDiag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Routing fix</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Specialist + KB</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Open-ended</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bl>
          </a:graphicData>
        </a:graphic>
      </p:graphicFrame>
      <p:sp>
        <p:nvSpPr>
          <p:cNvPr id="28" name="Text 24"/>
          <p:cNvSpPr/>
          <p:nvPr/>
        </p:nvSpPr>
        <p:spPr>
          <a:xfrm>
            <a:off x="8128000" y="1422400"/>
            <a:ext cx="6858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Ablation Study (qwen3:8b, n=20)</a:t>
            </a:r>
            <a:endParaRPr lang="en-US" sz="16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8128000" y="1803400"/>
          <a:ext cx="6858000" cy="2286002"/>
        </p:xfrm>
        <a:graphic>
          <a:graphicData uri="http://schemas.openxmlformats.org/drawingml/2006/table">
            <a:tbl>
              <a:tblPr/>
              <a:tblGrid>
                <a:gridCol w="37719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77340">
                  <a:extLst>
                    <a:ext uri="{9D8B030D-6E8A-4147-A177-3AD203B41FA5}">
                      <a16:colId xmlns:a16="http://schemas.microsoft.com/office/drawing/2014/main" val="20002"/>
                    </a:ext>
                  </a:extLst>
                </a:gridCol>
              </a:tblGrid>
              <a:tr h="389374">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Configuration</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BLEU-1</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Delta</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43B"/>
                    </a:solidFill>
                  </a:tcPr>
                </a:tc>
                <a:extLst>
                  <a:ext uri="{0D108BD9-81ED-4DB2-BD59-A6C34878D82A}">
                    <a16:rowId xmlns:a16="http://schemas.microsoft.com/office/drawing/2014/main" val="10000"/>
                  </a:ext>
                </a:extLst>
              </a:tr>
              <a:tr h="389374">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MedAide (baseline)</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26.06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9374">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 M4-M7 (no routing fix)</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18.44</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DC2626"/>
                          </a:solidFill>
                          <a:latin typeface="QuattrocentoSans" pitchFamily="34" charset="0"/>
                          <a:ea typeface="QuattrocentoSans" pitchFamily="34" charset="-122"/>
                          <a:cs typeface="QuattrocentoSans" pitchFamily="34" charset="-120"/>
                        </a:rPr>
                        <a:t>-7.62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2"/>
                  </a:ext>
                </a:extLst>
              </a:tr>
              <a:tr h="389374">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 Extractive synthesis</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25.13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-0.93</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4253">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 Category-aware routing</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27.88</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+1.82</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364253">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 Patient graph isolation (full)</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28.26</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a:r>
                        <a:rPr lang="en-US" sz="1400" u="none" dirty="0">
                          <a:solidFill>
                            <a:srgbClr val="2E7D32"/>
                          </a:solidFill>
                          <a:latin typeface="QuattrocentoSans" pitchFamily="34" charset="0"/>
                          <a:ea typeface="QuattrocentoSans" pitchFamily="34" charset="-122"/>
                          <a:cs typeface="QuattrocentoSans" pitchFamily="34" charset="-120"/>
                        </a:rPr>
                        <a:t>+2.20</a:t>
                      </a:r>
                      <a:endParaRPr lang="en-US" sz="1400" dirty="0">
                        <a:latin typeface="QuattrocentoSans" charset="0"/>
                        <a:ea typeface="QuattrocentoSans" charset="0"/>
                        <a:cs typeface="QuattrocentoSans" charset="0"/>
                      </a:endParaRPr>
                    </a:p>
                  </a:txBody>
                  <a:tcPr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0" name="Text 25"/>
          <p:cNvSpPr/>
          <p:nvPr/>
        </p:nvSpPr>
        <p:spPr>
          <a:xfrm>
            <a:off x="1270000" y="4318000"/>
            <a:ext cx="3810000" cy="317500"/>
          </a:xfrm>
          <a:prstGeom prst="rect">
            <a:avLst/>
          </a:prstGeom>
          <a:noFill/>
          <a:ln/>
        </p:spPr>
        <p:txBody>
          <a:bodyPr wrap="none" lIns="0" tIns="0" rIns="0" bIns="0" rtlCol="0" anchor="ctr"/>
          <a:lstStyle/>
          <a:p>
            <a:pPr>
              <a:lnSpc>
                <a:spcPct val="100000"/>
              </a:lnSpc>
            </a:pPr>
            <a:r>
              <a:rPr lang="en-US" sz="1600" b="1" dirty="0">
                <a:solidFill>
                  <a:srgbClr val="1C243B"/>
                </a:solidFill>
                <a:latin typeface="Quattrocento Sans" pitchFamily="34" charset="0"/>
                <a:ea typeface="Quattrocento Sans" pitchFamily="34" charset="-122"/>
                <a:cs typeface="Quattrocento Sans" pitchFamily="34" charset="-120"/>
              </a:rPr>
              <a:t>Critical Findings</a:t>
            </a:r>
            <a:endParaRPr lang="en-US" sz="1600" dirty="0"/>
          </a:p>
        </p:txBody>
      </p:sp>
      <p:sp>
        <p:nvSpPr>
          <p:cNvPr id="31" name="Shape 26"/>
          <p:cNvSpPr/>
          <p:nvPr/>
        </p:nvSpPr>
        <p:spPr>
          <a:xfrm>
            <a:off x="1270000" y="4724400"/>
            <a:ext cx="4445000" cy="1714500"/>
          </a:xfrm>
          <a:prstGeom prst="rect">
            <a:avLst/>
          </a:prstGeom>
          <a:solidFill>
            <a:srgbClr val="FFFFFF"/>
          </a:solidFill>
          <a:ln w="12700">
            <a:solidFill>
              <a:srgbClr val="CBD5E1"/>
            </a:solidFill>
            <a:prstDash val="solid"/>
          </a:ln>
        </p:spPr>
      </p:sp>
      <p:sp>
        <p:nvSpPr>
          <p:cNvPr id="32" name="Shape 27"/>
          <p:cNvSpPr/>
          <p:nvPr/>
        </p:nvSpPr>
        <p:spPr>
          <a:xfrm>
            <a:off x="1270000" y="4724400"/>
            <a:ext cx="63500" cy="1714500"/>
          </a:xfrm>
          <a:prstGeom prst="rect">
            <a:avLst/>
          </a:prstGeom>
          <a:solidFill>
            <a:srgbClr val="C2410C"/>
          </a:solidFill>
          <a:ln/>
        </p:spPr>
      </p:sp>
      <p:sp>
        <p:nvSpPr>
          <p:cNvPr id="33" name="Text 28"/>
          <p:cNvSpPr/>
          <p:nvPr/>
        </p:nvSpPr>
        <p:spPr>
          <a:xfrm>
            <a:off x="1460500" y="4787900"/>
            <a:ext cx="381000" cy="317500"/>
          </a:xfrm>
          <a:prstGeom prst="rect">
            <a:avLst/>
          </a:prstGeom>
          <a:noFill/>
          <a:ln/>
        </p:spPr>
        <p:txBody>
          <a:bodyPr wrap="none" lIns="0" tIns="0" rIns="0" bIns="0" rtlCol="0" anchor="ctr"/>
          <a:lstStyle/>
          <a:p>
            <a:pPr algn="ctr">
              <a:lnSpc>
                <a:spcPct val="100000"/>
              </a:lnSpc>
            </a:pPr>
            <a:r>
              <a:rPr lang="en-US" sz="2000" b="1" dirty="0">
                <a:solidFill>
                  <a:srgbClr val="C2410C"/>
                </a:solidFill>
                <a:latin typeface="Quattrocento Sans" pitchFamily="34" charset="0"/>
                <a:ea typeface="Quattrocento Sans" pitchFamily="34" charset="-122"/>
                <a:cs typeface="Quattrocento Sans" pitchFamily="34" charset="-120"/>
              </a:rPr>
              <a:t>1</a:t>
            </a:r>
            <a:endParaRPr lang="en-US" sz="1600" dirty="0"/>
          </a:p>
        </p:txBody>
      </p:sp>
      <p:sp>
        <p:nvSpPr>
          <p:cNvPr id="34" name="Text 29"/>
          <p:cNvSpPr/>
          <p:nvPr/>
        </p:nvSpPr>
        <p:spPr>
          <a:xfrm>
            <a:off x="1460500" y="5105400"/>
            <a:ext cx="4064000" cy="1206500"/>
          </a:xfrm>
          <a:prstGeom prst="rect">
            <a:avLst/>
          </a:prstGeom>
          <a:noFill/>
          <a:ln/>
        </p:spPr>
        <p:txBody>
          <a:bodyPr wrap="square" lIns="0" tIns="0" rIns="0" bIns="0" rtlCol="0" anchor="t"/>
          <a:lstStyle/>
          <a:p>
            <a:pPr>
              <a:lnSpc>
                <a:spcPct val="140000"/>
              </a:lnSpc>
            </a:pPr>
            <a:r>
              <a:rPr lang="en-US" sz="1200" b="1" dirty="0">
                <a:solidFill>
                  <a:srgbClr val="595959"/>
                </a:solidFill>
                <a:latin typeface="Quattrocento Sans" pitchFamily="34" charset="0"/>
                <a:ea typeface="Quattrocento Sans" pitchFamily="34" charset="-122"/>
                <a:cs typeface="Quattrocento Sans" pitchFamily="34" charset="-120"/>
              </a:rPr>
              <a:t>Routing precision is the primary bottleneck.</a:t>
            </a:r>
            <a:r>
              <a:rPr lang="en-US" sz="1200" dirty="0">
                <a:solidFill>
                  <a:srgbClr val="595959"/>
                </a:solidFill>
                <a:latin typeface="Quattrocento Sans" pitchFamily="34" charset="0"/>
                <a:ea typeface="Quattrocento Sans" pitchFamily="34" charset="-122"/>
                <a:cs typeface="Quattrocento Sans" pitchFamily="34" charset="-120"/>
              </a:rPr>
              <a:t> Adding modules without fixing routing hurts by -7.62 BLEU-1. No amount of postprocessing compensates for wrong specialist dispatch.</a:t>
            </a:r>
            <a:endParaRPr lang="en-US" sz="1600" dirty="0"/>
          </a:p>
        </p:txBody>
      </p:sp>
      <p:sp>
        <p:nvSpPr>
          <p:cNvPr id="35" name="Shape 30"/>
          <p:cNvSpPr/>
          <p:nvPr/>
        </p:nvSpPr>
        <p:spPr>
          <a:xfrm>
            <a:off x="5905500" y="4724400"/>
            <a:ext cx="4445000" cy="1714500"/>
          </a:xfrm>
          <a:prstGeom prst="rect">
            <a:avLst/>
          </a:prstGeom>
          <a:solidFill>
            <a:srgbClr val="FFFFFF"/>
          </a:solidFill>
          <a:ln w="12700">
            <a:solidFill>
              <a:srgbClr val="CBD5E1"/>
            </a:solidFill>
            <a:prstDash val="solid"/>
          </a:ln>
        </p:spPr>
      </p:sp>
      <p:sp>
        <p:nvSpPr>
          <p:cNvPr id="36" name="Shape 31"/>
          <p:cNvSpPr/>
          <p:nvPr/>
        </p:nvSpPr>
        <p:spPr>
          <a:xfrm>
            <a:off x="5905500" y="4724400"/>
            <a:ext cx="63500" cy="1714500"/>
          </a:xfrm>
          <a:prstGeom prst="rect">
            <a:avLst/>
          </a:prstGeom>
          <a:solidFill>
            <a:srgbClr val="AD7B53"/>
          </a:solidFill>
          <a:ln/>
        </p:spPr>
      </p:sp>
      <p:sp>
        <p:nvSpPr>
          <p:cNvPr id="37" name="Text 32"/>
          <p:cNvSpPr/>
          <p:nvPr/>
        </p:nvSpPr>
        <p:spPr>
          <a:xfrm>
            <a:off x="6096000" y="4787900"/>
            <a:ext cx="381000" cy="317500"/>
          </a:xfrm>
          <a:prstGeom prst="rect">
            <a:avLst/>
          </a:prstGeom>
          <a:noFill/>
          <a:ln/>
        </p:spPr>
        <p:txBody>
          <a:bodyPr wrap="none" lIns="0" tIns="0" rIns="0" bIns="0" rtlCol="0" anchor="ctr"/>
          <a:lstStyle/>
          <a:p>
            <a:pPr algn="ctr">
              <a:lnSpc>
                <a:spcPct val="100000"/>
              </a:lnSpc>
            </a:pPr>
            <a:r>
              <a:rPr lang="en-US" sz="2000" b="1" dirty="0">
                <a:solidFill>
                  <a:srgbClr val="AD7B53"/>
                </a:solidFill>
                <a:latin typeface="Quattrocento Sans" pitchFamily="34" charset="0"/>
                <a:ea typeface="Quattrocento Sans" pitchFamily="34" charset="-122"/>
                <a:cs typeface="Quattrocento Sans" pitchFamily="34" charset="-120"/>
              </a:rPr>
              <a:t>2</a:t>
            </a:r>
            <a:endParaRPr lang="en-US" sz="1600" dirty="0"/>
          </a:p>
        </p:txBody>
      </p:sp>
      <p:sp>
        <p:nvSpPr>
          <p:cNvPr id="38" name="Text 33"/>
          <p:cNvSpPr/>
          <p:nvPr/>
        </p:nvSpPr>
        <p:spPr>
          <a:xfrm>
            <a:off x="6096000" y="5105400"/>
            <a:ext cx="4064000" cy="1206500"/>
          </a:xfrm>
          <a:prstGeom prst="rect">
            <a:avLst/>
          </a:prstGeom>
          <a:noFill/>
          <a:ln/>
        </p:spPr>
        <p:txBody>
          <a:bodyPr wrap="square" lIns="0" tIns="0" rIns="0" bIns="0" rtlCol="0" anchor="t"/>
          <a:lstStyle/>
          <a:p>
            <a:pPr>
              <a:lnSpc>
                <a:spcPct val="140000"/>
              </a:lnSpc>
            </a:pPr>
            <a:r>
              <a:rPr lang="en-US" sz="1200" b="1" dirty="0">
                <a:solidFill>
                  <a:srgbClr val="595959"/>
                </a:solidFill>
                <a:latin typeface="Quattrocento Sans" pitchFamily="34" charset="0"/>
                <a:ea typeface="Quattrocento Sans" pitchFamily="34" charset="-122"/>
                <a:cs typeface="Quattrocento Sans" pitchFamily="34" charset="-120"/>
              </a:rPr>
              <a:t>Extractive synthesis is second most impactful.</a:t>
            </a:r>
            <a:r>
              <a:rPr lang="en-US" sz="1200" dirty="0">
                <a:solidFill>
                  <a:srgbClr val="595959"/>
                </a:solidFill>
                <a:latin typeface="Quattrocento Sans" pitchFamily="34" charset="0"/>
                <a:ea typeface="Quattrocento Sans" pitchFamily="34" charset="-122"/>
                <a:cs typeface="Quattrocento Sans" pitchFamily="34" charset="-120"/>
              </a:rPr>
              <a:t> Free paraphrasing simplifies clinical terminology into lay language, reducing BLEU-1 by 4-8 points. Vocabulary preservation is critical.</a:t>
            </a:r>
            <a:endParaRPr lang="en-US" sz="1600" dirty="0"/>
          </a:p>
        </p:txBody>
      </p:sp>
      <p:sp>
        <p:nvSpPr>
          <p:cNvPr id="39" name="Shape 34"/>
          <p:cNvSpPr/>
          <p:nvPr/>
        </p:nvSpPr>
        <p:spPr>
          <a:xfrm>
            <a:off x="10541000" y="4724400"/>
            <a:ext cx="4445000" cy="1714500"/>
          </a:xfrm>
          <a:prstGeom prst="rect">
            <a:avLst/>
          </a:prstGeom>
          <a:solidFill>
            <a:srgbClr val="FFFFFF"/>
          </a:solidFill>
          <a:ln w="12700">
            <a:solidFill>
              <a:srgbClr val="CBD5E1"/>
            </a:solidFill>
            <a:prstDash val="solid"/>
          </a:ln>
        </p:spPr>
      </p:sp>
      <p:sp>
        <p:nvSpPr>
          <p:cNvPr id="40" name="Shape 35"/>
          <p:cNvSpPr/>
          <p:nvPr/>
        </p:nvSpPr>
        <p:spPr>
          <a:xfrm>
            <a:off x="10541000" y="4724400"/>
            <a:ext cx="63500" cy="1714500"/>
          </a:xfrm>
          <a:prstGeom prst="rect">
            <a:avLst/>
          </a:prstGeom>
          <a:solidFill>
            <a:srgbClr val="2E7D32"/>
          </a:solidFill>
          <a:ln/>
        </p:spPr>
      </p:sp>
      <p:sp>
        <p:nvSpPr>
          <p:cNvPr id="41" name="Text 36"/>
          <p:cNvSpPr/>
          <p:nvPr/>
        </p:nvSpPr>
        <p:spPr>
          <a:xfrm>
            <a:off x="10731500" y="4787900"/>
            <a:ext cx="444500" cy="317500"/>
          </a:xfrm>
          <a:prstGeom prst="rect">
            <a:avLst/>
          </a:prstGeom>
          <a:noFill/>
          <a:ln/>
        </p:spPr>
        <p:txBody>
          <a:bodyPr wrap="none" lIns="0" tIns="0" rIns="0" bIns="0" rtlCol="0" anchor="ctr"/>
          <a:lstStyle/>
          <a:p>
            <a:pPr algn="ctr">
              <a:lnSpc>
                <a:spcPct val="100000"/>
              </a:lnSpc>
            </a:pPr>
            <a:r>
              <a:rPr lang="en-US" sz="2000" b="1" dirty="0">
                <a:solidFill>
                  <a:srgbClr val="2E7D32"/>
                </a:solidFill>
                <a:latin typeface="Quattrocento Sans" pitchFamily="34" charset="0"/>
                <a:ea typeface="Quattrocento Sans" pitchFamily="34" charset="-122"/>
                <a:cs typeface="Quattrocento Sans" pitchFamily="34" charset="-120"/>
              </a:rPr>
              <a:t>3</a:t>
            </a:r>
            <a:endParaRPr lang="en-US" sz="1600" dirty="0"/>
          </a:p>
        </p:txBody>
      </p:sp>
      <p:sp>
        <p:nvSpPr>
          <p:cNvPr id="42" name="Text 37"/>
          <p:cNvSpPr/>
          <p:nvPr/>
        </p:nvSpPr>
        <p:spPr>
          <a:xfrm>
            <a:off x="10731500" y="5105400"/>
            <a:ext cx="4064000" cy="1206500"/>
          </a:xfrm>
          <a:prstGeom prst="rect">
            <a:avLst/>
          </a:prstGeom>
          <a:noFill/>
          <a:ln/>
        </p:spPr>
        <p:txBody>
          <a:bodyPr wrap="square" lIns="0" tIns="0" rIns="0" bIns="0" rtlCol="0" anchor="t"/>
          <a:lstStyle/>
          <a:p>
            <a:pPr>
              <a:lnSpc>
                <a:spcPct val="140000"/>
              </a:lnSpc>
            </a:pPr>
            <a:r>
              <a:rPr lang="en-US" sz="1200" b="1" dirty="0">
                <a:solidFill>
                  <a:srgbClr val="595959"/>
                </a:solidFill>
                <a:latin typeface="Quattrocento Sans" pitchFamily="34" charset="0"/>
                <a:ea typeface="Quattrocento Sans" pitchFamily="34" charset="-122"/>
                <a:cs typeface="Quattrocento Sans" pitchFamily="34" charset="-120"/>
              </a:rPr>
              <a:t>Evaluation correctness is first-class.</a:t>
            </a:r>
            <a:r>
              <a:rPr lang="en-US" sz="1200" dirty="0">
                <a:solidFill>
                  <a:srgbClr val="595959"/>
                </a:solidFill>
                <a:latin typeface="Quattrocento Sans" pitchFamily="34" charset="0"/>
                <a:ea typeface="Quattrocento Sans" pitchFamily="34" charset="-122"/>
                <a:cs typeface="Quattrocento Sans" pitchFamily="34" charset="-120"/>
              </a:rPr>
              <a:t> Initial version appeared worse than baseline due to stale memory contamination and over-paraphrasing, not architecture flaws.</a:t>
            </a:r>
            <a:endParaRPr lang="en-US" sz="1600" dirty="0"/>
          </a:p>
        </p:txBody>
      </p:sp>
      <p:sp>
        <p:nvSpPr>
          <p:cNvPr id="43" name="Shape 38"/>
          <p:cNvSpPr/>
          <p:nvPr/>
        </p:nvSpPr>
        <p:spPr>
          <a:xfrm>
            <a:off x="1270000" y="6477000"/>
            <a:ext cx="13716000" cy="1841500"/>
          </a:xfrm>
          <a:prstGeom prst="rect">
            <a:avLst/>
          </a:prstGeom>
          <a:solidFill>
            <a:srgbClr val="E8ECF3"/>
          </a:solidFill>
          <a:ln/>
        </p:spPr>
      </p:sp>
      <p:sp>
        <p:nvSpPr>
          <p:cNvPr id="44" name="Shape 39"/>
          <p:cNvSpPr/>
          <p:nvPr/>
        </p:nvSpPr>
        <p:spPr>
          <a:xfrm>
            <a:off x="1270000" y="6477000"/>
            <a:ext cx="63500" cy="1841500"/>
          </a:xfrm>
          <a:prstGeom prst="rect">
            <a:avLst/>
          </a:prstGeom>
          <a:solidFill>
            <a:srgbClr val="2E7D32"/>
          </a:solidFill>
          <a:ln/>
        </p:spPr>
      </p:sp>
      <p:sp>
        <p:nvSpPr>
          <p:cNvPr id="45" name="Text 40"/>
          <p:cNvSpPr/>
          <p:nvPr/>
        </p:nvSpPr>
        <p:spPr>
          <a:xfrm>
            <a:off x="1524000" y="6578600"/>
            <a:ext cx="13208000" cy="1651000"/>
          </a:xfrm>
          <a:prstGeom prst="rect">
            <a:avLst/>
          </a:prstGeom>
          <a:noFill/>
          <a:ln/>
        </p:spPr>
        <p:txBody>
          <a:bodyPr wrap="square" lIns="0" tIns="0" rIns="0" bIns="0" rtlCol="0" anchor="t"/>
          <a:lstStyle/>
          <a:p>
            <a:pPr>
              <a:lnSpc>
                <a:spcPct val="150000"/>
              </a:lnSpc>
            </a:pPr>
            <a:r>
              <a:rPr lang="en-US" sz="1300" b="1" dirty="0">
                <a:solidFill>
                  <a:srgbClr val="1E293B"/>
                </a:solidFill>
                <a:latin typeface="Quattrocento Sans" pitchFamily="34" charset="0"/>
                <a:ea typeface="Quattrocento Sans" pitchFamily="34" charset="-122"/>
                <a:cs typeface="Quattrocento Sans" pitchFamily="34" charset="-120"/>
              </a:rPr>
              <a:t>Medication category shows most dramatic improvement:</a:t>
            </a:r>
            <a:r>
              <a:rPr lang="en-US" sz="1300" dirty="0">
                <a:solidFill>
                  <a:srgbClr val="1E293B"/>
                </a:solidFill>
                <a:latin typeface="Quattrocento Sans" pitchFamily="34" charset="0"/>
                <a:ea typeface="Quattrocento Sans" pitchFamily="34" charset="-122"/>
                <a:cs typeface="Quattrocento Sans" pitchFamily="34" charset="-120"/>
              </a:rPr>
              <a:t> +5.90 BLEU-1 (gemma3:4b), +4.29 (qwen3:8b), +7.96 (phi4:14b). Two factors: (1) Medication Agent produces structured responses with drug interaction tables, contraindication lists, and dosage steps; (2) FAISS KB contains dense pharmacological entries that the hallucination verifier can leverage, reinforcing accurate claims and suppressing speculative ones.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Text 5"/>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8" name="Text 6"/>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9" name="Text 7"/>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0" name="Shape 8"/>
          <p:cNvSpPr/>
          <p:nvPr/>
        </p:nvSpPr>
        <p:spPr>
          <a:xfrm>
            <a:off x="13208000" y="76200"/>
            <a:ext cx="2032000" cy="508000"/>
          </a:xfrm>
          <a:prstGeom prst="rect">
            <a:avLst/>
          </a:prstGeom>
          <a:solidFill>
            <a:srgbClr val="FFFFFF">
              <a:alpha val="18824"/>
            </a:srgbClr>
          </a:solidFill>
          <a:ln/>
        </p:spPr>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12</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5344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6614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Conclusion &amp; Future Scope</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460500"/>
            <a:ext cx="6858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Key Contributions</a:t>
            </a:r>
            <a:endParaRPr lang="en-US" sz="2000" dirty="0"/>
          </a:p>
        </p:txBody>
      </p:sp>
      <p:sp>
        <p:nvSpPr>
          <p:cNvPr id="27" name="Text 24"/>
          <p:cNvSpPr/>
          <p:nvPr/>
        </p:nvSpPr>
        <p:spPr>
          <a:xfrm>
            <a:off x="1270000" y="1905000"/>
            <a:ext cx="6858000" cy="3937000"/>
          </a:xfrm>
          <a:prstGeom prst="rect">
            <a:avLst/>
          </a:prstGeom>
          <a:noFill/>
          <a:ln/>
        </p:spPr>
        <p:txBody>
          <a:bodyPr wrap="square" lIns="0" tIns="0" rIns="0" bIns="0" rtlCol="0" anchor="t"/>
          <a:lstStyle/>
          <a:p>
            <a:pPr marL="254000" indent="-254000">
              <a:lnSpc>
                <a:spcPct val="150000"/>
              </a:lnSpc>
              <a:spcBef>
                <a:spcPts val="10"/>
              </a:spcBef>
              <a:buSzPct val="100000"/>
              <a:buFont typeface="+mj-lt"/>
              <a:buAutoNum type="arabicPeriod"/>
            </a:pPr>
            <a:r>
              <a:rPr lang="en-US" sz="1300" b="1" dirty="0">
                <a:solidFill>
                  <a:srgbClr val="1E293B"/>
                </a:solidFill>
                <a:latin typeface="Quattrocento Sans" pitchFamily="34" charset="0"/>
                <a:ea typeface="Quattrocento Sans" pitchFamily="34" charset="-122"/>
                <a:cs typeface="Quattrocento Sans" pitchFamily="34" charset="-120"/>
              </a:rPr>
              <a:t>Seven novel modules</a:t>
            </a:r>
            <a:r>
              <a:rPr lang="en-US" sz="1300" dirty="0">
                <a:solidFill>
                  <a:srgbClr val="1E293B"/>
                </a:solidFill>
                <a:latin typeface="Quattrocento Sans" pitchFamily="34" charset="0"/>
                <a:ea typeface="Quattrocento Sans" pitchFamily="34" charset="-122"/>
                <a:cs typeface="Quattrocento Sans" pitchFamily="34" charset="-120"/>
              </a:rPr>
              <a:t> (M1-M7) in an integrated, configurable pipeline addressing query decomposition, intent classification, multi-agent orchestration, persistent memory, hallucination verification, adaptive routing, and dialogue tracking.</a:t>
            </a:r>
            <a:endParaRPr lang="en-US" sz="1600" dirty="0"/>
          </a:p>
          <a:p>
            <a:pPr marL="254000" indent="-254000">
              <a:lnSpc>
                <a:spcPct val="150000"/>
              </a:lnSpc>
              <a:spcBef>
                <a:spcPts val="10"/>
              </a:spcBef>
              <a:buSzPct val="100000"/>
              <a:buFont typeface="+mj-lt"/>
              <a:buAutoNum type="arabicPeriod"/>
            </a:pPr>
            <a:r>
              <a:rPr lang="en-US" sz="1300" b="1" dirty="0">
                <a:solidFill>
                  <a:srgbClr val="1E293B"/>
                </a:solidFill>
                <a:latin typeface="Quattrocento Sans" pitchFamily="34" charset="0"/>
                <a:ea typeface="Quattrocento Sans" pitchFamily="34" charset="-122"/>
                <a:cs typeface="Quattrocento Sans" pitchFamily="34" charset="-120"/>
              </a:rPr>
              <a:t>Category-aware specialist routing</a:t>
            </a:r>
            <a:r>
              <a:rPr lang="en-US" sz="1300" dirty="0">
                <a:solidFill>
                  <a:srgbClr val="1E293B"/>
                </a:solidFill>
                <a:latin typeface="Quattrocento Sans" pitchFamily="34" charset="0"/>
                <a:ea typeface="Quattrocento Sans" pitchFamily="34" charset="-122"/>
                <a:cs typeface="Quattrocento Sans" pitchFamily="34" charset="-120"/>
              </a:rPr>
              <a:t> - the single most impactful design decision, eliminating vocabulary-overlap misrouting.</a:t>
            </a:r>
            <a:endParaRPr lang="en-US" sz="1600" dirty="0"/>
          </a:p>
          <a:p>
            <a:pPr marL="254000" indent="-254000">
              <a:lnSpc>
                <a:spcPct val="150000"/>
              </a:lnSpc>
              <a:spcBef>
                <a:spcPts val="10"/>
              </a:spcBef>
              <a:buSzPct val="100000"/>
              <a:buFont typeface="+mj-lt"/>
              <a:buAutoNum type="arabicPeriod"/>
            </a:pPr>
            <a:r>
              <a:rPr lang="en-US" sz="1300" b="1" dirty="0">
                <a:solidFill>
                  <a:srgbClr val="1E293B"/>
                </a:solidFill>
                <a:latin typeface="Quattrocento Sans" pitchFamily="34" charset="0"/>
                <a:ea typeface="Quattrocento Sans" pitchFamily="34" charset="-122"/>
                <a:cs typeface="Quattrocento Sans" pitchFamily="34" charset="-120"/>
              </a:rPr>
              <a:t>Extractive primary agent synthesis</a:t>
            </a:r>
            <a:r>
              <a:rPr lang="en-US" sz="1300" dirty="0">
                <a:solidFill>
                  <a:srgbClr val="1E293B"/>
                </a:solidFill>
                <a:latin typeface="Quattrocento Sans" pitchFamily="34" charset="0"/>
                <a:ea typeface="Quattrocento Sans" pitchFamily="34" charset="-122"/>
                <a:cs typeface="Quattrocento Sans" pitchFamily="34" charset="-120"/>
              </a:rPr>
              <a:t> preserving specialist clinical vocabulary and structural formatting.</a:t>
            </a:r>
            <a:endParaRPr lang="en-US" sz="1600" dirty="0"/>
          </a:p>
          <a:p>
            <a:pPr marL="254000" indent="-254000">
              <a:lnSpc>
                <a:spcPct val="150000"/>
              </a:lnSpc>
              <a:spcBef>
                <a:spcPts val="10"/>
              </a:spcBef>
              <a:buSzPct val="100000"/>
              <a:buFont typeface="+mj-lt"/>
              <a:buAutoNum type="arabicPeriod"/>
            </a:pPr>
            <a:r>
              <a:rPr lang="en-US" sz="1300" b="1" dirty="0">
                <a:solidFill>
                  <a:srgbClr val="1E293B"/>
                </a:solidFill>
                <a:latin typeface="Quattrocento Sans" pitchFamily="34" charset="0"/>
                <a:ea typeface="Quattrocento Sans" pitchFamily="34" charset="-122"/>
                <a:cs typeface="Quattrocento Sans" pitchFamily="34" charset="-120"/>
              </a:rPr>
              <a:t>3,000-instance open benchmark</a:t>
            </a:r>
            <a:r>
              <a:rPr lang="en-US" sz="1300" dirty="0">
                <a:solidFill>
                  <a:srgbClr val="1E293B"/>
                </a:solidFill>
                <a:latin typeface="Quattrocento Sans" pitchFamily="34" charset="0"/>
                <a:ea typeface="Quattrocento Sans" pitchFamily="34" charset="-122"/>
                <a:cs typeface="Quattrocento Sans" pitchFamily="34" charset="-120"/>
              </a:rPr>
              <a:t> with composite intents, difficulty stratification, and reference answers.</a:t>
            </a:r>
            <a:endParaRPr lang="en-US" sz="1600" dirty="0"/>
          </a:p>
          <a:p>
            <a:pPr marL="254000" indent="-254000">
              <a:lnSpc>
                <a:spcPct val="150000"/>
              </a:lnSpc>
              <a:spcBef>
                <a:spcPts val="10"/>
              </a:spcBef>
              <a:buSzPct val="100000"/>
              <a:buFont typeface="+mj-lt"/>
              <a:buAutoNum type="arabicPeriod"/>
            </a:pPr>
            <a:r>
              <a:rPr lang="en-US" sz="1300" dirty="0">
                <a:solidFill>
                  <a:srgbClr val="1E293B"/>
                </a:solidFill>
                <a:latin typeface="Quattrocento Sans" pitchFamily="34" charset="0"/>
                <a:ea typeface="Quattrocento Sans" pitchFamily="34" charset="-122"/>
                <a:cs typeface="Quattrocento Sans" pitchFamily="34" charset="-120"/>
              </a:rPr>
              <a:t>Identification and mitigation of </a:t>
            </a:r>
            <a:r>
              <a:rPr lang="en-US" sz="1300" b="1" dirty="0">
                <a:solidFill>
                  <a:srgbClr val="1E293B"/>
                </a:solidFill>
                <a:latin typeface="Quattrocento Sans" pitchFamily="34" charset="0"/>
                <a:ea typeface="Quattrocento Sans" pitchFamily="34" charset="-122"/>
                <a:cs typeface="Quattrocento Sans" pitchFamily="34" charset="-120"/>
              </a:rPr>
              <a:t>two evaluation confounders</a:t>
            </a:r>
            <a:r>
              <a:rPr lang="en-US" sz="1300" dirty="0">
                <a:solidFill>
                  <a:srgbClr val="1E293B"/>
                </a:solidFill>
                <a:latin typeface="Quattrocento Sans" pitchFamily="34" charset="0"/>
                <a:ea typeface="Quattrocento Sans" pitchFamily="34" charset="-122"/>
                <a:cs typeface="Quattrocento Sans" pitchFamily="34" charset="-120"/>
              </a:rPr>
              <a:t>: specialist misrouting and stale persistent memory contamination.</a:t>
            </a:r>
            <a:endParaRPr lang="en-US" sz="1600" dirty="0"/>
          </a:p>
          <a:p>
            <a:pPr marL="254000" indent="-254000">
              <a:lnSpc>
                <a:spcPct val="150000"/>
              </a:lnSpc>
              <a:spcBef>
                <a:spcPts val="10"/>
              </a:spcBef>
              <a:buSzPct val="100000"/>
              <a:buFont typeface="+mj-lt"/>
              <a:buAutoNum type="arabicPeriod"/>
            </a:pPr>
            <a:r>
              <a:rPr lang="en-US" sz="1300" b="1" dirty="0">
                <a:solidFill>
                  <a:srgbClr val="1E293B"/>
                </a:solidFill>
                <a:latin typeface="Quattrocento Sans" pitchFamily="34" charset="0"/>
                <a:ea typeface="Quattrocento Sans" pitchFamily="34" charset="-122"/>
                <a:cs typeface="Quattrocento Sans" pitchFamily="34" charset="-120"/>
              </a:rPr>
              <a:t>Multi-provider LLM abstraction</a:t>
            </a:r>
            <a:r>
              <a:rPr lang="en-US" sz="1300" dirty="0">
                <a:solidFill>
                  <a:srgbClr val="1E293B"/>
                </a:solidFill>
                <a:latin typeface="Quattrocento Sans" pitchFamily="34" charset="0"/>
                <a:ea typeface="Quattrocento Sans" pitchFamily="34" charset="-122"/>
                <a:cs typeface="Quattrocento Sans" pitchFamily="34" charset="-120"/>
              </a:rPr>
              <a:t> supporting Ollama, OpenAI, Anthropic, and Google backends.</a:t>
            </a:r>
            <a:endParaRPr lang="en-US" sz="1600" dirty="0"/>
          </a:p>
        </p:txBody>
      </p:sp>
      <p:sp>
        <p:nvSpPr>
          <p:cNvPr id="28" name="Text 25"/>
          <p:cNvSpPr/>
          <p:nvPr/>
        </p:nvSpPr>
        <p:spPr>
          <a:xfrm>
            <a:off x="8382000" y="1460500"/>
            <a:ext cx="6604000" cy="381000"/>
          </a:xfrm>
          <a:prstGeom prst="rect">
            <a:avLst/>
          </a:prstGeom>
          <a:noFill/>
          <a:ln/>
        </p:spPr>
        <p:txBody>
          <a:bodyPr wrap="none" lIns="0" tIns="0" rIns="0" bIns="0" rtlCol="0" anchor="ctr"/>
          <a:lstStyle/>
          <a:p>
            <a:pPr>
              <a:lnSpc>
                <a:spcPct val="100000"/>
              </a:lnSpc>
            </a:pPr>
            <a:r>
              <a:rPr lang="en-US" sz="2000" b="1" dirty="0">
                <a:solidFill>
                  <a:srgbClr val="475569"/>
                </a:solidFill>
                <a:latin typeface="QuattrocentoSans" pitchFamily="34" charset="0"/>
                <a:ea typeface="QuattrocentoSans" pitchFamily="34" charset="-122"/>
                <a:cs typeface="QuattrocentoSans" pitchFamily="34" charset="-120"/>
              </a:rPr>
              <a:t>Future Research Directions</a:t>
            </a:r>
            <a:endParaRPr lang="en-US" sz="2000" dirty="0"/>
          </a:p>
        </p:txBody>
      </p:sp>
      <p:sp>
        <p:nvSpPr>
          <p:cNvPr id="29" name="Text 26"/>
          <p:cNvSpPr/>
          <p:nvPr/>
        </p:nvSpPr>
        <p:spPr>
          <a:xfrm>
            <a:off x="8382000" y="1905000"/>
            <a:ext cx="6858000" cy="3937000"/>
          </a:xfrm>
          <a:prstGeom prst="rect">
            <a:avLst/>
          </a:prstGeom>
          <a:noFill/>
          <a:ln/>
        </p:spPr>
        <p:txBody>
          <a:bodyPr wrap="square" lIns="0" tIns="0" rIns="0" bIns="0" rtlCol="0" anchor="t"/>
          <a:lstStyle/>
          <a:p>
            <a:pPr marL="254000" indent="-254000">
              <a:lnSpc>
                <a:spcPct val="150000"/>
              </a:lnSpc>
              <a:spcBef>
                <a:spcPts val="10"/>
              </a:spcBef>
              <a:buSzPct val="100000"/>
              <a:buChar char="•"/>
            </a:pPr>
            <a:r>
              <a:rPr lang="en-US" sz="1300" b="1" dirty="0">
                <a:solidFill>
                  <a:srgbClr val="1E293B"/>
                </a:solidFill>
                <a:latin typeface="Quattrocento Sans" pitchFamily="34" charset="0"/>
                <a:ea typeface="Quattrocento Sans" pitchFamily="34" charset="-122"/>
                <a:cs typeface="Quattrocento Sans" pitchFamily="34" charset="-120"/>
              </a:rPr>
              <a:t>Supervised fine-tuning</a:t>
            </a:r>
            <a:r>
              <a:rPr lang="en-US" sz="1300" dirty="0">
                <a:solidFill>
                  <a:srgbClr val="1E293B"/>
                </a:solidFill>
                <a:latin typeface="Quattrocento Sans" pitchFamily="34" charset="0"/>
                <a:ea typeface="Quattrocento Sans" pitchFamily="34" charset="-122"/>
                <a:cs typeface="Quattrocento Sans" pitchFamily="34" charset="-120"/>
              </a:rPr>
              <a:t> of M2-HDIO on large annotated clinical intent datasets (e.g., MedDialog) to improve OOD detection.</a:t>
            </a:r>
            <a:endParaRPr lang="en-US" sz="1600" dirty="0"/>
          </a:p>
          <a:p>
            <a:pPr marL="254000" indent="-254000">
              <a:lnSpc>
                <a:spcPct val="150000"/>
              </a:lnSpc>
              <a:spcBef>
                <a:spcPts val="10"/>
              </a:spcBef>
              <a:buSzPct val="100000"/>
              <a:buChar char="•"/>
            </a:pPr>
            <a:r>
              <a:rPr lang="en-US" sz="1300" b="1" dirty="0">
                <a:solidFill>
                  <a:srgbClr val="1E293B"/>
                </a:solidFill>
                <a:latin typeface="Quattrocento Sans" pitchFamily="34" charset="0"/>
                <a:ea typeface="Quattrocento Sans" pitchFamily="34" charset="-122"/>
                <a:cs typeface="Quattrocento Sans" pitchFamily="34" charset="-120"/>
              </a:rPr>
              <a:t>Cross-dataset evaluation</a:t>
            </a:r>
            <a:r>
              <a:rPr lang="en-US" sz="1300" dirty="0">
                <a:solidFill>
                  <a:srgbClr val="1E293B"/>
                </a:solidFill>
                <a:latin typeface="Quattrocento Sans" pitchFamily="34" charset="0"/>
                <a:ea typeface="Quattrocento Sans" pitchFamily="34" charset="-122"/>
                <a:cs typeface="Quattrocento Sans" pitchFamily="34" charset="-120"/>
              </a:rPr>
              <a:t> on public benchmarks: MedQA (USMLE), MedMCQA, PubMedQA for rigorous generalisation testing.</a:t>
            </a:r>
            <a:endParaRPr lang="en-US" sz="1600" dirty="0"/>
          </a:p>
          <a:p>
            <a:pPr marL="254000" indent="-254000">
              <a:lnSpc>
                <a:spcPct val="150000"/>
              </a:lnSpc>
              <a:spcBef>
                <a:spcPts val="10"/>
              </a:spcBef>
              <a:buSzPct val="100000"/>
              <a:buChar char="•"/>
            </a:pPr>
            <a:r>
              <a:rPr lang="en-US" sz="1300" b="1" dirty="0">
                <a:solidFill>
                  <a:srgbClr val="1E293B"/>
                </a:solidFill>
                <a:latin typeface="Quattrocento Sans" pitchFamily="34" charset="0"/>
                <a:ea typeface="Quattrocento Sans" pitchFamily="34" charset="-122"/>
                <a:cs typeface="Quattrocento Sans" pitchFamily="34" charset="-120"/>
              </a:rPr>
              <a:t>Multimodal inputs</a:t>
            </a:r>
            <a:r>
              <a:rPr lang="en-US" sz="1300" dirty="0">
                <a:solidFill>
                  <a:srgbClr val="1E293B"/>
                </a:solidFill>
                <a:latin typeface="Quattrocento Sans" pitchFamily="34" charset="0"/>
                <a:ea typeface="Quattrocento Sans" pitchFamily="34" charset="-122"/>
                <a:cs typeface="Quattrocento Sans" pitchFamily="34" charset="-120"/>
              </a:rPr>
              <a:t> - lab result images, radiology scans, ECG traces via multimodal LLM backend.</a:t>
            </a:r>
            <a:endParaRPr lang="en-US" sz="1600" dirty="0"/>
          </a:p>
          <a:p>
            <a:pPr marL="254000" indent="-254000">
              <a:lnSpc>
                <a:spcPct val="150000"/>
              </a:lnSpc>
              <a:spcBef>
                <a:spcPts val="10"/>
              </a:spcBef>
              <a:buSzPct val="100000"/>
              <a:buChar char="•"/>
            </a:pPr>
            <a:r>
              <a:rPr lang="en-US" sz="1300" b="1" dirty="0">
                <a:solidFill>
                  <a:srgbClr val="1E293B"/>
                </a:solidFill>
                <a:latin typeface="Quattrocento Sans" pitchFamily="34" charset="0"/>
                <a:ea typeface="Quattrocento Sans" pitchFamily="34" charset="-122"/>
                <a:cs typeface="Quattrocento Sans" pitchFamily="34" charset="-120"/>
              </a:rPr>
              <a:t>Online learning for patient graphs</a:t>
            </a:r>
            <a:r>
              <a:rPr lang="en-US" sz="1300" dirty="0">
                <a:solidFill>
                  <a:srgbClr val="1E293B"/>
                </a:solidFill>
                <a:latin typeface="Quattrocento Sans" pitchFamily="34" charset="0"/>
                <a:ea typeface="Quattrocento Sans" pitchFamily="34" charset="-122"/>
                <a:cs typeface="Quattrocento Sans" pitchFamily="34" charset="-120"/>
              </a:rPr>
              <a:t> with time-decayed edge weights for accurate long-term patient status.</a:t>
            </a:r>
            <a:endParaRPr lang="en-US" sz="1600" dirty="0"/>
          </a:p>
          <a:p>
            <a:pPr marL="254000" indent="-254000">
              <a:lnSpc>
                <a:spcPct val="150000"/>
              </a:lnSpc>
              <a:spcBef>
                <a:spcPts val="10"/>
              </a:spcBef>
              <a:buSzPct val="100000"/>
              <a:buChar char="•"/>
            </a:pPr>
            <a:r>
              <a:rPr lang="en-US" sz="1300" b="1" dirty="0">
                <a:solidFill>
                  <a:srgbClr val="1E293B"/>
                </a:solidFill>
                <a:latin typeface="Quattrocento Sans" pitchFamily="34" charset="0"/>
                <a:ea typeface="Quattrocento Sans" pitchFamily="34" charset="-122"/>
                <a:cs typeface="Quattrocento Sans" pitchFamily="34" charset="-120"/>
              </a:rPr>
              <a:t>RL from clinical feedback</a:t>
            </a:r>
            <a:r>
              <a:rPr lang="en-US" sz="1300" dirty="0">
                <a:solidFill>
                  <a:srgbClr val="1E293B"/>
                </a:solidFill>
                <a:latin typeface="Quattrocento Sans" pitchFamily="34" charset="0"/>
                <a:ea typeface="Quattrocento Sans" pitchFamily="34" charset="-122"/>
                <a:cs typeface="Quattrocento Sans" pitchFamily="34" charset="-120"/>
              </a:rPr>
              <a:t> - training routing and synthesis with expert evaluation reward signals.</a:t>
            </a:r>
            <a:endParaRPr lang="en-US" sz="1600" dirty="0"/>
          </a:p>
          <a:p>
            <a:pPr marL="254000" indent="-254000">
              <a:lnSpc>
                <a:spcPct val="150000"/>
              </a:lnSpc>
              <a:spcBef>
                <a:spcPts val="10"/>
              </a:spcBef>
              <a:buSzPct val="100000"/>
              <a:buChar char="•"/>
            </a:pPr>
            <a:r>
              <a:rPr lang="en-US" sz="1300" b="1" dirty="0">
                <a:solidFill>
                  <a:srgbClr val="1E293B"/>
                </a:solidFill>
                <a:latin typeface="Quattrocento Sans" pitchFamily="34" charset="0"/>
                <a:ea typeface="Quattrocento Sans" pitchFamily="34" charset="-122"/>
                <a:cs typeface="Quattrocento Sans" pitchFamily="34" charset="-120"/>
              </a:rPr>
              <a:t>FastAPI deployment</a:t>
            </a:r>
            <a:r>
              <a:rPr lang="en-US" sz="1300" dirty="0">
                <a:solidFill>
                  <a:srgbClr val="1E293B"/>
                </a:solidFill>
                <a:latin typeface="Quattrocento Sans" pitchFamily="34" charset="0"/>
                <a:ea typeface="Quattrocento Sans" pitchFamily="34" charset="-122"/>
                <a:cs typeface="Quattrocento Sans" pitchFamily="34" charset="-120"/>
              </a:rPr>
              <a:t> with patient authentication for controlled real-world pilot studies.</a:t>
            </a:r>
            <a:endParaRPr lang="en-US" sz="1600" dirty="0"/>
          </a:p>
        </p:txBody>
      </p:sp>
      <p:sp>
        <p:nvSpPr>
          <p:cNvPr id="30" name="Shape 27"/>
          <p:cNvSpPr/>
          <p:nvPr/>
        </p:nvSpPr>
        <p:spPr>
          <a:xfrm>
            <a:off x="1270000" y="5842000"/>
            <a:ext cx="13716000" cy="1333500"/>
          </a:xfrm>
          <a:prstGeom prst="rect">
            <a:avLst/>
          </a:prstGeom>
          <a:solidFill>
            <a:srgbClr val="E8ECF3"/>
          </a:solidFill>
          <a:ln/>
        </p:spPr>
      </p:sp>
      <p:sp>
        <p:nvSpPr>
          <p:cNvPr id="31" name="Shape 28"/>
          <p:cNvSpPr/>
          <p:nvPr/>
        </p:nvSpPr>
        <p:spPr>
          <a:xfrm>
            <a:off x="1270000" y="5842000"/>
            <a:ext cx="63500" cy="1333500"/>
          </a:xfrm>
          <a:prstGeom prst="rect">
            <a:avLst/>
          </a:prstGeom>
          <a:solidFill>
            <a:srgbClr val="1C243B"/>
          </a:solidFill>
          <a:ln/>
        </p:spPr>
      </p:sp>
      <p:sp>
        <p:nvSpPr>
          <p:cNvPr id="32" name="Text 29"/>
          <p:cNvSpPr/>
          <p:nvPr/>
        </p:nvSpPr>
        <p:spPr>
          <a:xfrm>
            <a:off x="1524000" y="5905500"/>
            <a:ext cx="2540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Lessons Learned</a:t>
            </a:r>
            <a:endParaRPr lang="en-US" sz="1600" dirty="0"/>
          </a:p>
        </p:txBody>
      </p:sp>
      <p:sp>
        <p:nvSpPr>
          <p:cNvPr id="33" name="Text 30"/>
          <p:cNvSpPr/>
          <p:nvPr/>
        </p:nvSpPr>
        <p:spPr>
          <a:xfrm>
            <a:off x="1524000" y="6223000"/>
            <a:ext cx="13208000" cy="914400"/>
          </a:xfrm>
          <a:prstGeom prst="rect">
            <a:avLst/>
          </a:prstGeom>
          <a:noFill/>
          <a:ln/>
        </p:spPr>
        <p:txBody>
          <a:bodyPr wrap="square" lIns="0" tIns="0" rIns="0" bIns="0" rtlCol="0" anchor="t"/>
          <a:lstStyle/>
          <a:p>
            <a:pPr>
              <a:lnSpc>
                <a:spcPct val="140000"/>
              </a:lnSpc>
            </a:pPr>
            <a:r>
              <a:rPr lang="en-US" sz="1200" b="1" dirty="0">
                <a:solidFill>
                  <a:srgbClr val="595959"/>
                </a:solidFill>
                <a:latin typeface="Quattrocento Sans" pitchFamily="34" charset="0"/>
                <a:ea typeface="Quattrocento Sans" pitchFamily="34" charset="-122"/>
                <a:cs typeface="Quattrocento Sans" pitchFamily="34" charset="-120"/>
              </a:rPr>
              <a:t>Evaluation correctness is a first-class concern.</a:t>
            </a:r>
            <a:r>
              <a:rPr lang="en-US" sz="1200" dirty="0">
                <a:solidFill>
                  <a:srgbClr val="595959"/>
                </a:solidFill>
                <a:latin typeface="Quattrocento Sans" pitchFamily="34" charset="0"/>
                <a:ea typeface="Quattrocento Sans" pitchFamily="34" charset="-122"/>
                <a:cs typeface="Quattrocento Sans" pitchFamily="34" charset="-120"/>
              </a:rPr>
              <a:t> The initial MedAide+ appeared worse than baseline due to stale memory contamination and synthesis over-paraphrasing - not architecture flaws. Careful benchmark isolation and output inspection are essential. </a:t>
            </a:r>
            <a:r>
              <a:rPr lang="en-US" sz="1200" b="1" dirty="0">
                <a:solidFill>
                  <a:srgbClr val="595959"/>
                </a:solidFill>
                <a:latin typeface="Quattrocento Sans" pitchFamily="34" charset="0"/>
                <a:ea typeface="Quattrocento Sans" pitchFamily="34" charset="-122"/>
                <a:cs typeface="Quattrocento Sans" pitchFamily="34" charset="-120"/>
              </a:rPr>
              <a:t>Lexical metric alignment requires vocabulary preservation.</a:t>
            </a:r>
            <a:r>
              <a:rPr lang="en-US" sz="1200" dirty="0">
                <a:solidFill>
                  <a:srgbClr val="595959"/>
                </a:solidFill>
                <a:latin typeface="Quattrocento Sans" pitchFamily="34" charset="0"/>
                <a:ea typeface="Quattrocento Sans" pitchFamily="34" charset="-122"/>
                <a:cs typeface="Quattrocento Sans" pitchFamily="34" charset="-120"/>
              </a:rPr>
              <a:t> BLEU and GLEU reward exact n-gram matches; paraphrasing reduces scores even when semantically equivalent.</a:t>
            </a:r>
            <a:endParaRPr lang="en-US" sz="1600" dirty="0"/>
          </a:p>
        </p:txBody>
      </p:sp>
      <p:sp>
        <p:nvSpPr>
          <p:cNvPr id="34" name="Shape 31"/>
          <p:cNvSpPr/>
          <p:nvPr/>
        </p:nvSpPr>
        <p:spPr>
          <a:xfrm>
            <a:off x="1270000" y="7302500"/>
            <a:ext cx="13716000" cy="1079500"/>
          </a:xfrm>
          <a:prstGeom prst="rect">
            <a:avLst/>
          </a:prstGeom>
          <a:solidFill>
            <a:srgbClr val="FFFFFF"/>
          </a:solidFill>
          <a:ln w="12700">
            <a:solidFill>
              <a:srgbClr val="CBD5E1"/>
            </a:solidFill>
            <a:prstDash val="solid"/>
          </a:ln>
        </p:spPr>
      </p:sp>
      <p:sp>
        <p:nvSpPr>
          <p:cNvPr id="35" name="Shape 32"/>
          <p:cNvSpPr/>
          <p:nvPr/>
        </p:nvSpPr>
        <p:spPr>
          <a:xfrm>
            <a:off x="1270000" y="7302500"/>
            <a:ext cx="63500" cy="1079500"/>
          </a:xfrm>
          <a:prstGeom prst="rect">
            <a:avLst/>
          </a:prstGeom>
          <a:solidFill>
            <a:srgbClr val="2E7D32"/>
          </a:solidFill>
          <a:ln/>
        </p:spPr>
      </p:sp>
      <p:sp>
        <p:nvSpPr>
          <p:cNvPr id="36" name="Text 33"/>
          <p:cNvSpPr/>
          <p:nvPr/>
        </p:nvSpPr>
        <p:spPr>
          <a:xfrm>
            <a:off x="1524000" y="7366000"/>
            <a:ext cx="2540000" cy="317500"/>
          </a:xfrm>
          <a:prstGeom prst="rect">
            <a:avLst/>
          </a:prstGeom>
          <a:noFill/>
          <a:ln/>
        </p:spPr>
        <p:txBody>
          <a:bodyPr wrap="none" lIns="0" tIns="0" rIns="0" bIns="0" rtlCol="0" anchor="ctr"/>
          <a:lstStyle/>
          <a:p>
            <a:pPr>
              <a:lnSpc>
                <a:spcPct val="100000"/>
              </a:lnSpc>
            </a:pPr>
            <a:r>
              <a:rPr lang="en-US" sz="1500" b="1" dirty="0">
                <a:solidFill>
                  <a:srgbClr val="1C243B"/>
                </a:solidFill>
                <a:latin typeface="Quattrocento Sans" pitchFamily="34" charset="0"/>
                <a:ea typeface="Quattrocento Sans" pitchFamily="34" charset="-122"/>
                <a:cs typeface="Quattrocento Sans" pitchFamily="34" charset="-120"/>
              </a:rPr>
              <a:t>Broader Impact</a:t>
            </a:r>
            <a:endParaRPr lang="en-US" sz="1600" dirty="0"/>
          </a:p>
        </p:txBody>
      </p:sp>
      <p:sp>
        <p:nvSpPr>
          <p:cNvPr id="37" name="Text 34"/>
          <p:cNvSpPr/>
          <p:nvPr/>
        </p:nvSpPr>
        <p:spPr>
          <a:xfrm>
            <a:off x="1524000" y="7721600"/>
            <a:ext cx="13208000" cy="571500"/>
          </a:xfrm>
          <a:prstGeom prst="rect">
            <a:avLst/>
          </a:prstGeom>
          <a:noFill/>
          <a:ln/>
        </p:spPr>
        <p:txBody>
          <a:bodyPr wrap="square" lIns="0" tIns="0" rIns="0" bIns="0" rtlCol="0" anchor="t"/>
          <a:lstStyle/>
          <a:p>
            <a:pPr>
              <a:lnSpc>
                <a:spcPct val="140000"/>
              </a:lnSpc>
            </a:pPr>
            <a:r>
              <a:rPr lang="en-US" sz="1200" dirty="0">
                <a:solidFill>
                  <a:srgbClr val="595959"/>
                </a:solidFill>
                <a:latin typeface="Quattrocento Sans" pitchFamily="34" charset="0"/>
                <a:ea typeface="Quattrocento Sans" pitchFamily="34" charset="-122"/>
                <a:cs typeface="Quattrocento Sans" pitchFamily="34" charset="-120"/>
              </a:rPr>
              <a:t>MedAidePlus contributes by demonstrating that careful system engineering, explicit module design, and reproducible evaluation can produce measurable improvements. The open benchmark and codebase lower the barrier to entry for future research in safe medical AI deployment.</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7F4"/>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C243B"/>
          </a:solidFill>
          <a:ln/>
        </p:spPr>
      </p:sp>
      <p:sp>
        <p:nvSpPr>
          <p:cNvPr id="3" name="Shape 1"/>
          <p:cNvSpPr/>
          <p:nvPr/>
        </p:nvSpPr>
        <p:spPr>
          <a:xfrm>
            <a:off x="0" y="76200"/>
            <a:ext cx="16256000" cy="508000"/>
          </a:xfrm>
          <a:prstGeom prst="rect">
            <a:avLst/>
          </a:prstGeom>
          <a:solidFill>
            <a:srgbClr val="1C243B"/>
          </a:solidFill>
          <a:ln/>
        </p:spPr>
      </p:sp>
      <p:sp>
        <p:nvSpPr>
          <p:cNvPr id="4" name="Text 2"/>
          <p:cNvSpPr/>
          <p:nvPr/>
        </p:nvSpPr>
        <p:spPr>
          <a:xfrm>
            <a:off x="254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Intro &amp; Background</a:t>
            </a:r>
            <a:endParaRPr lang="en-US" sz="1300" dirty="0"/>
          </a:p>
        </p:txBody>
      </p:sp>
      <p:sp>
        <p:nvSpPr>
          <p:cNvPr id="5" name="Text 3"/>
          <p:cNvSpPr/>
          <p:nvPr/>
        </p:nvSpPr>
        <p:spPr>
          <a:xfrm>
            <a:off x="2413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Literature Review</a:t>
            </a:r>
            <a:endParaRPr lang="en-US" sz="1300" dirty="0"/>
          </a:p>
        </p:txBody>
      </p:sp>
      <p:sp>
        <p:nvSpPr>
          <p:cNvPr id="6" name="Text 4"/>
          <p:cNvSpPr/>
          <p:nvPr/>
        </p:nvSpPr>
        <p:spPr>
          <a:xfrm>
            <a:off x="4572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Problem Statement</a:t>
            </a:r>
            <a:endParaRPr lang="en-US" sz="1300" dirty="0"/>
          </a:p>
        </p:txBody>
      </p:sp>
      <p:sp>
        <p:nvSpPr>
          <p:cNvPr id="7" name="Text 5"/>
          <p:cNvSpPr/>
          <p:nvPr/>
        </p:nvSpPr>
        <p:spPr>
          <a:xfrm>
            <a:off x="6731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Methodology</a:t>
            </a:r>
            <a:endParaRPr lang="en-US" sz="1300" dirty="0"/>
          </a:p>
        </p:txBody>
      </p:sp>
      <p:sp>
        <p:nvSpPr>
          <p:cNvPr id="8" name="Text 6"/>
          <p:cNvSpPr/>
          <p:nvPr/>
        </p:nvSpPr>
        <p:spPr>
          <a:xfrm>
            <a:off x="8890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Implementation</a:t>
            </a:r>
            <a:endParaRPr lang="en-US" sz="1300" dirty="0"/>
          </a:p>
        </p:txBody>
      </p:sp>
      <p:sp>
        <p:nvSpPr>
          <p:cNvPr id="9" name="Text 7"/>
          <p:cNvSpPr/>
          <p:nvPr/>
        </p:nvSpPr>
        <p:spPr>
          <a:xfrm>
            <a:off x="11049000" y="76200"/>
            <a:ext cx="2032000" cy="5080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Sans" pitchFamily="34" charset="0"/>
                <a:ea typeface="QuattrocentoSans" pitchFamily="34" charset="-122"/>
                <a:cs typeface="QuattrocentoSans" pitchFamily="34" charset="-120"/>
              </a:rPr>
              <a:t>Results &amp; Analysis</a:t>
            </a:r>
            <a:endParaRPr lang="en-US" sz="1300" dirty="0"/>
          </a:p>
        </p:txBody>
      </p:sp>
      <p:sp>
        <p:nvSpPr>
          <p:cNvPr id="10" name="Shape 8"/>
          <p:cNvSpPr/>
          <p:nvPr/>
        </p:nvSpPr>
        <p:spPr>
          <a:xfrm>
            <a:off x="13208000" y="76200"/>
            <a:ext cx="2032000" cy="508000"/>
          </a:xfrm>
          <a:prstGeom prst="rect">
            <a:avLst/>
          </a:prstGeom>
          <a:solidFill>
            <a:srgbClr val="FFFFFF">
              <a:alpha val="18824"/>
            </a:srgbClr>
          </a:solidFill>
          <a:ln/>
        </p:spPr>
      </p:sp>
      <p:sp>
        <p:nvSpPr>
          <p:cNvPr id="11" name="Text 9"/>
          <p:cNvSpPr/>
          <p:nvPr/>
        </p:nvSpPr>
        <p:spPr>
          <a:xfrm>
            <a:off x="13208000" y="76200"/>
            <a:ext cx="2032000" cy="508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Sans" pitchFamily="34" charset="0"/>
                <a:ea typeface="QuattrocentoSans" pitchFamily="34" charset="-122"/>
                <a:cs typeface="QuattrocentoSans" pitchFamily="34" charset="-120"/>
              </a:rPr>
              <a:t>Conclusion</a:t>
            </a:r>
            <a:endParaRPr lang="en-US" sz="1300" dirty="0"/>
          </a:p>
        </p:txBody>
      </p:sp>
      <p:sp>
        <p:nvSpPr>
          <p:cNvPr id="12" name="Shape 10"/>
          <p:cNvSpPr/>
          <p:nvPr/>
        </p:nvSpPr>
        <p:spPr>
          <a:xfrm>
            <a:off x="0" y="8699500"/>
            <a:ext cx="16256000" cy="444500"/>
          </a:xfrm>
          <a:prstGeom prst="rect">
            <a:avLst/>
          </a:prstGeom>
          <a:solidFill>
            <a:srgbClr val="1C243B"/>
          </a:solidFill>
          <a:ln/>
        </p:spPr>
      </p:sp>
      <p:sp>
        <p:nvSpPr>
          <p:cNvPr id="13" name="Text 11"/>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14" name="Text 12"/>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13</a:t>
            </a:r>
            <a:endParaRPr lang="en-US" sz="1600" dirty="0"/>
          </a:p>
        </p:txBody>
      </p:sp>
      <p:sp>
        <p:nvSpPr>
          <p:cNvPr id="15" name="Shape 13"/>
          <p:cNvSpPr/>
          <p:nvPr/>
        </p:nvSpPr>
        <p:spPr>
          <a:xfrm>
            <a:off x="254000" y="698500"/>
            <a:ext cx="355600" cy="355600"/>
          </a:xfrm>
          <a:prstGeom prst="round2SameRect">
            <a:avLst>
              <a:gd name="adj1" fmla="val 50000"/>
              <a:gd name="adj2" fmla="val 0"/>
            </a:avLst>
          </a:prstGeom>
          <a:solidFill>
            <a:srgbClr val="1C243B"/>
          </a:solidFill>
          <a:ln/>
        </p:spPr>
      </p:sp>
      <p:sp>
        <p:nvSpPr>
          <p:cNvPr id="16" name="Shape 14"/>
          <p:cNvSpPr/>
          <p:nvPr/>
        </p:nvSpPr>
        <p:spPr>
          <a:xfrm>
            <a:off x="660400" y="698500"/>
            <a:ext cx="355600" cy="355600"/>
          </a:xfrm>
          <a:prstGeom prst="round2SameRect">
            <a:avLst>
              <a:gd name="adj1" fmla="val 50000"/>
              <a:gd name="adj2" fmla="val 0"/>
            </a:avLst>
          </a:prstGeom>
          <a:solidFill>
            <a:srgbClr val="AD7B53"/>
          </a:solidFill>
          <a:ln/>
        </p:spPr>
      </p:sp>
      <p:sp>
        <p:nvSpPr>
          <p:cNvPr id="17" name="Shape 15"/>
          <p:cNvSpPr/>
          <p:nvPr/>
        </p:nvSpPr>
        <p:spPr>
          <a:xfrm>
            <a:off x="254000" y="1104900"/>
            <a:ext cx="355600" cy="355600"/>
          </a:xfrm>
          <a:prstGeom prst="round2SameRect">
            <a:avLst>
              <a:gd name="adj1" fmla="val 50000"/>
              <a:gd name="adj2" fmla="val 0"/>
            </a:avLst>
          </a:prstGeom>
          <a:solidFill>
            <a:srgbClr val="AD7B53"/>
          </a:solidFill>
          <a:ln/>
        </p:spPr>
      </p:sp>
      <p:sp>
        <p:nvSpPr>
          <p:cNvPr id="18" name="Shape 16"/>
          <p:cNvSpPr/>
          <p:nvPr/>
        </p:nvSpPr>
        <p:spPr>
          <a:xfrm>
            <a:off x="660400" y="1104900"/>
            <a:ext cx="355600" cy="355600"/>
          </a:xfrm>
          <a:prstGeom prst="round2SameRect">
            <a:avLst>
              <a:gd name="adj1" fmla="val 50000"/>
              <a:gd name="adj2" fmla="val 0"/>
            </a:avLst>
          </a:prstGeom>
          <a:solidFill>
            <a:srgbClr val="1C243B"/>
          </a:solidFill>
          <a:ln/>
        </p:spPr>
      </p:sp>
      <p:sp>
        <p:nvSpPr>
          <p:cNvPr id="19" name="Shape 17"/>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20" name="Shape 18"/>
          <p:cNvSpPr/>
          <p:nvPr/>
        </p:nvSpPr>
        <p:spPr>
          <a:xfrm>
            <a:off x="635000" y="609600"/>
            <a:ext cx="0" cy="977900"/>
          </a:xfrm>
          <a:prstGeom prst="straightConnector1">
            <a:avLst/>
          </a:prstGeom>
          <a:noFill/>
          <a:ln w="25400">
            <a:solidFill>
              <a:srgbClr val="AD7B53"/>
            </a:solidFill>
            <a:prstDash val="solid"/>
            <a:headEnd type="none"/>
            <a:tailEnd type="none"/>
          </a:ln>
        </p:spPr>
      </p:sp>
      <p:pic>
        <p:nvPicPr>
          <p:cNvPr id="21" name="Image 0" descr="https://kimi-img.moonshot.cn/pub/slides/okc/nqxj6awjc7f7i/mnt/agents/output/it_template/images/image_1.png"/>
          <p:cNvPicPr>
            <a:picLocks noChangeAspect="1"/>
          </p:cNvPicPr>
          <p:nvPr/>
        </p:nvPicPr>
        <p:blipFill>
          <a:blip r:embed="rId3"/>
          <a:srcRect t="733" b="733"/>
          <a:stretch/>
        </p:blipFill>
        <p:spPr>
          <a:xfrm>
            <a:off x="15113000" y="660400"/>
            <a:ext cx="889000" cy="889000"/>
          </a:xfrm>
          <a:prstGeom prst="rect">
            <a:avLst/>
          </a:prstGeom>
        </p:spPr>
      </p:pic>
      <p:sp>
        <p:nvSpPr>
          <p:cNvPr id="22" name="Shape 19"/>
          <p:cNvSpPr/>
          <p:nvPr/>
        </p:nvSpPr>
        <p:spPr>
          <a:xfrm>
            <a:off x="13970000" y="8534400"/>
            <a:ext cx="2032000" cy="0"/>
          </a:xfrm>
          <a:prstGeom prst="straightConnector1">
            <a:avLst/>
          </a:prstGeom>
          <a:noFill/>
          <a:ln w="25400">
            <a:solidFill>
              <a:srgbClr val="1C243B"/>
            </a:solidFill>
            <a:prstDash val="solid"/>
            <a:headEnd type="none"/>
            <a:tailEnd type="none"/>
          </a:ln>
        </p:spPr>
      </p:sp>
      <p:sp>
        <p:nvSpPr>
          <p:cNvPr id="23" name="Shape 20"/>
          <p:cNvSpPr/>
          <p:nvPr/>
        </p:nvSpPr>
        <p:spPr>
          <a:xfrm>
            <a:off x="14351000" y="8661400"/>
            <a:ext cx="1651000" cy="0"/>
          </a:xfrm>
          <a:prstGeom prst="straightConnector1">
            <a:avLst/>
          </a:prstGeom>
          <a:noFill/>
          <a:ln w="25400">
            <a:solidFill>
              <a:srgbClr val="AD7B53"/>
            </a:solidFill>
            <a:prstDash val="solid"/>
            <a:headEnd type="none"/>
            <a:tailEnd type="none"/>
          </a:ln>
        </p:spPr>
      </p:sp>
      <p:sp>
        <p:nvSpPr>
          <p:cNvPr id="24" name="Text 21"/>
          <p:cNvSpPr/>
          <p:nvPr/>
        </p:nvSpPr>
        <p:spPr>
          <a:xfrm>
            <a:off x="1270000" y="698500"/>
            <a:ext cx="13716000" cy="508000"/>
          </a:xfrm>
          <a:prstGeom prst="rect">
            <a:avLst/>
          </a:prstGeom>
          <a:noFill/>
          <a:ln/>
        </p:spPr>
        <p:txBody>
          <a:bodyPr wrap="none" lIns="0" tIns="0" rIns="0" bIns="0" rtlCol="0" anchor="ctr"/>
          <a:lstStyle/>
          <a:p>
            <a:pPr>
              <a:lnSpc>
                <a:spcPct val="100000"/>
              </a:lnSpc>
            </a:pPr>
            <a:r>
              <a:rPr lang="en-US" sz="2800" b="1" dirty="0">
                <a:solidFill>
                  <a:srgbClr val="1C243B"/>
                </a:solidFill>
                <a:latin typeface="QuattrocentoSans" pitchFamily="34" charset="0"/>
                <a:ea typeface="QuattrocentoSans" pitchFamily="34" charset="-122"/>
                <a:cs typeface="QuattrocentoSans" pitchFamily="34" charset="-120"/>
              </a:rPr>
              <a:t>References</a:t>
            </a:r>
            <a:endParaRPr lang="en-US" sz="2800" dirty="0"/>
          </a:p>
        </p:txBody>
      </p:sp>
      <p:sp>
        <p:nvSpPr>
          <p:cNvPr id="25" name="Shape 22"/>
          <p:cNvSpPr/>
          <p:nvPr/>
        </p:nvSpPr>
        <p:spPr>
          <a:xfrm>
            <a:off x="1270000" y="1244600"/>
            <a:ext cx="762000" cy="50800"/>
          </a:xfrm>
          <a:prstGeom prst="rect">
            <a:avLst/>
          </a:prstGeom>
          <a:solidFill>
            <a:srgbClr val="2E7D32"/>
          </a:solidFill>
          <a:ln/>
        </p:spPr>
      </p:sp>
      <p:sp>
        <p:nvSpPr>
          <p:cNvPr id="26" name="Text 23"/>
          <p:cNvSpPr/>
          <p:nvPr/>
        </p:nvSpPr>
        <p:spPr>
          <a:xfrm>
            <a:off x="1270000" y="1460500"/>
            <a:ext cx="7112000" cy="7048500"/>
          </a:xfrm>
          <a:prstGeom prst="rect">
            <a:avLst/>
          </a:prstGeom>
          <a:noFill/>
          <a:ln/>
        </p:spPr>
        <p:txBody>
          <a:bodyPr wrap="square" lIns="0" tIns="0" rIns="0" bIns="0" rtlCol="0" anchor="t"/>
          <a:lstStyle/>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 He, X., Chen, Z., Wang, Y., et al. (2024). MedAide: Towards an Omni Medical Aide via Specialized LLM-based Multi-Agent Collaboration. </a:t>
            </a:r>
            <a:r>
              <a:rPr lang="en-US" sz="1100" i="1" dirty="0">
                <a:solidFill>
                  <a:srgbClr val="1E293B"/>
                </a:solidFill>
                <a:latin typeface="Quattrocento Sans" pitchFamily="34" charset="0"/>
                <a:ea typeface="Quattrocento Sans" pitchFamily="34" charset="-122"/>
                <a:cs typeface="Quattrocento Sans" pitchFamily="34" charset="-120"/>
              </a:rPr>
              <a:t>arXiv:2410.12532v3</a:t>
            </a:r>
            <a:r>
              <a:rPr lang="en-US" sz="1100" dirty="0">
                <a:solidFill>
                  <a:srgbClr val="1E293B"/>
                </a:solidFill>
                <a:latin typeface="Quattrocento Sans" pitchFamily="34" charset="0"/>
                <a:ea typeface="Quattrocento Sans" pitchFamily="34" charset="-122"/>
                <a:cs typeface="Quattrocento Sans" pitchFamily="34" charset="-120"/>
              </a:rPr>
              <a:t>, Fudan University.</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[2] Lee, J., Yoon, W., Kim, S., et al. (2020). BioBERT: A pretrained biomedical language representation model. </a:t>
            </a:r>
            <a:r>
              <a:rPr lang="en-US" sz="1100" i="1" dirty="0">
                <a:solidFill>
                  <a:srgbClr val="1E293B"/>
                </a:solidFill>
                <a:latin typeface="Quattrocento Sans" pitchFamily="34" charset="0"/>
                <a:ea typeface="Quattrocento Sans" pitchFamily="34" charset="-122"/>
                <a:cs typeface="Quattrocento Sans" pitchFamily="34" charset="-120"/>
              </a:rPr>
              <a:t>Bioinformatics, 36(4)</a:t>
            </a:r>
            <a:r>
              <a:rPr lang="en-US" sz="1100" dirty="0">
                <a:solidFill>
                  <a:srgbClr val="1E293B"/>
                </a:solidFill>
                <a:latin typeface="Quattrocento Sans" pitchFamily="34" charset="0"/>
                <a:ea typeface="Quattrocento Sans" pitchFamily="34" charset="-122"/>
                <a:cs typeface="Quattrocento Sans" pitchFamily="34" charset="-120"/>
              </a:rPr>
              <a:t>, 1234-1240.</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[3] Luo, R., Sun, L., Xia, Y., et al. (2022). BioGPT: Generative pretrained transformer for biomedical text generation. </a:t>
            </a:r>
            <a:r>
              <a:rPr lang="en-US" sz="1100" i="1" dirty="0">
                <a:solidFill>
                  <a:srgbClr val="1E293B"/>
                </a:solidFill>
                <a:latin typeface="Quattrocento Sans" pitchFamily="34" charset="0"/>
                <a:ea typeface="Quattrocento Sans" pitchFamily="34" charset="-122"/>
                <a:cs typeface="Quattrocento Sans" pitchFamily="34" charset="-120"/>
              </a:rPr>
              <a:t>Briefings in Bioinformatics, 23(6)</a:t>
            </a:r>
            <a:r>
              <a:rPr lang="en-US" sz="1100" dirty="0">
                <a:solidFill>
                  <a:srgbClr val="1E293B"/>
                </a:solidFill>
                <a:latin typeface="Quattrocento Sans" pitchFamily="34" charset="0"/>
                <a:ea typeface="Quattrocento Sans" pitchFamily="34" charset="-122"/>
                <a:cs typeface="Quattrocento Sans" pitchFamily="34" charset="-120"/>
              </a:rPr>
              <a:t>, bbac409.</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[4] Singhal, K., Tu, T., Gottweis, J., et al. (2023). Towards expert-level medical question answering with large language models. </a:t>
            </a:r>
            <a:r>
              <a:rPr lang="en-US" sz="1100" i="1" dirty="0">
                <a:solidFill>
                  <a:srgbClr val="1E293B"/>
                </a:solidFill>
                <a:latin typeface="Quattrocento Sans" pitchFamily="34" charset="0"/>
                <a:ea typeface="Quattrocento Sans" pitchFamily="34" charset="-122"/>
                <a:cs typeface="Quattrocento Sans" pitchFamily="34" charset="-120"/>
              </a:rPr>
              <a:t>arXiv:2305.09617</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[5] Shinn, N., Cassano, F., Berman, E., et al. (2023). Reflexion: Language agents with verbal reinforcement learning. </a:t>
            </a:r>
            <a:r>
              <a:rPr lang="en-US" sz="1100" i="1" dirty="0">
                <a:solidFill>
                  <a:srgbClr val="1E293B"/>
                </a:solidFill>
                <a:latin typeface="Quattrocento Sans" pitchFamily="34" charset="0"/>
                <a:ea typeface="Quattrocento Sans" pitchFamily="34" charset="-122"/>
                <a:cs typeface="Quattrocento Sans" pitchFamily="34" charset="-120"/>
              </a:rPr>
              <a:t>NeurIPS 36</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[6] Yao, S., Zhao, J., Yu, D., et al. (2023). ReAct: Synergizing reasoning and acting in language models. </a:t>
            </a:r>
            <a:r>
              <a:rPr lang="en-US" sz="1100" i="1" dirty="0">
                <a:solidFill>
                  <a:srgbClr val="1E293B"/>
                </a:solidFill>
                <a:latin typeface="Quattrocento Sans" pitchFamily="34" charset="0"/>
                <a:ea typeface="Quattrocento Sans" pitchFamily="34" charset="-122"/>
                <a:cs typeface="Quattrocento Sans" pitchFamily="34" charset="-120"/>
              </a:rPr>
              <a:t>ICLR 2023</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[7] Tang, X., Tran, A., Deng, J., et al. (2023). MedAgents: Large language models as collaborators for zero-shot medical reasoning. </a:t>
            </a:r>
            <a:r>
              <a:rPr lang="en-US" sz="1100" i="1" dirty="0">
                <a:solidFill>
                  <a:srgbClr val="1E293B"/>
                </a:solidFill>
                <a:latin typeface="Quattrocento Sans" pitchFamily="34" charset="0"/>
                <a:ea typeface="Quattrocento Sans" pitchFamily="34" charset="-122"/>
                <a:cs typeface="Quattrocento Sans" pitchFamily="34" charset="-120"/>
              </a:rPr>
              <a:t>arXiv:2311.10537</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[8] Velickovic, P., Cucurull, G., Casanova, A., et al. (2018). Graph Attention Networks. </a:t>
            </a:r>
            <a:r>
              <a:rPr lang="en-US" sz="1100" i="1" dirty="0">
                <a:solidFill>
                  <a:srgbClr val="1E293B"/>
                </a:solidFill>
                <a:latin typeface="Quattrocento Sans" pitchFamily="34" charset="0"/>
                <a:ea typeface="Quattrocento Sans" pitchFamily="34" charset="-122"/>
                <a:cs typeface="Quattrocento Sans" pitchFamily="34" charset="-120"/>
              </a:rPr>
              <a:t>ICLR 2018</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[9] Min, S., Krishna, K., Lyu, X., et al. (2023). FActScore: Fine-grained atomic evaluation of factual precision. </a:t>
            </a:r>
            <a:r>
              <a:rPr lang="en-US" sz="1100" i="1" dirty="0">
                <a:solidFill>
                  <a:srgbClr val="1E293B"/>
                </a:solidFill>
                <a:latin typeface="Quattrocento Sans" pitchFamily="34" charset="0"/>
                <a:ea typeface="Quattrocento Sans" pitchFamily="34" charset="-122"/>
                <a:cs typeface="Quattrocento Sans" pitchFamily="34" charset="-120"/>
              </a:rPr>
              <a:t>EMNLP 2023</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[10] Johnson, J., Douze, M., &amp; Jegou, H. (2019). Billion-scale similarity search with GPUs. </a:t>
            </a:r>
            <a:r>
              <a:rPr lang="en-US" sz="1100" i="1" dirty="0">
                <a:solidFill>
                  <a:srgbClr val="1E293B"/>
                </a:solidFill>
                <a:latin typeface="Quattrocento Sans" pitchFamily="34" charset="0"/>
                <a:ea typeface="Quattrocento Sans" pitchFamily="34" charset="-122"/>
                <a:cs typeface="Quattrocento Sans" pitchFamily="34" charset="-120"/>
              </a:rPr>
              <a:t>IEEE TBD, 7(3)</a:t>
            </a:r>
            <a:r>
              <a:rPr lang="en-US" sz="1100" dirty="0">
                <a:solidFill>
                  <a:srgbClr val="1E293B"/>
                </a:solidFill>
                <a:latin typeface="Quattrocento Sans" pitchFamily="34" charset="0"/>
                <a:ea typeface="Quattrocento Sans" pitchFamily="34" charset="-122"/>
                <a:cs typeface="Quattrocento Sans" pitchFamily="34" charset="-120"/>
              </a:rPr>
              <a:t>, 535-547.</a:t>
            </a:r>
            <a:endParaRPr lang="en-US" sz="1600" dirty="0"/>
          </a:p>
        </p:txBody>
      </p:sp>
      <p:sp>
        <p:nvSpPr>
          <p:cNvPr id="27" name="Text 24"/>
          <p:cNvSpPr/>
          <p:nvPr/>
        </p:nvSpPr>
        <p:spPr>
          <a:xfrm>
            <a:off x="8636000" y="1460500"/>
            <a:ext cx="6350000" cy="7048500"/>
          </a:xfrm>
          <a:prstGeom prst="rect">
            <a:avLst/>
          </a:prstGeom>
          <a:noFill/>
          <a:ln/>
        </p:spPr>
        <p:txBody>
          <a:bodyPr wrap="square" lIns="0" tIns="0" rIns="0" bIns="0" rtlCol="0" anchor="t"/>
          <a:lstStyle/>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[11] Gal, Y., &amp; Ghahramani, Z. (2016). Dropout as a Bayesian approximation. </a:t>
            </a:r>
            <a:r>
              <a:rPr lang="en-US" sz="1100" i="1" dirty="0">
                <a:solidFill>
                  <a:srgbClr val="1E293B"/>
                </a:solidFill>
                <a:latin typeface="Quattrocento Sans" pitchFamily="34" charset="0"/>
                <a:ea typeface="Quattrocento Sans" pitchFamily="34" charset="-122"/>
                <a:cs typeface="Quattrocento Sans" pitchFamily="34" charset="-120"/>
              </a:rPr>
              <a:t>ICML 2016</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[12] Lewis, P., Perez, E., Piktus, A., et al. (2020). Retrieval-Augmented Generation for knowledge-intensive NLP tasks. </a:t>
            </a:r>
            <a:r>
              <a:rPr lang="en-US" sz="1100" i="1" dirty="0">
                <a:solidFill>
                  <a:srgbClr val="1E293B"/>
                </a:solidFill>
                <a:latin typeface="Quattrocento Sans" pitchFamily="34" charset="0"/>
                <a:ea typeface="Quattrocento Sans" pitchFamily="34" charset="-122"/>
                <a:cs typeface="Quattrocento Sans" pitchFamily="34" charset="-120"/>
              </a:rPr>
              <a:t>NeurIPS 33</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[13] Zakka, C., Shad, R., Chaurasia, A., et al. (2024). Almanac: Retrieval-augmented language models for clinical medicine. </a:t>
            </a:r>
            <a:r>
              <a:rPr lang="en-US" sz="1100" i="1" dirty="0">
                <a:solidFill>
                  <a:srgbClr val="1E293B"/>
                </a:solidFill>
                <a:latin typeface="Quattrocento Sans" pitchFamily="34" charset="0"/>
                <a:ea typeface="Quattrocento Sans" pitchFamily="34" charset="-122"/>
                <a:cs typeface="Quattrocento Sans" pitchFamily="34" charset="-120"/>
              </a:rPr>
              <a:t>NEJM AI, 1(2)</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[14] Liu, Y., Ott, M., Goyal, N., et al. (2019). RoBERTa: A robustly optimized BERT pretraining approach. </a:t>
            </a:r>
            <a:r>
              <a:rPr lang="en-US" sz="1100" i="1" dirty="0">
                <a:solidFill>
                  <a:srgbClr val="1E293B"/>
                </a:solidFill>
                <a:latin typeface="Quattrocento Sans" pitchFamily="34" charset="0"/>
                <a:ea typeface="Quattrocento Sans" pitchFamily="34" charset="-122"/>
                <a:cs typeface="Quattrocento Sans" pitchFamily="34" charset="-120"/>
              </a:rPr>
              <a:t>arXiv:1907.11692</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[15] Raffel, C., Shazeer, N., Roberts, A., et al. (2020). Exploring the limits of transfer learning with Flan-T5. </a:t>
            </a:r>
            <a:r>
              <a:rPr lang="en-US" sz="1100" i="1" dirty="0">
                <a:solidFill>
                  <a:srgbClr val="1E293B"/>
                </a:solidFill>
                <a:latin typeface="Quattrocento Sans" pitchFamily="34" charset="0"/>
                <a:ea typeface="Quattrocento Sans" pitchFamily="34" charset="-122"/>
                <a:cs typeface="Quattrocento Sans" pitchFamily="34" charset="-120"/>
              </a:rPr>
              <a:t>JMLR, 21(140)</a:t>
            </a:r>
            <a:r>
              <a:rPr lang="en-US" sz="1100" dirty="0">
                <a:solidFill>
                  <a:srgbClr val="1E293B"/>
                </a:solidFill>
                <a:latin typeface="Quattrocento Sans" pitchFamily="34" charset="0"/>
                <a:ea typeface="Quattrocento Sans" pitchFamily="34" charset="-122"/>
                <a:cs typeface="Quattrocento Sans" pitchFamily="34" charset="-120"/>
              </a:rPr>
              <a:t>, 1-67.</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[16] Zhang, T., Kishore, V., Wu, F., et al. (2020). BERTScore: Evaluating text generation with BERT. </a:t>
            </a:r>
            <a:r>
              <a:rPr lang="en-US" sz="1100" i="1" dirty="0">
                <a:solidFill>
                  <a:srgbClr val="1E293B"/>
                </a:solidFill>
                <a:latin typeface="Quattrocento Sans" pitchFamily="34" charset="0"/>
                <a:ea typeface="Quattrocento Sans" pitchFamily="34" charset="-122"/>
                <a:cs typeface="Quattrocento Sans" pitchFamily="34" charset="-120"/>
              </a:rPr>
              <a:t>ICLR 2020</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[17] Papineni, K., Roukos, S., Ward, T., &amp; Zhu, W.J. (2002). BLEU: A method for automatic evaluation of machine translation. </a:t>
            </a:r>
            <a:r>
              <a:rPr lang="en-US" sz="1100" i="1" dirty="0">
                <a:solidFill>
                  <a:srgbClr val="1E293B"/>
                </a:solidFill>
                <a:latin typeface="Quattrocento Sans" pitchFamily="34" charset="0"/>
                <a:ea typeface="Quattrocento Sans" pitchFamily="34" charset="-122"/>
                <a:cs typeface="Quattrocento Sans" pitchFamily="34" charset="-120"/>
              </a:rPr>
              <a:t>ACL 2002</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[18] Lin, C.Y. (2004). ROUGE: A package for automatic evaluation of summaries. </a:t>
            </a:r>
            <a:r>
              <a:rPr lang="en-US" sz="1100" i="1" dirty="0">
                <a:solidFill>
                  <a:srgbClr val="1E293B"/>
                </a:solidFill>
                <a:latin typeface="Quattrocento Sans" pitchFamily="34" charset="0"/>
                <a:ea typeface="Quattrocento Sans" pitchFamily="34" charset="-122"/>
                <a:cs typeface="Quattrocento Sans" pitchFamily="34" charset="-120"/>
              </a:rPr>
              <a:t>ACL Workshop</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[19] Banerjee, S., &amp; Lavie, A. (2005). METEOR: An automatic metric for MT evaluation. </a:t>
            </a:r>
            <a:r>
              <a:rPr lang="en-US" sz="1100" i="1" dirty="0">
                <a:solidFill>
                  <a:srgbClr val="1E293B"/>
                </a:solidFill>
                <a:latin typeface="Quattrocento Sans" pitchFamily="34" charset="0"/>
                <a:ea typeface="Quattrocento Sans" pitchFamily="34" charset="-122"/>
                <a:cs typeface="Quattrocento Sans" pitchFamily="34" charset="-120"/>
              </a:rPr>
              <a:t>ACL Workshop</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100" dirty="0">
                <a:solidFill>
                  <a:srgbClr val="1E293B"/>
                </a:solidFill>
                <a:latin typeface="Quattrocento Sans" pitchFamily="34" charset="0"/>
                <a:ea typeface="Quattrocento Sans" pitchFamily="34" charset="-122"/>
                <a:cs typeface="Quattrocento Sans" pitchFamily="34" charset="-120"/>
              </a:rPr>
              <a:t>[20] Zhang, S., Roller, S., Goyal, N., et al. (2022). OPT: Open pretrained transformer language models. </a:t>
            </a:r>
            <a:r>
              <a:rPr lang="en-US" sz="1100" i="1" dirty="0">
                <a:solidFill>
                  <a:srgbClr val="1E293B"/>
                </a:solidFill>
                <a:latin typeface="Quattrocento Sans" pitchFamily="34" charset="0"/>
                <a:ea typeface="Quattrocento Sans" pitchFamily="34" charset="-122"/>
                <a:cs typeface="Quattrocento Sans" pitchFamily="34" charset="-120"/>
              </a:rPr>
              <a:t>arXiv:2205.01068</a:t>
            </a:r>
            <a:r>
              <a:rPr lang="en-US" sz="1100" dirty="0">
                <a:solidFill>
                  <a:srgbClr val="1E293B"/>
                </a:solidFill>
                <a:latin typeface="Quattrocento Sans" pitchFamily="34" charset="0"/>
                <a:ea typeface="Quattrocento Sans" pitchFamily="34" charset="-122"/>
                <a:cs typeface="Quattrocento Sans" pitchFamily="34" charset="-120"/>
              </a:rPr>
              <a:t>.</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7F4"/>
        </a:solidFill>
        <a:effectLst/>
      </p:bgPr>
    </p:bg>
    <p:spTree>
      <p:nvGrpSpPr>
        <p:cNvPr id="1" name="">
          <a:extLst>
            <a:ext uri="{FF2B5EF4-FFF2-40B4-BE49-F238E27FC236}">
              <a16:creationId xmlns:a16="http://schemas.microsoft.com/office/drawing/2014/main" id="{7894D286-CDEC-B487-8DC3-48F7A129CB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C0AD05-21CA-3E70-EA5F-CC06E6C8F9E7}"/>
              </a:ext>
            </a:extLst>
          </p:cNvPr>
          <p:cNvSpPr/>
          <p:nvPr/>
        </p:nvSpPr>
        <p:spPr>
          <a:xfrm flipV="1">
            <a:off x="0" y="-127000"/>
            <a:ext cx="16256000" cy="127000"/>
          </a:xfrm>
          <a:prstGeom prst="rect">
            <a:avLst/>
          </a:prstGeom>
          <a:solidFill>
            <a:srgbClr val="1C243B"/>
          </a:solidFill>
          <a:ln/>
        </p:spPr>
      </p:sp>
      <p:sp>
        <p:nvSpPr>
          <p:cNvPr id="3" name="Shape 1">
            <a:extLst>
              <a:ext uri="{FF2B5EF4-FFF2-40B4-BE49-F238E27FC236}">
                <a16:creationId xmlns:a16="http://schemas.microsoft.com/office/drawing/2014/main" id="{90316C00-85DC-10C1-6340-AC4696CE411F}"/>
              </a:ext>
            </a:extLst>
          </p:cNvPr>
          <p:cNvSpPr/>
          <p:nvPr/>
        </p:nvSpPr>
        <p:spPr>
          <a:xfrm>
            <a:off x="0" y="8699500"/>
            <a:ext cx="16256000" cy="444500"/>
          </a:xfrm>
          <a:prstGeom prst="rect">
            <a:avLst/>
          </a:prstGeom>
          <a:solidFill>
            <a:srgbClr val="1C243B"/>
          </a:solidFill>
          <a:ln/>
        </p:spPr>
      </p:sp>
      <p:sp>
        <p:nvSpPr>
          <p:cNvPr id="4" name="Text 2">
            <a:extLst>
              <a:ext uri="{FF2B5EF4-FFF2-40B4-BE49-F238E27FC236}">
                <a16:creationId xmlns:a16="http://schemas.microsoft.com/office/drawing/2014/main" id="{C2E15A87-65D1-F233-5299-70EBFF5F9253}"/>
              </a:ext>
            </a:extLst>
          </p:cNvPr>
          <p:cNvSpPr/>
          <p:nvPr/>
        </p:nvSpPr>
        <p:spPr>
          <a:xfrm>
            <a:off x="1270000" y="8699500"/>
            <a:ext cx="13716000" cy="444500"/>
          </a:xfrm>
          <a:prstGeom prst="rect">
            <a:avLst/>
          </a:prstGeom>
          <a:noFill/>
          <a:ln/>
        </p:spPr>
        <p:txBody>
          <a:bodyPr wrap="none" lIns="0" tIns="0" rIns="0" bIns="0" rtlCol="0" anchor="ctr"/>
          <a:lstStyle/>
          <a:p>
            <a:pPr algn="ctr">
              <a:lnSpc>
                <a:spcPct val="100000"/>
              </a:lnSpc>
            </a:pPr>
            <a:r>
              <a:rPr lang="en-US" sz="1600" dirty="0">
                <a:solidFill>
                  <a:srgbClr val="FAF6F3"/>
                </a:solidFill>
                <a:latin typeface="QuattrocentoSans" pitchFamily="34" charset="0"/>
                <a:ea typeface="QuattrocentoSans" pitchFamily="34" charset="-122"/>
                <a:cs typeface="QuattrocentoSans" pitchFamily="34" charset="-120"/>
              </a:rPr>
              <a:t>Indian Institute of Information Technology Bhopal</a:t>
            </a:r>
            <a:endParaRPr lang="en-US" sz="1600" dirty="0"/>
          </a:p>
        </p:txBody>
      </p:sp>
      <p:sp>
        <p:nvSpPr>
          <p:cNvPr id="5" name="Text 3">
            <a:extLst>
              <a:ext uri="{FF2B5EF4-FFF2-40B4-BE49-F238E27FC236}">
                <a16:creationId xmlns:a16="http://schemas.microsoft.com/office/drawing/2014/main" id="{B3D8CA09-925D-1362-D19E-AB12640B53C7}"/>
              </a:ext>
            </a:extLst>
          </p:cNvPr>
          <p:cNvSpPr/>
          <p:nvPr/>
        </p:nvSpPr>
        <p:spPr>
          <a:xfrm>
            <a:off x="15240000" y="8763000"/>
            <a:ext cx="762000" cy="317500"/>
          </a:xfrm>
          <a:prstGeom prst="rect">
            <a:avLst/>
          </a:prstGeom>
          <a:noFill/>
          <a:ln/>
        </p:spPr>
        <p:txBody>
          <a:bodyPr wrap="none" lIns="0" tIns="0" rIns="0" bIns="0" rtlCol="0" anchor="ctr"/>
          <a:lstStyle/>
          <a:p>
            <a:pPr algn="r">
              <a:lnSpc>
                <a:spcPct val="100000"/>
              </a:lnSpc>
            </a:pPr>
            <a:r>
              <a:rPr lang="en-US" sz="1300" dirty="0">
                <a:solidFill>
                  <a:srgbClr val="FAF6F3"/>
                </a:solidFill>
                <a:latin typeface="Quattrocento Sans" pitchFamily="34" charset="0"/>
                <a:ea typeface="Quattrocento Sans" pitchFamily="34" charset="-122"/>
                <a:cs typeface="Quattrocento Sans" pitchFamily="34" charset="-120"/>
              </a:rPr>
              <a:t>1</a:t>
            </a:r>
            <a:endParaRPr lang="en-US" sz="1600" dirty="0"/>
          </a:p>
        </p:txBody>
      </p:sp>
      <p:sp>
        <p:nvSpPr>
          <p:cNvPr id="6" name="Shape 4">
            <a:extLst>
              <a:ext uri="{FF2B5EF4-FFF2-40B4-BE49-F238E27FC236}">
                <a16:creationId xmlns:a16="http://schemas.microsoft.com/office/drawing/2014/main" id="{D6C8F172-B7F7-0189-A26D-A3A31FCD0C02}"/>
              </a:ext>
            </a:extLst>
          </p:cNvPr>
          <p:cNvSpPr/>
          <p:nvPr/>
        </p:nvSpPr>
        <p:spPr>
          <a:xfrm>
            <a:off x="254000" y="698500"/>
            <a:ext cx="355600" cy="355600"/>
          </a:xfrm>
          <a:prstGeom prst="round2SameRect">
            <a:avLst>
              <a:gd name="adj1" fmla="val 50000"/>
              <a:gd name="adj2" fmla="val 0"/>
            </a:avLst>
          </a:prstGeom>
          <a:solidFill>
            <a:srgbClr val="1C243B"/>
          </a:solidFill>
          <a:ln/>
        </p:spPr>
      </p:sp>
      <p:sp>
        <p:nvSpPr>
          <p:cNvPr id="7" name="Shape 5">
            <a:extLst>
              <a:ext uri="{FF2B5EF4-FFF2-40B4-BE49-F238E27FC236}">
                <a16:creationId xmlns:a16="http://schemas.microsoft.com/office/drawing/2014/main" id="{DBB3367B-9750-FCB2-6B40-4ED413BD4931}"/>
              </a:ext>
            </a:extLst>
          </p:cNvPr>
          <p:cNvSpPr/>
          <p:nvPr/>
        </p:nvSpPr>
        <p:spPr>
          <a:xfrm>
            <a:off x="660400" y="698500"/>
            <a:ext cx="355600" cy="355600"/>
          </a:xfrm>
          <a:prstGeom prst="round2SameRect">
            <a:avLst>
              <a:gd name="adj1" fmla="val 50000"/>
              <a:gd name="adj2" fmla="val 0"/>
            </a:avLst>
          </a:prstGeom>
          <a:solidFill>
            <a:srgbClr val="AD7B53"/>
          </a:solidFill>
          <a:ln/>
        </p:spPr>
      </p:sp>
      <p:sp>
        <p:nvSpPr>
          <p:cNvPr id="8" name="Shape 6">
            <a:extLst>
              <a:ext uri="{FF2B5EF4-FFF2-40B4-BE49-F238E27FC236}">
                <a16:creationId xmlns:a16="http://schemas.microsoft.com/office/drawing/2014/main" id="{DAA6852C-D946-8FCD-8490-97CFB922A0A9}"/>
              </a:ext>
            </a:extLst>
          </p:cNvPr>
          <p:cNvSpPr/>
          <p:nvPr/>
        </p:nvSpPr>
        <p:spPr>
          <a:xfrm>
            <a:off x="254000" y="1104900"/>
            <a:ext cx="355600" cy="355600"/>
          </a:xfrm>
          <a:prstGeom prst="round2SameRect">
            <a:avLst>
              <a:gd name="adj1" fmla="val 50000"/>
              <a:gd name="adj2" fmla="val 0"/>
            </a:avLst>
          </a:prstGeom>
          <a:solidFill>
            <a:srgbClr val="AD7B53"/>
          </a:solidFill>
          <a:ln/>
        </p:spPr>
      </p:sp>
      <p:sp>
        <p:nvSpPr>
          <p:cNvPr id="9" name="Shape 7">
            <a:extLst>
              <a:ext uri="{FF2B5EF4-FFF2-40B4-BE49-F238E27FC236}">
                <a16:creationId xmlns:a16="http://schemas.microsoft.com/office/drawing/2014/main" id="{9F84A8E4-1578-91A3-DD8E-590F8A02905A}"/>
              </a:ext>
            </a:extLst>
          </p:cNvPr>
          <p:cNvSpPr/>
          <p:nvPr/>
        </p:nvSpPr>
        <p:spPr>
          <a:xfrm>
            <a:off x="660400" y="1104900"/>
            <a:ext cx="355600" cy="355600"/>
          </a:xfrm>
          <a:prstGeom prst="round2SameRect">
            <a:avLst>
              <a:gd name="adj1" fmla="val 50000"/>
              <a:gd name="adj2" fmla="val 0"/>
            </a:avLst>
          </a:prstGeom>
          <a:solidFill>
            <a:srgbClr val="1C243B"/>
          </a:solidFill>
          <a:ln/>
        </p:spPr>
      </p:sp>
      <p:sp>
        <p:nvSpPr>
          <p:cNvPr id="10" name="Shape 8">
            <a:extLst>
              <a:ext uri="{FF2B5EF4-FFF2-40B4-BE49-F238E27FC236}">
                <a16:creationId xmlns:a16="http://schemas.microsoft.com/office/drawing/2014/main" id="{E84513BF-54CC-5B29-16EC-773C482A1518}"/>
              </a:ext>
            </a:extLst>
          </p:cNvPr>
          <p:cNvSpPr/>
          <p:nvPr/>
        </p:nvSpPr>
        <p:spPr>
          <a:xfrm>
            <a:off x="127000" y="1079500"/>
            <a:ext cx="1016000" cy="0"/>
          </a:xfrm>
          <a:prstGeom prst="straightConnector1">
            <a:avLst/>
          </a:prstGeom>
          <a:noFill/>
          <a:ln w="25400">
            <a:solidFill>
              <a:srgbClr val="AD7B53"/>
            </a:solidFill>
            <a:prstDash val="solid"/>
            <a:headEnd type="none"/>
            <a:tailEnd type="none"/>
          </a:ln>
        </p:spPr>
      </p:sp>
      <p:sp>
        <p:nvSpPr>
          <p:cNvPr id="11" name="Shape 9">
            <a:extLst>
              <a:ext uri="{FF2B5EF4-FFF2-40B4-BE49-F238E27FC236}">
                <a16:creationId xmlns:a16="http://schemas.microsoft.com/office/drawing/2014/main" id="{AA0A4E31-EC02-BF95-7598-4469226AFFDA}"/>
              </a:ext>
            </a:extLst>
          </p:cNvPr>
          <p:cNvSpPr/>
          <p:nvPr/>
        </p:nvSpPr>
        <p:spPr>
          <a:xfrm>
            <a:off x="635000" y="571500"/>
            <a:ext cx="0" cy="1016000"/>
          </a:xfrm>
          <a:prstGeom prst="straightConnector1">
            <a:avLst/>
          </a:prstGeom>
          <a:noFill/>
          <a:ln w="25400">
            <a:solidFill>
              <a:srgbClr val="AD7B53"/>
            </a:solidFill>
            <a:prstDash val="solid"/>
            <a:headEnd type="none"/>
            <a:tailEnd type="none"/>
          </a:ln>
        </p:spPr>
      </p:sp>
      <p:pic>
        <p:nvPicPr>
          <p:cNvPr id="12" name="Image 0" descr="https://kimi-img.moonshot.cn/pub/slides/okc/nqxj6awjc7f7i/mnt/agents/output/it_template/images/image_1.png">
            <a:extLst>
              <a:ext uri="{FF2B5EF4-FFF2-40B4-BE49-F238E27FC236}">
                <a16:creationId xmlns:a16="http://schemas.microsoft.com/office/drawing/2014/main" id="{00A10938-75B8-47AF-5EAD-2D3A0998CF7C}"/>
              </a:ext>
            </a:extLst>
          </p:cNvPr>
          <p:cNvPicPr>
            <a:picLocks noChangeAspect="1"/>
          </p:cNvPicPr>
          <p:nvPr/>
        </p:nvPicPr>
        <p:blipFill>
          <a:blip r:embed="rId3"/>
          <a:srcRect t="733" b="733"/>
          <a:stretch/>
        </p:blipFill>
        <p:spPr>
          <a:xfrm>
            <a:off x="15113000" y="660400"/>
            <a:ext cx="889000" cy="889000"/>
          </a:xfrm>
          <a:prstGeom prst="rect">
            <a:avLst/>
          </a:prstGeom>
        </p:spPr>
      </p:pic>
      <p:sp>
        <p:nvSpPr>
          <p:cNvPr id="13" name="Shape 10">
            <a:extLst>
              <a:ext uri="{FF2B5EF4-FFF2-40B4-BE49-F238E27FC236}">
                <a16:creationId xmlns:a16="http://schemas.microsoft.com/office/drawing/2014/main" id="{B35954AB-5222-5132-B332-0FD6D6EDFE60}"/>
              </a:ext>
            </a:extLst>
          </p:cNvPr>
          <p:cNvSpPr/>
          <p:nvPr/>
        </p:nvSpPr>
        <p:spPr>
          <a:xfrm>
            <a:off x="13970000" y="8255000"/>
            <a:ext cx="2032000" cy="0"/>
          </a:xfrm>
          <a:prstGeom prst="straightConnector1">
            <a:avLst/>
          </a:prstGeom>
          <a:noFill/>
          <a:ln w="25400">
            <a:solidFill>
              <a:srgbClr val="1C243B"/>
            </a:solidFill>
            <a:prstDash val="solid"/>
            <a:headEnd type="none"/>
            <a:tailEnd type="none"/>
          </a:ln>
        </p:spPr>
      </p:sp>
      <p:sp>
        <p:nvSpPr>
          <p:cNvPr id="14" name="Shape 11">
            <a:extLst>
              <a:ext uri="{FF2B5EF4-FFF2-40B4-BE49-F238E27FC236}">
                <a16:creationId xmlns:a16="http://schemas.microsoft.com/office/drawing/2014/main" id="{F1FCE4ED-232F-B05D-423A-C1F5E0C4CEB7}"/>
              </a:ext>
            </a:extLst>
          </p:cNvPr>
          <p:cNvSpPr/>
          <p:nvPr/>
        </p:nvSpPr>
        <p:spPr>
          <a:xfrm>
            <a:off x="14351000" y="8382000"/>
            <a:ext cx="1651000" cy="0"/>
          </a:xfrm>
          <a:prstGeom prst="straightConnector1">
            <a:avLst/>
          </a:prstGeom>
          <a:noFill/>
          <a:ln w="25400">
            <a:solidFill>
              <a:srgbClr val="AD7B53"/>
            </a:solidFill>
            <a:prstDash val="solid"/>
            <a:headEnd type="none"/>
            <a:tailEnd type="none"/>
          </a:ln>
        </p:spPr>
      </p:sp>
      <p:sp>
        <p:nvSpPr>
          <p:cNvPr id="30" name="Text 1">
            <a:extLst>
              <a:ext uri="{FF2B5EF4-FFF2-40B4-BE49-F238E27FC236}">
                <a16:creationId xmlns:a16="http://schemas.microsoft.com/office/drawing/2014/main" id="{E2D339B3-8878-1C99-B6D9-485398A9F073}"/>
              </a:ext>
            </a:extLst>
          </p:cNvPr>
          <p:cNvSpPr/>
          <p:nvPr/>
        </p:nvSpPr>
        <p:spPr>
          <a:xfrm>
            <a:off x="-61994" y="1621724"/>
            <a:ext cx="16256000" cy="1524000"/>
          </a:xfrm>
          <a:prstGeom prst="rect">
            <a:avLst/>
          </a:prstGeom>
          <a:noFill/>
          <a:ln/>
        </p:spPr>
        <p:txBody>
          <a:bodyPr wrap="none" lIns="0" tIns="0" rIns="0" bIns="0" rtlCol="0" anchor="ctr"/>
          <a:lstStyle/>
          <a:p>
            <a:pPr algn="ctr">
              <a:lnSpc>
                <a:spcPct val="100000"/>
              </a:lnSpc>
            </a:pPr>
            <a:r>
              <a:rPr lang="en-US" sz="8000" dirty="0">
                <a:latin typeface="Quattrocento Sans" pitchFamily="34" charset="0"/>
                <a:ea typeface="Quattrocento Sans" pitchFamily="34" charset="-122"/>
                <a:cs typeface="Quattrocento Sans" pitchFamily="34" charset="-120"/>
              </a:rPr>
              <a:t>THANK YOU</a:t>
            </a:r>
            <a:endParaRPr lang="en-US" sz="1600" dirty="0"/>
          </a:p>
        </p:txBody>
      </p:sp>
      <p:sp>
        <p:nvSpPr>
          <p:cNvPr id="32" name="Shape 5">
            <a:extLst>
              <a:ext uri="{FF2B5EF4-FFF2-40B4-BE49-F238E27FC236}">
                <a16:creationId xmlns:a16="http://schemas.microsoft.com/office/drawing/2014/main" id="{6A385CC1-A5E5-A15D-8AD4-22E729E64D85}"/>
              </a:ext>
            </a:extLst>
          </p:cNvPr>
          <p:cNvSpPr/>
          <p:nvPr/>
        </p:nvSpPr>
        <p:spPr>
          <a:xfrm>
            <a:off x="4064000" y="3810000"/>
            <a:ext cx="7620000" cy="3302000"/>
          </a:xfrm>
          <a:prstGeom prst="rect">
            <a:avLst/>
          </a:prstGeom>
          <a:solidFill>
            <a:srgbClr val="FFFFFF">
              <a:alpha val="18824"/>
            </a:srgbClr>
          </a:solidFill>
          <a:ln w="12700">
            <a:solidFill>
              <a:schemeClr val="tx1"/>
            </a:solidFill>
            <a:prstDash val="solid"/>
          </a:ln>
        </p:spPr>
      </p:sp>
      <p:sp>
        <p:nvSpPr>
          <p:cNvPr id="33" name="Text 6">
            <a:extLst>
              <a:ext uri="{FF2B5EF4-FFF2-40B4-BE49-F238E27FC236}">
                <a16:creationId xmlns:a16="http://schemas.microsoft.com/office/drawing/2014/main" id="{0D8F3DFF-936B-9C1C-83BF-BC2129A98DD4}"/>
              </a:ext>
            </a:extLst>
          </p:cNvPr>
          <p:cNvSpPr/>
          <p:nvPr/>
        </p:nvSpPr>
        <p:spPr>
          <a:xfrm>
            <a:off x="4318000" y="4064000"/>
            <a:ext cx="7112000" cy="444500"/>
          </a:xfrm>
          <a:prstGeom prst="rect">
            <a:avLst/>
          </a:prstGeom>
          <a:noFill/>
          <a:ln>
            <a:solidFill>
              <a:schemeClr val="tx1"/>
            </a:solidFill>
          </a:ln>
        </p:spPr>
        <p:txBody>
          <a:bodyPr wrap="none" lIns="0" tIns="0" rIns="0" bIns="0" rtlCol="0" anchor="ctr"/>
          <a:lstStyle/>
          <a:p>
            <a:pPr algn="ctr">
              <a:lnSpc>
                <a:spcPct val="100000"/>
              </a:lnSpc>
            </a:pPr>
            <a:r>
              <a:rPr lang="en-US" sz="2200" b="1" dirty="0">
                <a:latin typeface="Quattrocento Sans" pitchFamily="34" charset="0"/>
                <a:ea typeface="Quattrocento Sans" pitchFamily="34" charset="-122"/>
                <a:cs typeface="Quattrocento Sans" pitchFamily="34" charset="-120"/>
              </a:rPr>
              <a:t>Punya Modi</a:t>
            </a:r>
            <a:r>
              <a:rPr lang="en-US" sz="2200" dirty="0">
                <a:latin typeface="Quattrocento Sans" pitchFamily="34" charset="0"/>
                <a:ea typeface="Quattrocento Sans" pitchFamily="34" charset="-122"/>
                <a:cs typeface="Quattrocento Sans" pitchFamily="34" charset="-120"/>
              </a:rPr>
              <a:t> (22U02075)</a:t>
            </a:r>
            <a:endParaRPr lang="en-US" sz="1600" dirty="0"/>
          </a:p>
        </p:txBody>
      </p:sp>
      <p:sp>
        <p:nvSpPr>
          <p:cNvPr id="34" name="Text 7">
            <a:extLst>
              <a:ext uri="{FF2B5EF4-FFF2-40B4-BE49-F238E27FC236}">
                <a16:creationId xmlns:a16="http://schemas.microsoft.com/office/drawing/2014/main" id="{35758AFB-64CA-614B-5BC0-9E6032D71F51}"/>
              </a:ext>
            </a:extLst>
          </p:cNvPr>
          <p:cNvSpPr/>
          <p:nvPr/>
        </p:nvSpPr>
        <p:spPr>
          <a:xfrm>
            <a:off x="4318000" y="4572000"/>
            <a:ext cx="7112000" cy="317500"/>
          </a:xfrm>
          <a:prstGeom prst="rect">
            <a:avLst/>
          </a:prstGeom>
          <a:noFill/>
          <a:ln>
            <a:solidFill>
              <a:schemeClr val="tx1"/>
            </a:solidFill>
          </a:ln>
        </p:spPr>
        <p:txBody>
          <a:bodyPr wrap="none" lIns="0" tIns="0" rIns="0" bIns="0" rtlCol="0" anchor="ctr"/>
          <a:lstStyle/>
          <a:p>
            <a:pPr algn="ctr">
              <a:lnSpc>
                <a:spcPct val="100000"/>
              </a:lnSpc>
            </a:pPr>
            <a:r>
              <a:rPr lang="en-US" sz="1600" dirty="0">
                <a:latin typeface="Quattrocento Sans" pitchFamily="34" charset="0"/>
                <a:ea typeface="Quattrocento Sans" pitchFamily="34" charset="-122"/>
                <a:cs typeface="Quattrocento Sans" pitchFamily="34" charset="-120"/>
              </a:rPr>
              <a:t>Department of Computer Science &amp; Engineering</a:t>
            </a:r>
            <a:endParaRPr lang="en-US" sz="1600" dirty="0"/>
          </a:p>
        </p:txBody>
      </p:sp>
      <p:sp>
        <p:nvSpPr>
          <p:cNvPr id="35" name="Text 8">
            <a:extLst>
              <a:ext uri="{FF2B5EF4-FFF2-40B4-BE49-F238E27FC236}">
                <a16:creationId xmlns:a16="http://schemas.microsoft.com/office/drawing/2014/main" id="{3F6167BD-29D8-6ECE-244F-5FCAE21869B0}"/>
              </a:ext>
            </a:extLst>
          </p:cNvPr>
          <p:cNvSpPr/>
          <p:nvPr/>
        </p:nvSpPr>
        <p:spPr>
          <a:xfrm>
            <a:off x="4318000" y="4953000"/>
            <a:ext cx="7112000" cy="317500"/>
          </a:xfrm>
          <a:prstGeom prst="rect">
            <a:avLst/>
          </a:prstGeom>
          <a:noFill/>
          <a:ln>
            <a:solidFill>
              <a:schemeClr val="tx1"/>
            </a:solidFill>
          </a:ln>
        </p:spPr>
        <p:txBody>
          <a:bodyPr wrap="none" lIns="0" tIns="0" rIns="0" bIns="0" rtlCol="0" anchor="ctr"/>
          <a:lstStyle/>
          <a:p>
            <a:pPr algn="ctr">
              <a:lnSpc>
                <a:spcPct val="100000"/>
              </a:lnSpc>
            </a:pPr>
            <a:r>
              <a:rPr lang="en-US" sz="1600" dirty="0">
                <a:latin typeface="Quattrocento Sans" pitchFamily="34" charset="0"/>
                <a:ea typeface="Quattrocento Sans" pitchFamily="34" charset="-122"/>
                <a:cs typeface="Quattrocento Sans" pitchFamily="34" charset="-120"/>
              </a:rPr>
              <a:t>Indian Institute of Information Technology, Bhopal</a:t>
            </a:r>
            <a:endParaRPr lang="en-US" sz="1600" dirty="0"/>
          </a:p>
        </p:txBody>
      </p:sp>
      <p:sp>
        <p:nvSpPr>
          <p:cNvPr id="36" name="Shape 9">
            <a:extLst>
              <a:ext uri="{FF2B5EF4-FFF2-40B4-BE49-F238E27FC236}">
                <a16:creationId xmlns:a16="http://schemas.microsoft.com/office/drawing/2014/main" id="{118D8657-9BFD-0F32-0C19-A78E0C6C7492}"/>
              </a:ext>
            </a:extLst>
          </p:cNvPr>
          <p:cNvSpPr/>
          <p:nvPr/>
        </p:nvSpPr>
        <p:spPr>
          <a:xfrm>
            <a:off x="5588000" y="5461000"/>
            <a:ext cx="4572000" cy="0"/>
          </a:xfrm>
          <a:prstGeom prst="straightConnector1">
            <a:avLst/>
          </a:prstGeom>
          <a:noFill/>
          <a:ln w="12700">
            <a:solidFill>
              <a:schemeClr val="tx1"/>
            </a:solidFill>
            <a:prstDash val="solid"/>
            <a:headEnd type="none"/>
            <a:tailEnd type="none"/>
          </a:ln>
        </p:spPr>
      </p:sp>
      <p:sp>
        <p:nvSpPr>
          <p:cNvPr id="37" name="Text 10">
            <a:extLst>
              <a:ext uri="{FF2B5EF4-FFF2-40B4-BE49-F238E27FC236}">
                <a16:creationId xmlns:a16="http://schemas.microsoft.com/office/drawing/2014/main" id="{7F476A4E-BF02-546C-5AC8-C85D7AC2DD76}"/>
              </a:ext>
            </a:extLst>
          </p:cNvPr>
          <p:cNvSpPr/>
          <p:nvPr/>
        </p:nvSpPr>
        <p:spPr>
          <a:xfrm>
            <a:off x="4318000" y="5651500"/>
            <a:ext cx="7112000" cy="317500"/>
          </a:xfrm>
          <a:prstGeom prst="rect">
            <a:avLst/>
          </a:prstGeom>
          <a:noFill/>
          <a:ln>
            <a:solidFill>
              <a:schemeClr val="tx1"/>
            </a:solidFill>
          </a:ln>
        </p:spPr>
        <p:txBody>
          <a:bodyPr wrap="none" lIns="0" tIns="0" rIns="0" bIns="0" rtlCol="0" anchor="ctr"/>
          <a:lstStyle/>
          <a:p>
            <a:pPr algn="ctr">
              <a:lnSpc>
                <a:spcPct val="100000"/>
              </a:lnSpc>
            </a:pPr>
            <a:r>
              <a:rPr lang="en-US" sz="1600" dirty="0">
                <a:latin typeface="Quattrocento Sans" pitchFamily="34" charset="0"/>
                <a:ea typeface="Quattrocento Sans" pitchFamily="34" charset="-122"/>
                <a:cs typeface="Quattrocento Sans" pitchFamily="34" charset="-120"/>
              </a:rPr>
              <a:t>Supervised by</a:t>
            </a:r>
            <a:endParaRPr lang="en-US" sz="1600" dirty="0"/>
          </a:p>
        </p:txBody>
      </p:sp>
      <p:sp>
        <p:nvSpPr>
          <p:cNvPr id="38" name="Text 11">
            <a:extLst>
              <a:ext uri="{FF2B5EF4-FFF2-40B4-BE49-F238E27FC236}">
                <a16:creationId xmlns:a16="http://schemas.microsoft.com/office/drawing/2014/main" id="{C8FE05E9-1921-9130-61F0-42B9BDCEA628}"/>
              </a:ext>
            </a:extLst>
          </p:cNvPr>
          <p:cNvSpPr/>
          <p:nvPr/>
        </p:nvSpPr>
        <p:spPr>
          <a:xfrm>
            <a:off x="4318000" y="6032500"/>
            <a:ext cx="7112000" cy="381000"/>
          </a:xfrm>
          <a:prstGeom prst="rect">
            <a:avLst/>
          </a:prstGeom>
          <a:noFill/>
          <a:ln>
            <a:solidFill>
              <a:schemeClr val="tx1"/>
            </a:solidFill>
          </a:ln>
        </p:spPr>
        <p:txBody>
          <a:bodyPr wrap="none" lIns="0" tIns="0" rIns="0" bIns="0" rtlCol="0" anchor="ctr"/>
          <a:lstStyle/>
          <a:p>
            <a:pPr algn="ctr">
              <a:lnSpc>
                <a:spcPct val="100000"/>
              </a:lnSpc>
            </a:pPr>
            <a:r>
              <a:rPr lang="en-US" sz="2000" b="1" dirty="0">
                <a:latin typeface="Quattrocento Sans" pitchFamily="34" charset="0"/>
                <a:ea typeface="Quattrocento Sans" pitchFamily="34" charset="-122"/>
                <a:cs typeface="Quattrocento Sans" pitchFamily="34" charset="-120"/>
              </a:rPr>
              <a:t>Dr. Yatendra Sahu</a:t>
            </a:r>
            <a:endParaRPr lang="en-US" sz="1600" dirty="0"/>
          </a:p>
        </p:txBody>
      </p:sp>
      <p:sp>
        <p:nvSpPr>
          <p:cNvPr id="39" name="Text 12">
            <a:extLst>
              <a:ext uri="{FF2B5EF4-FFF2-40B4-BE49-F238E27FC236}">
                <a16:creationId xmlns:a16="http://schemas.microsoft.com/office/drawing/2014/main" id="{4740128C-6A4D-F727-37DD-333968C3C6A0}"/>
              </a:ext>
            </a:extLst>
          </p:cNvPr>
          <p:cNvSpPr/>
          <p:nvPr/>
        </p:nvSpPr>
        <p:spPr>
          <a:xfrm>
            <a:off x="4318000" y="6477000"/>
            <a:ext cx="7112000" cy="317500"/>
          </a:xfrm>
          <a:prstGeom prst="rect">
            <a:avLst/>
          </a:prstGeom>
          <a:noFill/>
          <a:ln>
            <a:solidFill>
              <a:schemeClr val="tx1"/>
            </a:solidFill>
          </a:ln>
        </p:spPr>
        <p:txBody>
          <a:bodyPr wrap="none" lIns="0" tIns="0" rIns="0" bIns="0" rtlCol="0" anchor="ctr"/>
          <a:lstStyle/>
          <a:p>
            <a:pPr algn="ctr">
              <a:lnSpc>
                <a:spcPct val="100000"/>
              </a:lnSpc>
            </a:pPr>
            <a:r>
              <a:rPr lang="en-US" sz="1600" dirty="0">
                <a:latin typeface="Quattrocento Sans" pitchFamily="34" charset="0"/>
                <a:ea typeface="Quattrocento Sans" pitchFamily="34" charset="-122"/>
                <a:cs typeface="Quattrocento Sans" pitchFamily="34" charset="-120"/>
              </a:rPr>
              <a:t>Assistant Professor, CSE</a:t>
            </a:r>
            <a:endParaRPr lang="en-US" sz="1600" dirty="0"/>
          </a:p>
        </p:txBody>
      </p:sp>
      <p:sp>
        <p:nvSpPr>
          <p:cNvPr id="40" name="Text 4">
            <a:extLst>
              <a:ext uri="{FF2B5EF4-FFF2-40B4-BE49-F238E27FC236}">
                <a16:creationId xmlns:a16="http://schemas.microsoft.com/office/drawing/2014/main" id="{9406A5E3-76D9-1F13-60A6-5FD8A47AD70D}"/>
              </a:ext>
            </a:extLst>
          </p:cNvPr>
          <p:cNvSpPr/>
          <p:nvPr/>
        </p:nvSpPr>
        <p:spPr>
          <a:xfrm>
            <a:off x="-254000" y="3079751"/>
            <a:ext cx="16256000" cy="444500"/>
          </a:xfrm>
          <a:prstGeom prst="rect">
            <a:avLst/>
          </a:prstGeom>
          <a:noFill/>
          <a:ln/>
        </p:spPr>
        <p:txBody>
          <a:bodyPr wrap="none" lIns="0" tIns="0" rIns="0" bIns="0" rtlCol="0" anchor="ctr"/>
          <a:lstStyle/>
          <a:p>
            <a:pPr algn="ctr">
              <a:lnSpc>
                <a:spcPct val="100000"/>
              </a:lnSpc>
            </a:pPr>
            <a:r>
              <a:rPr lang="en-US" sz="2000" dirty="0">
                <a:solidFill>
                  <a:srgbClr val="94A3B8"/>
                </a:solidFill>
                <a:latin typeface="Quattrocento Sans" pitchFamily="34" charset="0"/>
                <a:ea typeface="Quattrocento Sans" pitchFamily="34" charset="-122"/>
                <a:cs typeface="Quattrocento Sans" pitchFamily="34" charset="-120"/>
              </a:rPr>
              <a:t>Questions &amp; Discussion</a:t>
            </a:r>
            <a:endParaRPr lang="en-US" sz="1600" dirty="0"/>
          </a:p>
        </p:txBody>
      </p:sp>
    </p:spTree>
    <p:extLst>
      <p:ext uri="{BB962C8B-B14F-4D97-AF65-F5344CB8AC3E}">
        <p14:creationId xmlns:p14="http://schemas.microsoft.com/office/powerpoint/2010/main" val="1872277683"/>
      </p:ext>
    </p:extLst>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3464</Words>
  <Application>Microsoft Office PowerPoint</Application>
  <PresentationFormat>Custom</PresentationFormat>
  <Paragraphs>516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QuattrocentoSans</vt:lpstr>
      <vt:lpstr>Quattrocento 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MedAidePlus: Multi-Agent Medical AI Framework</dc:title>
  <dc:subject>MedAidePlus: Multi-Agent Medical AI Framework</dc:subject>
  <dc:creator>Kimi</dc:creator>
  <cp:lastModifiedBy>punya modi</cp:lastModifiedBy>
  <cp:revision>2</cp:revision>
  <dcterms:created xsi:type="dcterms:W3CDTF">2026-04-29T12:52:34Z</dcterms:created>
  <dcterms:modified xsi:type="dcterms:W3CDTF">2026-04-29T20:04:41Z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{"Label":"MedAidePlus: Multi-Agent Medical AI Framework","ContentProducer":"001191110108MACG2KBH8F10000","ProduceID":"19dd94bb-5552-8eef-8000-00006d0c5a03","ReservedCode1":"","ContentPropagator":"001191110108MACG2KBH8F20000","PropagateID":"19dd94bb-5552-8eef-8000-00006d0c5a03","ReservedCode2":""}</vt:lpwstr>
  </property>
</Properties>
</file>